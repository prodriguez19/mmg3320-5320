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326" r:id="rId3"/>
    <p:sldId id="259" r:id="rId4"/>
    <p:sldId id="265" r:id="rId5"/>
    <p:sldId id="305" r:id="rId6"/>
    <p:sldId id="297" r:id="rId7"/>
    <p:sldId id="260" r:id="rId8"/>
    <p:sldId id="303" r:id="rId9"/>
    <p:sldId id="267" r:id="rId10"/>
    <p:sldId id="269" r:id="rId11"/>
    <p:sldId id="270" r:id="rId12"/>
    <p:sldId id="300" r:id="rId13"/>
    <p:sldId id="272" r:id="rId14"/>
    <p:sldId id="298" r:id="rId15"/>
    <p:sldId id="299" r:id="rId16"/>
    <p:sldId id="301" r:id="rId17"/>
    <p:sldId id="306" r:id="rId18"/>
    <p:sldId id="308" r:id="rId19"/>
    <p:sldId id="307" r:id="rId20"/>
    <p:sldId id="309" r:id="rId21"/>
    <p:sldId id="322" r:id="rId22"/>
    <p:sldId id="323" r:id="rId23"/>
    <p:sldId id="324" r:id="rId24"/>
    <p:sldId id="325"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40"/>
    <p:restoredTop sz="80028"/>
  </p:normalViewPr>
  <p:slideViewPr>
    <p:cSldViewPr>
      <p:cViewPr varScale="1">
        <p:scale>
          <a:sx n="97" d="100"/>
          <a:sy n="97" d="100"/>
        </p:scale>
        <p:origin x="2200" y="1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49060C-2923-4DB8-BDC2-6DDF57936E16}"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US"/>
        </a:p>
      </dgm:t>
    </dgm:pt>
    <dgm:pt modelId="{D1E16259-592C-479A-9D37-FA538FC1F7EE}">
      <dgm:prSet/>
      <dgm:spPr/>
      <dgm:t>
        <a:bodyPr/>
        <a:lstStyle/>
        <a:p>
          <a:r>
            <a:rPr lang="en-US" dirty="0"/>
            <a:t>A major decision to be made during the library  preparation step is whether to preserve </a:t>
          </a:r>
          <a:r>
            <a:rPr lang="en-US" b="1" dirty="0">
              <a:solidFill>
                <a:schemeClr val="tx1"/>
              </a:solidFill>
            </a:rPr>
            <a:t>RNA strand  information</a:t>
          </a:r>
          <a:r>
            <a:rPr lang="en-US" dirty="0"/>
            <a:t>.</a:t>
          </a:r>
        </a:p>
      </dgm:t>
    </dgm:pt>
    <dgm:pt modelId="{4B5A4923-90D4-4955-9BE9-E2768CDE2A3A}" type="parTrans" cxnId="{A73D4A82-1676-4903-AE46-4F922D5C4AF6}">
      <dgm:prSet/>
      <dgm:spPr/>
      <dgm:t>
        <a:bodyPr/>
        <a:lstStyle/>
        <a:p>
          <a:endParaRPr lang="en-US"/>
        </a:p>
      </dgm:t>
    </dgm:pt>
    <dgm:pt modelId="{E713B856-8CFE-4DD5-A52F-578512893CE3}" type="sibTrans" cxnId="{A73D4A82-1676-4903-AE46-4F922D5C4AF6}">
      <dgm:prSet/>
      <dgm:spPr/>
      <dgm:t>
        <a:bodyPr/>
        <a:lstStyle/>
        <a:p>
          <a:endParaRPr lang="en-US"/>
        </a:p>
      </dgm:t>
    </dgm:pt>
    <dgm:pt modelId="{0AFF972C-98E0-4A32-A067-FB6FDA05458D}">
      <dgm:prSet/>
      <dgm:spPr/>
      <dgm:t>
        <a:bodyPr/>
        <a:lstStyle/>
        <a:p>
          <a:r>
            <a:rPr lang="en-US" dirty="0"/>
            <a:t>Unlike DNA molecules, RNA molecules exist as single-stranded threads that could result from the  </a:t>
          </a:r>
          <a:r>
            <a:rPr lang="en-US" b="1" dirty="0">
              <a:solidFill>
                <a:schemeClr val="tx1"/>
              </a:solidFill>
            </a:rPr>
            <a:t>sense</a:t>
          </a:r>
          <a:r>
            <a:rPr lang="en-US" dirty="0"/>
            <a:t> or </a:t>
          </a:r>
          <a:r>
            <a:rPr lang="en-US" b="1" dirty="0">
              <a:solidFill>
                <a:schemeClr val="tx1"/>
              </a:solidFill>
            </a:rPr>
            <a:t>antisense strand</a:t>
          </a:r>
          <a:r>
            <a:rPr lang="en-US" dirty="0"/>
            <a:t>.</a:t>
          </a:r>
        </a:p>
      </dgm:t>
    </dgm:pt>
    <dgm:pt modelId="{342992A5-6104-4AD7-A836-A97C898668FB}" type="parTrans" cxnId="{D93EF99E-2EEE-4EB4-9B0C-BD19E29D3503}">
      <dgm:prSet/>
      <dgm:spPr/>
      <dgm:t>
        <a:bodyPr/>
        <a:lstStyle/>
        <a:p>
          <a:endParaRPr lang="en-US"/>
        </a:p>
      </dgm:t>
    </dgm:pt>
    <dgm:pt modelId="{4D21570E-6D3D-4790-9119-6FBC7C928281}" type="sibTrans" cxnId="{D93EF99E-2EEE-4EB4-9B0C-BD19E29D3503}">
      <dgm:prSet/>
      <dgm:spPr/>
      <dgm:t>
        <a:bodyPr/>
        <a:lstStyle/>
        <a:p>
          <a:endParaRPr lang="en-US"/>
        </a:p>
      </dgm:t>
    </dgm:pt>
    <dgm:pt modelId="{4A6BB70F-EEC7-4829-9BA7-22899A540A3B}">
      <dgm:prSet/>
      <dgm:spPr/>
      <dgm:t>
        <a:bodyPr/>
        <a:lstStyle/>
        <a:p>
          <a:r>
            <a:rPr lang="en-US" dirty="0"/>
            <a:t>The creation of stranded libraries are now standard  with Illumina </a:t>
          </a:r>
          <a:r>
            <a:rPr lang="en-US" dirty="0" err="1"/>
            <a:t>TruSeq</a:t>
          </a:r>
          <a:r>
            <a:rPr lang="en-US" dirty="0"/>
            <a:t> ‘stranded’ RNA-Seq kits</a:t>
          </a:r>
        </a:p>
      </dgm:t>
    </dgm:pt>
    <dgm:pt modelId="{9FE988FB-84DF-41B7-BEAB-9B5034ADD796}" type="parTrans" cxnId="{933F685A-A6BC-41C5-9D56-BC6D843D8C08}">
      <dgm:prSet/>
      <dgm:spPr/>
      <dgm:t>
        <a:bodyPr/>
        <a:lstStyle/>
        <a:p>
          <a:endParaRPr lang="en-US"/>
        </a:p>
      </dgm:t>
    </dgm:pt>
    <dgm:pt modelId="{622923BF-217D-41BE-8682-F688D130AE5B}" type="sibTrans" cxnId="{933F685A-A6BC-41C5-9D56-BC6D843D8C08}">
      <dgm:prSet/>
      <dgm:spPr/>
      <dgm:t>
        <a:bodyPr/>
        <a:lstStyle/>
        <a:p>
          <a:endParaRPr lang="en-US"/>
        </a:p>
      </dgm:t>
    </dgm:pt>
    <dgm:pt modelId="{6033E61C-788C-4964-BF32-E9BD6778BCB5}">
      <dgm:prSet/>
      <dgm:spPr/>
      <dgm:t>
        <a:bodyPr/>
        <a:lstStyle/>
        <a:p>
          <a:r>
            <a:rPr lang="en-US" dirty="0"/>
            <a:t>Allows for the identification of which strand of DNA the RNA was  transcribed from</a:t>
          </a:r>
        </a:p>
      </dgm:t>
    </dgm:pt>
    <dgm:pt modelId="{B04C9948-1A2A-4047-83E9-70D23B377548}" type="parTrans" cxnId="{FB8A8875-D207-4F82-AE5B-C3DB66FF4F0B}">
      <dgm:prSet/>
      <dgm:spPr/>
      <dgm:t>
        <a:bodyPr/>
        <a:lstStyle/>
        <a:p>
          <a:endParaRPr lang="en-US"/>
        </a:p>
      </dgm:t>
    </dgm:pt>
    <dgm:pt modelId="{75F7A677-9453-4F9E-9CE2-26C870E56FEF}" type="sibTrans" cxnId="{FB8A8875-D207-4F82-AE5B-C3DB66FF4F0B}">
      <dgm:prSet/>
      <dgm:spPr/>
      <dgm:t>
        <a:bodyPr/>
        <a:lstStyle/>
        <a:p>
          <a:endParaRPr lang="en-US"/>
        </a:p>
      </dgm:t>
    </dgm:pt>
    <dgm:pt modelId="{715B6002-414F-C84E-AC2A-7E30DBD7A638}" type="pres">
      <dgm:prSet presAssocID="{DD49060C-2923-4DB8-BDC2-6DDF57936E16}" presName="linear" presStyleCnt="0">
        <dgm:presLayoutVars>
          <dgm:animLvl val="lvl"/>
          <dgm:resizeHandles val="exact"/>
        </dgm:presLayoutVars>
      </dgm:prSet>
      <dgm:spPr/>
    </dgm:pt>
    <dgm:pt modelId="{D5616A9D-1CD4-B943-92A3-4B1C2B7BA5BC}" type="pres">
      <dgm:prSet presAssocID="{D1E16259-592C-479A-9D37-FA538FC1F7EE}" presName="parentText" presStyleLbl="node1" presStyleIdx="0" presStyleCnt="4">
        <dgm:presLayoutVars>
          <dgm:chMax val="0"/>
          <dgm:bulletEnabled val="1"/>
        </dgm:presLayoutVars>
      </dgm:prSet>
      <dgm:spPr/>
    </dgm:pt>
    <dgm:pt modelId="{69153181-0E91-2B4B-95D6-A5581D3393A0}" type="pres">
      <dgm:prSet presAssocID="{E713B856-8CFE-4DD5-A52F-578512893CE3}" presName="spacer" presStyleCnt="0"/>
      <dgm:spPr/>
    </dgm:pt>
    <dgm:pt modelId="{1E205670-2039-7641-AD05-666A1686473A}" type="pres">
      <dgm:prSet presAssocID="{0AFF972C-98E0-4A32-A067-FB6FDA05458D}" presName="parentText" presStyleLbl="node1" presStyleIdx="1" presStyleCnt="4">
        <dgm:presLayoutVars>
          <dgm:chMax val="0"/>
          <dgm:bulletEnabled val="1"/>
        </dgm:presLayoutVars>
      </dgm:prSet>
      <dgm:spPr/>
    </dgm:pt>
    <dgm:pt modelId="{B416090C-2C07-A041-BF05-55F2E2E497F8}" type="pres">
      <dgm:prSet presAssocID="{4D21570E-6D3D-4790-9119-6FBC7C928281}" presName="spacer" presStyleCnt="0"/>
      <dgm:spPr/>
    </dgm:pt>
    <dgm:pt modelId="{97EF5DCB-E4DF-354F-98F0-D2824306F918}" type="pres">
      <dgm:prSet presAssocID="{4A6BB70F-EEC7-4829-9BA7-22899A540A3B}" presName="parentText" presStyleLbl="node1" presStyleIdx="2" presStyleCnt="4">
        <dgm:presLayoutVars>
          <dgm:chMax val="0"/>
          <dgm:bulletEnabled val="1"/>
        </dgm:presLayoutVars>
      </dgm:prSet>
      <dgm:spPr/>
    </dgm:pt>
    <dgm:pt modelId="{F5783E55-829F-6346-9A67-01FBF0CD5429}" type="pres">
      <dgm:prSet presAssocID="{622923BF-217D-41BE-8682-F688D130AE5B}" presName="spacer" presStyleCnt="0"/>
      <dgm:spPr/>
    </dgm:pt>
    <dgm:pt modelId="{A69F256F-8A4A-3746-A5C4-EF01FA6E33AC}" type="pres">
      <dgm:prSet presAssocID="{6033E61C-788C-4964-BF32-E9BD6778BCB5}" presName="parentText" presStyleLbl="node1" presStyleIdx="3" presStyleCnt="4">
        <dgm:presLayoutVars>
          <dgm:chMax val="0"/>
          <dgm:bulletEnabled val="1"/>
        </dgm:presLayoutVars>
      </dgm:prSet>
      <dgm:spPr/>
    </dgm:pt>
  </dgm:ptLst>
  <dgm:cxnLst>
    <dgm:cxn modelId="{7842003B-4D61-8C4B-9FC4-F689FFE00BE6}" type="presOf" srcId="{D1E16259-592C-479A-9D37-FA538FC1F7EE}" destId="{D5616A9D-1CD4-B943-92A3-4B1C2B7BA5BC}" srcOrd="0" destOrd="0" presId="urn:microsoft.com/office/officeart/2005/8/layout/vList2"/>
    <dgm:cxn modelId="{BB2C5D4F-97E2-344F-8BE1-F93645F31D26}" type="presOf" srcId="{0AFF972C-98E0-4A32-A067-FB6FDA05458D}" destId="{1E205670-2039-7641-AD05-666A1686473A}" srcOrd="0" destOrd="0" presId="urn:microsoft.com/office/officeart/2005/8/layout/vList2"/>
    <dgm:cxn modelId="{933F685A-A6BC-41C5-9D56-BC6D843D8C08}" srcId="{DD49060C-2923-4DB8-BDC2-6DDF57936E16}" destId="{4A6BB70F-EEC7-4829-9BA7-22899A540A3B}" srcOrd="2" destOrd="0" parTransId="{9FE988FB-84DF-41B7-BEAB-9B5034ADD796}" sibTransId="{622923BF-217D-41BE-8682-F688D130AE5B}"/>
    <dgm:cxn modelId="{2795A766-1FF0-144B-A335-77EE28F361E4}" type="presOf" srcId="{6033E61C-788C-4964-BF32-E9BD6778BCB5}" destId="{A69F256F-8A4A-3746-A5C4-EF01FA6E33AC}" srcOrd="0" destOrd="0" presId="urn:microsoft.com/office/officeart/2005/8/layout/vList2"/>
    <dgm:cxn modelId="{FB8A8875-D207-4F82-AE5B-C3DB66FF4F0B}" srcId="{DD49060C-2923-4DB8-BDC2-6DDF57936E16}" destId="{6033E61C-788C-4964-BF32-E9BD6778BCB5}" srcOrd="3" destOrd="0" parTransId="{B04C9948-1A2A-4047-83E9-70D23B377548}" sibTransId="{75F7A677-9453-4F9E-9CE2-26C870E56FEF}"/>
    <dgm:cxn modelId="{A73D4A82-1676-4903-AE46-4F922D5C4AF6}" srcId="{DD49060C-2923-4DB8-BDC2-6DDF57936E16}" destId="{D1E16259-592C-479A-9D37-FA538FC1F7EE}" srcOrd="0" destOrd="0" parTransId="{4B5A4923-90D4-4955-9BE9-E2768CDE2A3A}" sibTransId="{E713B856-8CFE-4DD5-A52F-578512893CE3}"/>
    <dgm:cxn modelId="{D93EF99E-2EEE-4EB4-9B0C-BD19E29D3503}" srcId="{DD49060C-2923-4DB8-BDC2-6DDF57936E16}" destId="{0AFF972C-98E0-4A32-A067-FB6FDA05458D}" srcOrd="1" destOrd="0" parTransId="{342992A5-6104-4AD7-A836-A97C898668FB}" sibTransId="{4D21570E-6D3D-4790-9119-6FBC7C928281}"/>
    <dgm:cxn modelId="{5CDDF79F-EA90-354E-94F2-472748B7472A}" type="presOf" srcId="{DD49060C-2923-4DB8-BDC2-6DDF57936E16}" destId="{715B6002-414F-C84E-AC2A-7E30DBD7A638}" srcOrd="0" destOrd="0" presId="urn:microsoft.com/office/officeart/2005/8/layout/vList2"/>
    <dgm:cxn modelId="{94DA83F9-9F0C-C545-A407-98CF9ED0406E}" type="presOf" srcId="{4A6BB70F-EEC7-4829-9BA7-22899A540A3B}" destId="{97EF5DCB-E4DF-354F-98F0-D2824306F918}" srcOrd="0" destOrd="0" presId="urn:microsoft.com/office/officeart/2005/8/layout/vList2"/>
    <dgm:cxn modelId="{5740F5E3-88B8-CD4A-B02F-08F8C5C77973}" type="presParOf" srcId="{715B6002-414F-C84E-AC2A-7E30DBD7A638}" destId="{D5616A9D-1CD4-B943-92A3-4B1C2B7BA5BC}" srcOrd="0" destOrd="0" presId="urn:microsoft.com/office/officeart/2005/8/layout/vList2"/>
    <dgm:cxn modelId="{6446D4A9-3C3A-254B-8B93-09AB1B12254E}" type="presParOf" srcId="{715B6002-414F-C84E-AC2A-7E30DBD7A638}" destId="{69153181-0E91-2B4B-95D6-A5581D3393A0}" srcOrd="1" destOrd="0" presId="urn:microsoft.com/office/officeart/2005/8/layout/vList2"/>
    <dgm:cxn modelId="{6B6ED7E6-5A44-4C4E-BFB3-31900537FF17}" type="presParOf" srcId="{715B6002-414F-C84E-AC2A-7E30DBD7A638}" destId="{1E205670-2039-7641-AD05-666A1686473A}" srcOrd="2" destOrd="0" presId="urn:microsoft.com/office/officeart/2005/8/layout/vList2"/>
    <dgm:cxn modelId="{BBB3CD19-3CAF-9A41-A220-8FC7DB465B96}" type="presParOf" srcId="{715B6002-414F-C84E-AC2A-7E30DBD7A638}" destId="{B416090C-2C07-A041-BF05-55F2E2E497F8}" srcOrd="3" destOrd="0" presId="urn:microsoft.com/office/officeart/2005/8/layout/vList2"/>
    <dgm:cxn modelId="{04A86FBF-1AF0-A34C-93F2-D3598AD4C2BD}" type="presParOf" srcId="{715B6002-414F-C84E-AC2A-7E30DBD7A638}" destId="{97EF5DCB-E4DF-354F-98F0-D2824306F918}" srcOrd="4" destOrd="0" presId="urn:microsoft.com/office/officeart/2005/8/layout/vList2"/>
    <dgm:cxn modelId="{6A23E9B5-7CC5-9041-9131-B2812B0E3F92}" type="presParOf" srcId="{715B6002-414F-C84E-AC2A-7E30DBD7A638}" destId="{F5783E55-829F-6346-9A67-01FBF0CD5429}" srcOrd="5" destOrd="0" presId="urn:microsoft.com/office/officeart/2005/8/layout/vList2"/>
    <dgm:cxn modelId="{3FC8BAD8-6F10-2748-918D-B8F7804D855B}" type="presParOf" srcId="{715B6002-414F-C84E-AC2A-7E30DBD7A638}" destId="{A69F256F-8A4A-3746-A5C4-EF01FA6E33A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616A9D-1CD4-B943-92A3-4B1C2B7BA5BC}">
      <dsp:nvSpPr>
        <dsp:cNvPr id="0" name=""/>
        <dsp:cNvSpPr/>
      </dsp:nvSpPr>
      <dsp:spPr>
        <a:xfrm>
          <a:off x="0" y="195787"/>
          <a:ext cx="7687309" cy="91494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A major decision to be made during the library  preparation step is whether to preserve </a:t>
          </a:r>
          <a:r>
            <a:rPr lang="en-US" sz="2300" b="1" kern="1200" dirty="0">
              <a:solidFill>
                <a:schemeClr val="tx1"/>
              </a:solidFill>
            </a:rPr>
            <a:t>RNA strand  information</a:t>
          </a:r>
          <a:r>
            <a:rPr lang="en-US" sz="2300" kern="1200" dirty="0"/>
            <a:t>.</a:t>
          </a:r>
        </a:p>
      </dsp:txBody>
      <dsp:txXfrm>
        <a:off x="44664" y="240451"/>
        <a:ext cx="7597981" cy="825612"/>
      </dsp:txXfrm>
    </dsp:sp>
    <dsp:sp modelId="{1E205670-2039-7641-AD05-666A1686473A}">
      <dsp:nvSpPr>
        <dsp:cNvPr id="0" name=""/>
        <dsp:cNvSpPr/>
      </dsp:nvSpPr>
      <dsp:spPr>
        <a:xfrm>
          <a:off x="0" y="1176967"/>
          <a:ext cx="7687309" cy="914940"/>
        </a:xfrm>
        <a:prstGeom prst="roundRect">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Unlike DNA molecules, RNA molecules exist as single-stranded threads that could result from the  </a:t>
          </a:r>
          <a:r>
            <a:rPr lang="en-US" sz="2300" b="1" kern="1200" dirty="0">
              <a:solidFill>
                <a:schemeClr val="tx1"/>
              </a:solidFill>
            </a:rPr>
            <a:t>sense</a:t>
          </a:r>
          <a:r>
            <a:rPr lang="en-US" sz="2300" kern="1200" dirty="0"/>
            <a:t> or </a:t>
          </a:r>
          <a:r>
            <a:rPr lang="en-US" sz="2300" b="1" kern="1200" dirty="0">
              <a:solidFill>
                <a:schemeClr val="tx1"/>
              </a:solidFill>
            </a:rPr>
            <a:t>antisense strand</a:t>
          </a:r>
          <a:r>
            <a:rPr lang="en-US" sz="2300" kern="1200" dirty="0"/>
            <a:t>.</a:t>
          </a:r>
        </a:p>
      </dsp:txBody>
      <dsp:txXfrm>
        <a:off x="44664" y="1221631"/>
        <a:ext cx="7597981" cy="825612"/>
      </dsp:txXfrm>
    </dsp:sp>
    <dsp:sp modelId="{97EF5DCB-E4DF-354F-98F0-D2824306F918}">
      <dsp:nvSpPr>
        <dsp:cNvPr id="0" name=""/>
        <dsp:cNvSpPr/>
      </dsp:nvSpPr>
      <dsp:spPr>
        <a:xfrm>
          <a:off x="0" y="2158147"/>
          <a:ext cx="7687309" cy="914940"/>
        </a:xfrm>
        <a:prstGeom prst="roundRect">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The creation of stranded libraries are now standard  with Illumina </a:t>
          </a:r>
          <a:r>
            <a:rPr lang="en-US" sz="2300" kern="1200" dirty="0" err="1"/>
            <a:t>TruSeq</a:t>
          </a:r>
          <a:r>
            <a:rPr lang="en-US" sz="2300" kern="1200" dirty="0"/>
            <a:t> ‘stranded’ RNA-Seq kits</a:t>
          </a:r>
        </a:p>
      </dsp:txBody>
      <dsp:txXfrm>
        <a:off x="44664" y="2202811"/>
        <a:ext cx="7597981" cy="825612"/>
      </dsp:txXfrm>
    </dsp:sp>
    <dsp:sp modelId="{A69F256F-8A4A-3746-A5C4-EF01FA6E33AC}">
      <dsp:nvSpPr>
        <dsp:cNvPr id="0" name=""/>
        <dsp:cNvSpPr/>
      </dsp:nvSpPr>
      <dsp:spPr>
        <a:xfrm>
          <a:off x="0" y="3139327"/>
          <a:ext cx="7687309" cy="91494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Allows for the identification of which strand of DNA the RNA was  transcribed from</a:t>
          </a:r>
        </a:p>
      </dsp:txBody>
      <dsp:txXfrm>
        <a:off x="44664" y="3183991"/>
        <a:ext cx="7597981" cy="8256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81633CD-078D-1C48-A9EC-E64B0F86C0C8}" type="datetimeFigureOut">
              <a:rPr lang="en-US" smtClean="0"/>
              <a:t>2/25/26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4743371-D3FC-784F-8B03-9888085B9730}" type="slidenum">
              <a:rPr lang="en-US" smtClean="0"/>
              <a:t>‹#›</a:t>
            </a:fld>
            <a:endParaRPr lang="en-US"/>
          </a:p>
        </p:txBody>
      </p:sp>
    </p:spTree>
    <p:extLst>
      <p:ext uri="{BB962C8B-B14F-4D97-AF65-F5344CB8AC3E}">
        <p14:creationId xmlns:p14="http://schemas.microsoft.com/office/powerpoint/2010/main" val="1764660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 to course website</a:t>
            </a:r>
          </a:p>
        </p:txBody>
      </p:sp>
      <p:sp>
        <p:nvSpPr>
          <p:cNvPr id="4" name="Slide Number Placeholder 3"/>
          <p:cNvSpPr>
            <a:spLocks noGrp="1"/>
          </p:cNvSpPr>
          <p:nvPr>
            <p:ph type="sldNum" sz="quarter" idx="5"/>
          </p:nvPr>
        </p:nvSpPr>
        <p:spPr/>
        <p:txBody>
          <a:bodyPr/>
          <a:lstStyle/>
          <a:p>
            <a:fld id="{64743371-D3FC-784F-8B03-9888085B9730}" type="slidenum">
              <a:rPr lang="en-US" smtClean="0"/>
              <a:t>2</a:t>
            </a:fld>
            <a:endParaRPr lang="en-US"/>
          </a:p>
        </p:txBody>
      </p:sp>
    </p:spTree>
    <p:extLst>
      <p:ext uri="{BB962C8B-B14F-4D97-AF65-F5344CB8AC3E}">
        <p14:creationId xmlns:p14="http://schemas.microsoft.com/office/powerpoint/2010/main" val="1687525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FastQC</a:t>
            </a:r>
            <a:r>
              <a:rPr lang="en-US" dirty="0"/>
              <a:t> checks raw reads, HISAT2 gives alignment metrics. But alignment does not always equal being biologically valid. So today, we are going to evaluate whether RNA-Seq reads reflect real biology or technical noise. </a:t>
            </a:r>
          </a:p>
        </p:txBody>
      </p:sp>
      <p:sp>
        <p:nvSpPr>
          <p:cNvPr id="4" name="Slide Number Placeholder 3"/>
          <p:cNvSpPr>
            <a:spLocks noGrp="1"/>
          </p:cNvSpPr>
          <p:nvPr>
            <p:ph type="sldNum" sz="quarter" idx="5"/>
          </p:nvPr>
        </p:nvSpPr>
        <p:spPr/>
        <p:txBody>
          <a:bodyPr/>
          <a:lstStyle/>
          <a:p>
            <a:fld id="{64743371-D3FC-784F-8B03-9888085B9730}" type="slidenum">
              <a:rPr lang="en-US" smtClean="0"/>
              <a:t>3</a:t>
            </a:fld>
            <a:endParaRPr lang="en-US"/>
          </a:p>
        </p:txBody>
      </p:sp>
    </p:spTree>
    <p:extLst>
      <p:ext uri="{BB962C8B-B14F-4D97-AF65-F5344CB8AC3E}">
        <p14:creationId xmlns:p14="http://schemas.microsoft.com/office/powerpoint/2010/main" val="3310715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if the </a:t>
            </a:r>
            <a:r>
              <a:rPr lang="en-US" dirty="0" err="1"/>
              <a:t>strandedness</a:t>
            </a:r>
            <a:r>
              <a:rPr lang="en-US" dirty="0"/>
              <a:t> parameter is incorrect, most of the sequencing reads are assigned incorrectly!! </a:t>
            </a:r>
          </a:p>
        </p:txBody>
      </p:sp>
      <p:sp>
        <p:nvSpPr>
          <p:cNvPr id="4" name="Slide Number Placeholder 3"/>
          <p:cNvSpPr>
            <a:spLocks noGrp="1"/>
          </p:cNvSpPr>
          <p:nvPr>
            <p:ph type="sldNum" sz="quarter" idx="5"/>
          </p:nvPr>
        </p:nvSpPr>
        <p:spPr/>
        <p:txBody>
          <a:bodyPr/>
          <a:lstStyle/>
          <a:p>
            <a:fld id="{64743371-D3FC-784F-8B03-9888085B9730}" type="slidenum">
              <a:rPr lang="en-US" smtClean="0"/>
              <a:t>6</a:t>
            </a:fld>
            <a:endParaRPr lang="en-US"/>
          </a:p>
        </p:txBody>
      </p:sp>
    </p:spTree>
    <p:extLst>
      <p:ext uri="{BB962C8B-B14F-4D97-AF65-F5344CB8AC3E}">
        <p14:creationId xmlns:p14="http://schemas.microsoft.com/office/powerpoint/2010/main" val="4192474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order to proceed to the counts step, one must determine </a:t>
            </a:r>
            <a:r>
              <a:rPr lang="en-US" dirty="0" err="1"/>
              <a:t>strandedness</a:t>
            </a:r>
            <a:r>
              <a:rPr lang="en-US" dirty="0"/>
              <a:t>. But note, all the other steps we had to determine to comfortably move forward. </a:t>
            </a:r>
          </a:p>
          <a:p>
            <a:endParaRPr lang="en-US" dirty="0"/>
          </a:p>
        </p:txBody>
      </p:sp>
      <p:sp>
        <p:nvSpPr>
          <p:cNvPr id="4" name="Slide Number Placeholder 3"/>
          <p:cNvSpPr>
            <a:spLocks noGrp="1"/>
          </p:cNvSpPr>
          <p:nvPr>
            <p:ph type="sldNum" sz="quarter" idx="5"/>
          </p:nvPr>
        </p:nvSpPr>
        <p:spPr/>
        <p:txBody>
          <a:bodyPr/>
          <a:lstStyle/>
          <a:p>
            <a:fld id="{64743371-D3FC-784F-8B03-9888085B9730}" type="slidenum">
              <a:rPr lang="en-US" smtClean="0"/>
              <a:t>7</a:t>
            </a:fld>
            <a:endParaRPr lang="en-US"/>
          </a:p>
        </p:txBody>
      </p:sp>
    </p:spTree>
    <p:extLst>
      <p:ext uri="{BB962C8B-B14F-4D97-AF65-F5344CB8AC3E}">
        <p14:creationId xmlns:p14="http://schemas.microsoft.com/office/powerpoint/2010/main" val="4204131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default</a:t>
            </a:r>
            <a:r>
              <a:rPr lang="en-US" dirty="0"/>
              <a:t> for --</a:t>
            </a:r>
            <a:r>
              <a:rPr lang="en-US" dirty="0" err="1"/>
              <a:t>rna-strandedness</a:t>
            </a:r>
            <a:r>
              <a:rPr lang="en-US" dirty="0"/>
              <a:t> in </a:t>
            </a:r>
            <a:r>
              <a:rPr lang="en-US" b="1" dirty="0"/>
              <a:t>HISAT2</a:t>
            </a:r>
            <a:r>
              <a:rPr lang="en-US" dirty="0"/>
              <a:t> is </a:t>
            </a:r>
            <a:r>
              <a:rPr lang="en-US" b="1" dirty="0"/>
              <a:t>none</a:t>
            </a:r>
            <a:r>
              <a:rPr lang="en-US" dirty="0"/>
              <a:t>, meaning it assumes </a:t>
            </a:r>
            <a:r>
              <a:rPr lang="en-US" b="1" dirty="0" err="1"/>
              <a:t>unstranded</a:t>
            </a:r>
            <a:r>
              <a:rPr lang="en-US" b="1" dirty="0"/>
              <a:t> RNA-Seq data</a:t>
            </a:r>
            <a:r>
              <a:rPr lang="en-US" dirty="0"/>
              <a:t> unless specified otherwise.</a:t>
            </a:r>
          </a:p>
          <a:p>
            <a:r>
              <a:rPr lang="en-US" dirty="0"/>
              <a:t>STAR </a:t>
            </a:r>
            <a:r>
              <a:rPr lang="en-US" b="1" dirty="0"/>
              <a:t>aligns reads to both strands</a:t>
            </a:r>
            <a:r>
              <a:rPr lang="en-US" dirty="0"/>
              <a:t> and does not assign strand-specific information.</a:t>
            </a:r>
          </a:p>
        </p:txBody>
      </p:sp>
      <p:sp>
        <p:nvSpPr>
          <p:cNvPr id="4" name="Slide Number Placeholder 3"/>
          <p:cNvSpPr>
            <a:spLocks noGrp="1"/>
          </p:cNvSpPr>
          <p:nvPr>
            <p:ph type="sldNum" sz="quarter" idx="5"/>
          </p:nvPr>
        </p:nvSpPr>
        <p:spPr/>
        <p:txBody>
          <a:bodyPr/>
          <a:lstStyle/>
          <a:p>
            <a:fld id="{64743371-D3FC-784F-8B03-9888085B9730}" type="slidenum">
              <a:rPr lang="en-US" smtClean="0"/>
              <a:t>14</a:t>
            </a:fld>
            <a:endParaRPr lang="en-US"/>
          </a:p>
        </p:txBody>
      </p:sp>
    </p:spTree>
    <p:extLst>
      <p:ext uri="{BB962C8B-B14F-4D97-AF65-F5344CB8AC3E}">
        <p14:creationId xmlns:p14="http://schemas.microsoft.com/office/powerpoint/2010/main" val="392419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EDBEB-5246-8101-69D9-670346428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FDC00-9642-F914-F7D0-7882C6339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65584-4160-80D1-2608-63915035CB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292929"/>
                </a:solidFill>
                <a:effectLst/>
                <a:latin typeface="Menlo" panose="020B0609030804020204" pitchFamily="49" charset="0"/>
              </a:rPr>
              <a:t>This script predicts the “</a:t>
            </a:r>
            <a:r>
              <a:rPr lang="en-US" b="0" dirty="0" err="1">
                <a:solidFill>
                  <a:srgbClr val="292929"/>
                </a:solidFill>
                <a:effectLst/>
                <a:latin typeface="Menlo" panose="020B0609030804020204" pitchFamily="49" charset="0"/>
              </a:rPr>
              <a:t>strandedness</a:t>
            </a:r>
            <a:r>
              <a:rPr lang="en-US" b="0" dirty="0">
                <a:solidFill>
                  <a:srgbClr val="292929"/>
                </a:solidFill>
                <a:effectLst/>
                <a:latin typeface="Menlo" panose="020B0609030804020204" pitchFamily="49" charset="0"/>
              </a:rPr>
              <a:t>” of the protocol (i.e. </a:t>
            </a:r>
            <a:r>
              <a:rPr lang="en-US" b="0" dirty="0" err="1">
                <a:solidFill>
                  <a:srgbClr val="292929"/>
                </a:solidFill>
                <a:effectLst/>
                <a:latin typeface="Menlo" panose="020B0609030804020204" pitchFamily="49" charset="0"/>
              </a:rPr>
              <a:t>unstranded</a:t>
            </a:r>
            <a:r>
              <a:rPr lang="en-US" b="0" dirty="0">
                <a:solidFill>
                  <a:srgbClr val="292929"/>
                </a:solidFill>
                <a:effectLst/>
                <a:latin typeface="Menlo" panose="020B0609030804020204" pitchFamily="49" charset="0"/>
              </a:rPr>
              <a:t>, sense or antisense) that was used to prepare the sample for sequencing by assessing the orientation in which aligned reads overlay gene features in the reference genome. This information is not always available in public datasets. </a:t>
            </a:r>
          </a:p>
          <a:p>
            <a:endParaRPr lang="en-US" dirty="0"/>
          </a:p>
        </p:txBody>
      </p:sp>
      <p:sp>
        <p:nvSpPr>
          <p:cNvPr id="4" name="Slide Number Placeholder 3">
            <a:extLst>
              <a:ext uri="{FF2B5EF4-FFF2-40B4-BE49-F238E27FC236}">
                <a16:creationId xmlns:a16="http://schemas.microsoft.com/office/drawing/2014/main" id="{87AC9B86-5870-C971-2E6F-79C0AA091E04}"/>
              </a:ext>
            </a:extLst>
          </p:cNvPr>
          <p:cNvSpPr>
            <a:spLocks noGrp="1"/>
          </p:cNvSpPr>
          <p:nvPr>
            <p:ph type="sldNum" sz="quarter" idx="5"/>
          </p:nvPr>
        </p:nvSpPr>
        <p:spPr/>
        <p:txBody>
          <a:bodyPr/>
          <a:lstStyle/>
          <a:p>
            <a:fld id="{64743371-D3FC-784F-8B03-9888085B9730}" type="slidenum">
              <a:rPr lang="en-US" smtClean="0"/>
              <a:t>18</a:t>
            </a:fld>
            <a:endParaRPr lang="en-US"/>
          </a:p>
        </p:txBody>
      </p:sp>
    </p:spTree>
    <p:extLst>
      <p:ext uri="{BB962C8B-B14F-4D97-AF65-F5344CB8AC3E}">
        <p14:creationId xmlns:p14="http://schemas.microsoft.com/office/powerpoint/2010/main" val="341762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dirty="0">
                <a:solidFill>
                  <a:srgbClr val="292929"/>
                </a:solidFill>
                <a:effectLst/>
                <a:latin typeface="Menlo" panose="020B0609030804020204" pitchFamily="49" charset="0"/>
              </a:rPr>
              <a:t>File containing fraction of reads mapping to given </a:t>
            </a:r>
            <a:r>
              <a:rPr lang="en-US" b="0" dirty="0" err="1">
                <a:solidFill>
                  <a:srgbClr val="292929"/>
                </a:solidFill>
                <a:effectLst/>
                <a:latin typeface="Menlo" panose="020B0609030804020204" pitchFamily="49" charset="0"/>
              </a:rPr>
              <a:t>strandedness</a:t>
            </a:r>
            <a:r>
              <a:rPr lang="en-US" b="0" dirty="0">
                <a:solidFill>
                  <a:srgbClr val="292929"/>
                </a:solidFill>
                <a:effectLst/>
                <a:latin typeface="Menlo" panose="020B0609030804020204" pitchFamily="49" charset="0"/>
              </a:rPr>
              <a:t> configurations</a:t>
            </a:r>
          </a:p>
          <a:p>
            <a:endParaRPr lang="en-US" dirty="0"/>
          </a:p>
        </p:txBody>
      </p:sp>
      <p:sp>
        <p:nvSpPr>
          <p:cNvPr id="4" name="Slide Number Placeholder 3"/>
          <p:cNvSpPr>
            <a:spLocks noGrp="1"/>
          </p:cNvSpPr>
          <p:nvPr>
            <p:ph type="sldNum" sz="quarter" idx="5"/>
          </p:nvPr>
        </p:nvSpPr>
        <p:spPr/>
        <p:txBody>
          <a:bodyPr/>
          <a:lstStyle/>
          <a:p>
            <a:fld id="{64743371-D3FC-784F-8B03-9888085B9730}" type="slidenum">
              <a:rPr lang="en-US" smtClean="0"/>
              <a:t>19</a:t>
            </a:fld>
            <a:endParaRPr lang="en-US"/>
          </a:p>
        </p:txBody>
      </p:sp>
    </p:spTree>
    <p:extLst>
      <p:ext uri="{BB962C8B-B14F-4D97-AF65-F5344CB8AC3E}">
        <p14:creationId xmlns:p14="http://schemas.microsoft.com/office/powerpoint/2010/main" val="2477682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8804-EA9E-59DA-855B-494FCC894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74651-A363-8AB7-2C9C-F20CC28BB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8E3C3-2A4C-9E9D-7F84-62D3639B07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292929"/>
                </a:solidFill>
                <a:effectLst/>
                <a:latin typeface="Menlo" panose="020B0609030804020204" pitchFamily="49" charset="0"/>
              </a:rPr>
              <a:t>Analyzes how reads are distributed across different genomic features (e.g., exons, introns, UTRs, intergenic regions)</a:t>
            </a:r>
          </a:p>
          <a:p>
            <a:endParaRPr lang="en-US" dirty="0"/>
          </a:p>
        </p:txBody>
      </p:sp>
      <p:sp>
        <p:nvSpPr>
          <p:cNvPr id="4" name="Slide Number Placeholder 3">
            <a:extLst>
              <a:ext uri="{FF2B5EF4-FFF2-40B4-BE49-F238E27FC236}">
                <a16:creationId xmlns:a16="http://schemas.microsoft.com/office/drawing/2014/main" id="{6819F638-F02C-BDAD-8A21-7FFCC6B0CA1F}"/>
              </a:ext>
            </a:extLst>
          </p:cNvPr>
          <p:cNvSpPr>
            <a:spLocks noGrp="1"/>
          </p:cNvSpPr>
          <p:nvPr>
            <p:ph type="sldNum" sz="quarter" idx="5"/>
          </p:nvPr>
        </p:nvSpPr>
        <p:spPr/>
        <p:txBody>
          <a:bodyPr/>
          <a:lstStyle/>
          <a:p>
            <a:fld id="{64743371-D3FC-784F-8B03-9888085B9730}" type="slidenum">
              <a:rPr lang="en-US" smtClean="0"/>
              <a:t>21</a:t>
            </a:fld>
            <a:endParaRPr lang="en-US"/>
          </a:p>
        </p:txBody>
      </p:sp>
    </p:spTree>
    <p:extLst>
      <p:ext uri="{BB962C8B-B14F-4D97-AF65-F5344CB8AC3E}">
        <p14:creationId xmlns:p14="http://schemas.microsoft.com/office/powerpoint/2010/main" val="1902361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3DFB2-FB4A-0695-C2D7-0722EE63B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05A38-D25E-F87D-58EA-31C5F2035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29068-90C0-3BEA-A641-E50644E5CD26}"/>
              </a:ext>
            </a:extLst>
          </p:cNvPr>
          <p:cNvSpPr>
            <a:spLocks noGrp="1"/>
          </p:cNvSpPr>
          <p:nvPr>
            <p:ph type="body" idx="1"/>
          </p:nvPr>
        </p:nvSpPr>
        <p:spPr/>
        <p:txBody>
          <a:bodyPr/>
          <a:lstStyle/>
          <a:p>
            <a:pPr>
              <a:lnSpc>
                <a:spcPts val="1350"/>
              </a:lnSpc>
            </a:pPr>
            <a:r>
              <a:rPr lang="en-US" b="0" dirty="0">
                <a:solidFill>
                  <a:srgbClr val="292929"/>
                </a:solidFill>
                <a:effectLst/>
                <a:latin typeface="Menlo" panose="020B0609030804020204" pitchFamily="49" charset="0"/>
              </a:rPr>
              <a:t>Dot plot </a:t>
            </a:r>
          </a:p>
          <a:p>
            <a:endParaRPr lang="en-US" dirty="0"/>
          </a:p>
        </p:txBody>
      </p:sp>
      <p:sp>
        <p:nvSpPr>
          <p:cNvPr id="4" name="Slide Number Placeholder 3">
            <a:extLst>
              <a:ext uri="{FF2B5EF4-FFF2-40B4-BE49-F238E27FC236}">
                <a16:creationId xmlns:a16="http://schemas.microsoft.com/office/drawing/2014/main" id="{148CB62F-3E0F-9A90-1A24-7F1E71F01C5E}"/>
              </a:ext>
            </a:extLst>
          </p:cNvPr>
          <p:cNvSpPr>
            <a:spLocks noGrp="1"/>
          </p:cNvSpPr>
          <p:nvPr>
            <p:ph type="sldNum" sz="quarter" idx="5"/>
          </p:nvPr>
        </p:nvSpPr>
        <p:spPr/>
        <p:txBody>
          <a:bodyPr/>
          <a:lstStyle/>
          <a:p>
            <a:fld id="{64743371-D3FC-784F-8B03-9888085B9730}" type="slidenum">
              <a:rPr lang="en-US" smtClean="0"/>
              <a:t>22</a:t>
            </a:fld>
            <a:endParaRPr lang="en-US"/>
          </a:p>
        </p:txBody>
      </p:sp>
    </p:spTree>
    <p:extLst>
      <p:ext uri="{BB962C8B-B14F-4D97-AF65-F5344CB8AC3E}">
        <p14:creationId xmlns:p14="http://schemas.microsoft.com/office/powerpoint/2010/main" val="1291198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743371-D3FC-784F-8B03-9888085B9730}" type="slidenum">
              <a:rPr lang="en-US" smtClean="0"/>
              <a:t>23</a:t>
            </a:fld>
            <a:endParaRPr lang="en-US"/>
          </a:p>
        </p:txBody>
      </p:sp>
    </p:spTree>
    <p:extLst>
      <p:ext uri="{BB962C8B-B14F-4D97-AF65-F5344CB8AC3E}">
        <p14:creationId xmlns:p14="http://schemas.microsoft.com/office/powerpoint/2010/main" val="49523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80213" y="272384"/>
            <a:ext cx="8036715" cy="4074099"/>
          </a:xfrm>
          <a:prstGeom prst="rect">
            <a:avLst/>
          </a:prstGeom>
        </p:spPr>
      </p:pic>
      <p:sp>
        <p:nvSpPr>
          <p:cNvPr id="17" name="bg object 17"/>
          <p:cNvSpPr/>
          <p:nvPr/>
        </p:nvSpPr>
        <p:spPr>
          <a:xfrm>
            <a:off x="5296202" y="4981652"/>
            <a:ext cx="1112520" cy="812165"/>
          </a:xfrm>
          <a:custGeom>
            <a:avLst/>
            <a:gdLst/>
            <a:ahLst/>
            <a:cxnLst/>
            <a:rect l="l" t="t" r="r" b="b"/>
            <a:pathLst>
              <a:path w="1112520" h="812164">
                <a:moveTo>
                  <a:pt x="976577" y="0"/>
                </a:moveTo>
                <a:lnTo>
                  <a:pt x="135333" y="0"/>
                </a:lnTo>
                <a:lnTo>
                  <a:pt x="92558" y="6899"/>
                </a:lnTo>
                <a:lnTo>
                  <a:pt x="55407" y="26111"/>
                </a:lnTo>
                <a:lnTo>
                  <a:pt x="26111" y="55407"/>
                </a:lnTo>
                <a:lnTo>
                  <a:pt x="6899" y="92557"/>
                </a:lnTo>
                <a:lnTo>
                  <a:pt x="0" y="135333"/>
                </a:lnTo>
                <a:lnTo>
                  <a:pt x="0" y="676653"/>
                </a:lnTo>
                <a:lnTo>
                  <a:pt x="6899" y="719429"/>
                </a:lnTo>
                <a:lnTo>
                  <a:pt x="26111" y="756580"/>
                </a:lnTo>
                <a:lnTo>
                  <a:pt x="55407" y="785875"/>
                </a:lnTo>
                <a:lnTo>
                  <a:pt x="92558" y="805088"/>
                </a:lnTo>
                <a:lnTo>
                  <a:pt x="135333" y="811987"/>
                </a:lnTo>
                <a:lnTo>
                  <a:pt x="976577" y="811987"/>
                </a:lnTo>
                <a:lnTo>
                  <a:pt x="1019353" y="805088"/>
                </a:lnTo>
                <a:lnTo>
                  <a:pt x="1056503" y="785875"/>
                </a:lnTo>
                <a:lnTo>
                  <a:pt x="1085799" y="756580"/>
                </a:lnTo>
                <a:lnTo>
                  <a:pt x="1105012" y="719429"/>
                </a:lnTo>
                <a:lnTo>
                  <a:pt x="1111911" y="676653"/>
                </a:lnTo>
                <a:lnTo>
                  <a:pt x="1111911" y="135333"/>
                </a:lnTo>
                <a:lnTo>
                  <a:pt x="1105012" y="92557"/>
                </a:lnTo>
                <a:lnTo>
                  <a:pt x="1085799" y="55407"/>
                </a:lnTo>
                <a:lnTo>
                  <a:pt x="1056503" y="26111"/>
                </a:lnTo>
                <a:lnTo>
                  <a:pt x="1019353" y="6899"/>
                </a:lnTo>
                <a:lnTo>
                  <a:pt x="976577" y="0"/>
                </a:lnTo>
                <a:close/>
              </a:path>
            </a:pathLst>
          </a:custGeom>
          <a:solidFill>
            <a:srgbClr val="F4B183"/>
          </a:solidFill>
        </p:spPr>
        <p:txBody>
          <a:bodyPr wrap="square" lIns="0" tIns="0" rIns="0" bIns="0" rtlCol="0"/>
          <a:lstStyle/>
          <a:p>
            <a:endParaRPr/>
          </a:p>
        </p:txBody>
      </p:sp>
      <p:sp>
        <p:nvSpPr>
          <p:cNvPr id="18" name="bg object 18"/>
          <p:cNvSpPr/>
          <p:nvPr/>
        </p:nvSpPr>
        <p:spPr>
          <a:xfrm>
            <a:off x="5296202" y="4981652"/>
            <a:ext cx="1112520" cy="812165"/>
          </a:xfrm>
          <a:custGeom>
            <a:avLst/>
            <a:gdLst/>
            <a:ahLst/>
            <a:cxnLst/>
            <a:rect l="l" t="t" r="r" b="b"/>
            <a:pathLst>
              <a:path w="1112520" h="812164">
                <a:moveTo>
                  <a:pt x="0" y="135333"/>
                </a:moveTo>
                <a:lnTo>
                  <a:pt x="6899" y="92557"/>
                </a:lnTo>
                <a:lnTo>
                  <a:pt x="26111" y="55407"/>
                </a:lnTo>
                <a:lnTo>
                  <a:pt x="55407" y="26111"/>
                </a:lnTo>
                <a:lnTo>
                  <a:pt x="92557" y="6899"/>
                </a:lnTo>
                <a:lnTo>
                  <a:pt x="135333" y="0"/>
                </a:lnTo>
                <a:lnTo>
                  <a:pt x="976577" y="0"/>
                </a:lnTo>
                <a:lnTo>
                  <a:pt x="1019353" y="6899"/>
                </a:lnTo>
                <a:lnTo>
                  <a:pt x="1056503" y="26111"/>
                </a:lnTo>
                <a:lnTo>
                  <a:pt x="1085799" y="55407"/>
                </a:lnTo>
                <a:lnTo>
                  <a:pt x="1105011" y="92557"/>
                </a:lnTo>
                <a:lnTo>
                  <a:pt x="1111911" y="135333"/>
                </a:lnTo>
                <a:lnTo>
                  <a:pt x="1111911" y="676654"/>
                </a:lnTo>
                <a:lnTo>
                  <a:pt x="1105011" y="719430"/>
                </a:lnTo>
                <a:lnTo>
                  <a:pt x="1085799" y="756580"/>
                </a:lnTo>
                <a:lnTo>
                  <a:pt x="1056503" y="785876"/>
                </a:lnTo>
                <a:lnTo>
                  <a:pt x="1019353" y="805088"/>
                </a:lnTo>
                <a:lnTo>
                  <a:pt x="976577" y="811988"/>
                </a:lnTo>
                <a:lnTo>
                  <a:pt x="135333" y="811988"/>
                </a:lnTo>
                <a:lnTo>
                  <a:pt x="92557" y="805088"/>
                </a:lnTo>
                <a:lnTo>
                  <a:pt x="55407" y="785876"/>
                </a:lnTo>
                <a:lnTo>
                  <a:pt x="26111" y="756580"/>
                </a:lnTo>
                <a:lnTo>
                  <a:pt x="6899" y="719430"/>
                </a:lnTo>
                <a:lnTo>
                  <a:pt x="0" y="676654"/>
                </a:lnTo>
                <a:lnTo>
                  <a:pt x="0" y="135333"/>
                </a:lnTo>
                <a:close/>
              </a:path>
            </a:pathLst>
          </a:custGeom>
          <a:ln w="12700">
            <a:solidFill>
              <a:srgbClr val="C55A11"/>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77912" y="336803"/>
            <a:ext cx="6988175" cy="1290320"/>
          </a:xfrm>
          <a:prstGeom prst="rect">
            <a:avLst/>
          </a:prstGeom>
        </p:spPr>
        <p:txBody>
          <a:bodyPr wrap="square" lIns="0" tIns="0" rIns="0" bIns="0">
            <a:spAutoFit/>
          </a:bodyPr>
          <a:lstStyle>
            <a:lvl1pPr>
              <a:defRPr sz="4400" b="0" i="0">
                <a:solidFill>
                  <a:schemeClr val="tx1"/>
                </a:solidFill>
                <a:latin typeface="Arial"/>
                <a:cs typeface="Arial"/>
              </a:defRPr>
            </a:lvl1pPr>
          </a:lstStyle>
          <a:p>
            <a:endParaRPr/>
          </a:p>
        </p:txBody>
      </p:sp>
      <p:sp>
        <p:nvSpPr>
          <p:cNvPr id="3" name="Holder 3"/>
          <p:cNvSpPr>
            <a:spLocks noGrp="1"/>
          </p:cNvSpPr>
          <p:nvPr>
            <p:ph type="body" idx="1"/>
          </p:nvPr>
        </p:nvSpPr>
        <p:spPr>
          <a:xfrm>
            <a:off x="679194" y="2219452"/>
            <a:ext cx="7606030" cy="2115820"/>
          </a:xfrm>
          <a:prstGeom prst="rect">
            <a:avLst/>
          </a:prstGeom>
        </p:spPr>
        <p:txBody>
          <a:bodyPr wrap="square" lIns="0" tIns="0" rIns="0" bIns="0">
            <a:spAutoFit/>
          </a:bodyPr>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2/25/26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125471"/>
            <a:ext cx="8229600" cy="1728678"/>
          </a:xfrm>
          <a:prstGeom prst="rect">
            <a:avLst/>
          </a:prstGeom>
        </p:spPr>
        <p:txBody>
          <a:bodyPr vert="horz" wrap="square" lIns="0" tIns="401320" rIns="0" bIns="0" rtlCol="0">
            <a:spAutoFit/>
          </a:bodyPr>
          <a:lstStyle/>
          <a:p>
            <a:pPr algn="ctr">
              <a:lnSpc>
                <a:spcPct val="100000"/>
              </a:lnSpc>
              <a:spcBef>
                <a:spcPts val="3160"/>
              </a:spcBef>
            </a:pPr>
            <a:r>
              <a:rPr sz="5400" spc="-5"/>
              <a:t>RSeQC</a:t>
            </a:r>
            <a:br>
              <a:rPr lang="en-US" sz="6000" spc="-40" dirty="0"/>
            </a:br>
            <a:r>
              <a:rPr lang="en-US" sz="3200" spc="-5" dirty="0">
                <a:latin typeface="Times New Roman"/>
                <a:cs typeface="Times New Roman"/>
              </a:rPr>
              <a:t>Feb 25</a:t>
            </a:r>
            <a:r>
              <a:rPr sz="3200" dirty="0">
                <a:latin typeface="Times New Roman"/>
                <a:cs typeface="Times New Roman"/>
              </a:rPr>
              <a:t>,</a:t>
            </a:r>
            <a:r>
              <a:rPr sz="3200" spc="-25" dirty="0">
                <a:latin typeface="Times New Roman"/>
                <a:cs typeface="Times New Roman"/>
              </a:rPr>
              <a:t> </a:t>
            </a:r>
            <a:r>
              <a:rPr sz="3200" dirty="0">
                <a:latin typeface="Times New Roman"/>
                <a:cs typeface="Times New Roman"/>
              </a:rPr>
              <a:t>202</a:t>
            </a:r>
            <a:r>
              <a:rPr lang="en-US" sz="3200" dirty="0">
                <a:latin typeface="Times New Roman"/>
                <a:cs typeface="Times New Roman"/>
              </a:rPr>
              <a:t>6</a:t>
            </a:r>
            <a:endParaRPr sz="24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04256-BC16-17EA-8F22-784300743DEA}"/>
              </a:ext>
            </a:extLst>
          </p:cNvPr>
          <p:cNvSpPr>
            <a:spLocks noGrp="1"/>
          </p:cNvSpPr>
          <p:nvPr>
            <p:ph type="title"/>
          </p:nvPr>
        </p:nvSpPr>
        <p:spPr/>
        <p:txBody>
          <a:bodyPr/>
          <a:lstStyle/>
          <a:p>
            <a:r>
              <a:rPr lang="en-US" dirty="0"/>
              <a:t>Next Week</a:t>
            </a:r>
          </a:p>
        </p:txBody>
      </p:sp>
      <p:sp>
        <p:nvSpPr>
          <p:cNvPr id="3" name="Text Placeholder 2">
            <a:extLst>
              <a:ext uri="{FF2B5EF4-FFF2-40B4-BE49-F238E27FC236}">
                <a16:creationId xmlns:a16="http://schemas.microsoft.com/office/drawing/2014/main" id="{D79DEBF6-C60C-81A2-F2E4-4FABCDD898A0}"/>
              </a:ext>
            </a:extLst>
          </p:cNvPr>
          <p:cNvSpPr>
            <a:spLocks noGrp="1"/>
          </p:cNvSpPr>
          <p:nvPr>
            <p:ph type="body" idx="1"/>
          </p:nvPr>
        </p:nvSpPr>
        <p:spPr>
          <a:xfrm>
            <a:off x="679194" y="1627124"/>
            <a:ext cx="7606030" cy="3231654"/>
          </a:xfrm>
        </p:spPr>
        <p:txBody>
          <a:bodyPr/>
          <a:lstStyle/>
          <a:p>
            <a:r>
              <a:rPr lang="en-US" sz="3600" dirty="0"/>
              <a:t>Wednesday, March 5th  - Course Catch Up Day </a:t>
            </a:r>
          </a:p>
          <a:p>
            <a:endParaRPr lang="en-US" sz="3600" i="1" dirty="0"/>
          </a:p>
          <a:p>
            <a:r>
              <a:rPr lang="en-US" sz="3600" i="1" dirty="0"/>
              <a:t>Bring Homework #6 specific questions </a:t>
            </a:r>
          </a:p>
          <a:p>
            <a:endParaRPr lang="en-US" dirty="0"/>
          </a:p>
          <a:p>
            <a:endParaRPr lang="en-US" dirty="0"/>
          </a:p>
          <a:p>
            <a:endParaRPr lang="en-US" dirty="0"/>
          </a:p>
        </p:txBody>
      </p:sp>
    </p:spTree>
    <p:extLst>
      <p:ext uri="{BB962C8B-B14F-4D97-AF65-F5344CB8AC3E}">
        <p14:creationId xmlns:p14="http://schemas.microsoft.com/office/powerpoint/2010/main" val="3552579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25914" y="5199379"/>
            <a:ext cx="852805" cy="370840"/>
          </a:xfrm>
          <a:prstGeom prst="rect">
            <a:avLst/>
          </a:prstGeom>
        </p:spPr>
        <p:txBody>
          <a:bodyPr vert="horz" wrap="square" lIns="0" tIns="12700" rIns="0" bIns="0" rtlCol="0">
            <a:spAutoFit/>
          </a:bodyPr>
          <a:lstStyle/>
          <a:p>
            <a:pPr marL="12700">
              <a:lnSpc>
                <a:spcPts val="1420"/>
              </a:lnSpc>
              <a:spcBef>
                <a:spcPts val="100"/>
              </a:spcBef>
            </a:pPr>
            <a:r>
              <a:rPr sz="1200" spc="-5" dirty="0">
                <a:latin typeface="Arial"/>
                <a:cs typeface="Arial"/>
              </a:rPr>
              <a:t>Coun</a:t>
            </a:r>
            <a:r>
              <a:rPr sz="1200" dirty="0">
                <a:latin typeface="Arial"/>
                <a:cs typeface="Arial"/>
              </a:rPr>
              <a:t>t</a:t>
            </a:r>
            <a:r>
              <a:rPr sz="1200" spc="5" dirty="0">
                <a:latin typeface="Arial"/>
                <a:cs typeface="Arial"/>
              </a:rPr>
              <a:t> </a:t>
            </a:r>
            <a:r>
              <a:rPr sz="1200" dirty="0">
                <a:latin typeface="Arial"/>
                <a:cs typeface="Arial"/>
              </a:rPr>
              <a:t>r</a:t>
            </a:r>
            <a:r>
              <a:rPr sz="1200" spc="-5" dirty="0">
                <a:latin typeface="Arial"/>
                <a:cs typeface="Arial"/>
              </a:rPr>
              <a:t>ead</a:t>
            </a:r>
            <a:r>
              <a:rPr sz="1200" dirty="0">
                <a:latin typeface="Arial"/>
                <a:cs typeface="Arial"/>
              </a:rPr>
              <a:t>s</a:t>
            </a:r>
            <a:endParaRPr sz="1200">
              <a:latin typeface="Arial"/>
              <a:cs typeface="Arial"/>
            </a:endParaRPr>
          </a:p>
          <a:p>
            <a:pPr marL="26034">
              <a:lnSpc>
                <a:spcPts val="1300"/>
              </a:lnSpc>
            </a:pPr>
            <a:r>
              <a:rPr sz="1100" i="1" dirty="0">
                <a:latin typeface="Arial"/>
                <a:cs typeface="Arial"/>
              </a:rPr>
              <a:t>HTseq-count</a:t>
            </a:r>
            <a:endParaRPr sz="1100">
              <a:latin typeface="Arial"/>
              <a:cs typeface="Arial"/>
            </a:endParaRPr>
          </a:p>
        </p:txBody>
      </p:sp>
      <p:grpSp>
        <p:nvGrpSpPr>
          <p:cNvPr id="3" name="object 3"/>
          <p:cNvGrpSpPr/>
          <p:nvPr/>
        </p:nvGrpSpPr>
        <p:grpSpPr>
          <a:xfrm>
            <a:off x="5814058" y="3559172"/>
            <a:ext cx="2364740" cy="1423035"/>
            <a:chOff x="5814058" y="3559172"/>
            <a:chExt cx="2364740" cy="1423035"/>
          </a:xfrm>
        </p:grpSpPr>
        <p:sp>
          <p:nvSpPr>
            <p:cNvPr id="4" name="object 4"/>
            <p:cNvSpPr/>
            <p:nvPr/>
          </p:nvSpPr>
          <p:spPr>
            <a:xfrm>
              <a:off x="5814047" y="3881640"/>
              <a:ext cx="1246505" cy="1100455"/>
            </a:xfrm>
            <a:custGeom>
              <a:avLst/>
              <a:gdLst/>
              <a:ahLst/>
              <a:cxnLst/>
              <a:rect l="l" t="t" r="r" b="b"/>
              <a:pathLst>
                <a:path w="1246504" h="1100454">
                  <a:moveTo>
                    <a:pt x="76200" y="1023823"/>
                  </a:moveTo>
                  <a:lnTo>
                    <a:pt x="41275" y="1023823"/>
                  </a:lnTo>
                  <a:lnTo>
                    <a:pt x="41275" y="463588"/>
                  </a:lnTo>
                  <a:lnTo>
                    <a:pt x="34925" y="463588"/>
                  </a:lnTo>
                  <a:lnTo>
                    <a:pt x="34925" y="1023823"/>
                  </a:lnTo>
                  <a:lnTo>
                    <a:pt x="0" y="1023823"/>
                  </a:lnTo>
                  <a:lnTo>
                    <a:pt x="38100" y="1100023"/>
                  </a:lnTo>
                  <a:lnTo>
                    <a:pt x="69850" y="1036523"/>
                  </a:lnTo>
                  <a:lnTo>
                    <a:pt x="76200" y="1023823"/>
                  </a:lnTo>
                  <a:close/>
                </a:path>
                <a:path w="1246504" h="1100454">
                  <a:moveTo>
                    <a:pt x="1246339" y="34925"/>
                  </a:moveTo>
                  <a:lnTo>
                    <a:pt x="670255" y="34925"/>
                  </a:lnTo>
                  <a:lnTo>
                    <a:pt x="670255" y="0"/>
                  </a:lnTo>
                  <a:lnTo>
                    <a:pt x="594055" y="38100"/>
                  </a:lnTo>
                  <a:lnTo>
                    <a:pt x="670255" y="76200"/>
                  </a:lnTo>
                  <a:lnTo>
                    <a:pt x="670255" y="41275"/>
                  </a:lnTo>
                  <a:lnTo>
                    <a:pt x="1246339" y="41275"/>
                  </a:lnTo>
                  <a:lnTo>
                    <a:pt x="1246339" y="34925"/>
                  </a:lnTo>
                  <a:close/>
                </a:path>
              </a:pathLst>
            </a:custGeom>
            <a:solidFill>
              <a:srgbClr val="000000"/>
            </a:solidFill>
          </p:spPr>
          <p:txBody>
            <a:bodyPr wrap="square" lIns="0" tIns="0" rIns="0" bIns="0" rtlCol="0"/>
            <a:lstStyle/>
            <a:p>
              <a:endParaRPr/>
            </a:p>
          </p:txBody>
        </p:sp>
        <p:sp>
          <p:nvSpPr>
            <p:cNvPr id="5" name="object 5"/>
            <p:cNvSpPr/>
            <p:nvPr/>
          </p:nvSpPr>
          <p:spPr>
            <a:xfrm>
              <a:off x="7060387" y="3565522"/>
              <a:ext cx="1112520" cy="812165"/>
            </a:xfrm>
            <a:custGeom>
              <a:avLst/>
              <a:gdLst/>
              <a:ahLst/>
              <a:cxnLst/>
              <a:rect l="l" t="t" r="r" b="b"/>
              <a:pathLst>
                <a:path w="1112520" h="812164">
                  <a:moveTo>
                    <a:pt x="976576" y="0"/>
                  </a:moveTo>
                  <a:lnTo>
                    <a:pt x="135333" y="0"/>
                  </a:lnTo>
                  <a:lnTo>
                    <a:pt x="92557" y="6899"/>
                  </a:lnTo>
                  <a:lnTo>
                    <a:pt x="55407" y="26111"/>
                  </a:lnTo>
                  <a:lnTo>
                    <a:pt x="26111" y="55407"/>
                  </a:lnTo>
                  <a:lnTo>
                    <a:pt x="6899" y="92558"/>
                  </a:lnTo>
                  <a:lnTo>
                    <a:pt x="0" y="135333"/>
                  </a:lnTo>
                  <a:lnTo>
                    <a:pt x="0" y="676654"/>
                  </a:lnTo>
                  <a:lnTo>
                    <a:pt x="6899" y="719430"/>
                  </a:lnTo>
                  <a:lnTo>
                    <a:pt x="26111" y="756581"/>
                  </a:lnTo>
                  <a:lnTo>
                    <a:pt x="55407" y="785877"/>
                  </a:lnTo>
                  <a:lnTo>
                    <a:pt x="92557" y="805089"/>
                  </a:lnTo>
                  <a:lnTo>
                    <a:pt x="135333" y="811988"/>
                  </a:lnTo>
                  <a:lnTo>
                    <a:pt x="976576" y="811988"/>
                  </a:lnTo>
                  <a:lnTo>
                    <a:pt x="1019352" y="805089"/>
                  </a:lnTo>
                  <a:lnTo>
                    <a:pt x="1056503" y="785877"/>
                  </a:lnTo>
                  <a:lnTo>
                    <a:pt x="1085798" y="756581"/>
                  </a:lnTo>
                  <a:lnTo>
                    <a:pt x="1105011" y="719430"/>
                  </a:lnTo>
                  <a:lnTo>
                    <a:pt x="1111910" y="676654"/>
                  </a:lnTo>
                  <a:lnTo>
                    <a:pt x="1111910" y="135333"/>
                  </a:lnTo>
                  <a:lnTo>
                    <a:pt x="1105011" y="92558"/>
                  </a:lnTo>
                  <a:lnTo>
                    <a:pt x="1085798" y="55407"/>
                  </a:lnTo>
                  <a:lnTo>
                    <a:pt x="1056503" y="26111"/>
                  </a:lnTo>
                  <a:lnTo>
                    <a:pt x="1019352" y="6899"/>
                  </a:lnTo>
                  <a:lnTo>
                    <a:pt x="976576" y="0"/>
                  </a:lnTo>
                  <a:close/>
                </a:path>
              </a:pathLst>
            </a:custGeom>
            <a:solidFill>
              <a:srgbClr val="A9D18E"/>
            </a:solidFill>
          </p:spPr>
          <p:txBody>
            <a:bodyPr wrap="square" lIns="0" tIns="0" rIns="0" bIns="0" rtlCol="0"/>
            <a:lstStyle/>
            <a:p>
              <a:endParaRPr/>
            </a:p>
          </p:txBody>
        </p:sp>
        <p:sp>
          <p:nvSpPr>
            <p:cNvPr id="6" name="object 6"/>
            <p:cNvSpPr/>
            <p:nvPr/>
          </p:nvSpPr>
          <p:spPr>
            <a:xfrm>
              <a:off x="7060387" y="3565522"/>
              <a:ext cx="1112520" cy="812165"/>
            </a:xfrm>
            <a:custGeom>
              <a:avLst/>
              <a:gdLst/>
              <a:ahLst/>
              <a:cxnLst/>
              <a:rect l="l" t="t" r="r" b="b"/>
              <a:pathLst>
                <a:path w="1112520" h="812164">
                  <a:moveTo>
                    <a:pt x="0" y="135333"/>
                  </a:moveTo>
                  <a:lnTo>
                    <a:pt x="6899" y="92557"/>
                  </a:lnTo>
                  <a:lnTo>
                    <a:pt x="26111" y="55407"/>
                  </a:lnTo>
                  <a:lnTo>
                    <a:pt x="55407" y="26111"/>
                  </a:lnTo>
                  <a:lnTo>
                    <a:pt x="92557" y="6899"/>
                  </a:lnTo>
                  <a:lnTo>
                    <a:pt x="135333" y="0"/>
                  </a:lnTo>
                  <a:lnTo>
                    <a:pt x="976577" y="0"/>
                  </a:lnTo>
                  <a:lnTo>
                    <a:pt x="1019353" y="6899"/>
                  </a:lnTo>
                  <a:lnTo>
                    <a:pt x="1056503" y="26111"/>
                  </a:lnTo>
                  <a:lnTo>
                    <a:pt x="1085799" y="55407"/>
                  </a:lnTo>
                  <a:lnTo>
                    <a:pt x="1105011" y="92557"/>
                  </a:lnTo>
                  <a:lnTo>
                    <a:pt x="1111911" y="135333"/>
                  </a:lnTo>
                  <a:lnTo>
                    <a:pt x="1111911" y="676654"/>
                  </a:lnTo>
                  <a:lnTo>
                    <a:pt x="1105011" y="719430"/>
                  </a:lnTo>
                  <a:lnTo>
                    <a:pt x="1085799" y="756580"/>
                  </a:lnTo>
                  <a:lnTo>
                    <a:pt x="1056503" y="785876"/>
                  </a:lnTo>
                  <a:lnTo>
                    <a:pt x="1019353" y="805088"/>
                  </a:lnTo>
                  <a:lnTo>
                    <a:pt x="976577" y="811988"/>
                  </a:lnTo>
                  <a:lnTo>
                    <a:pt x="135333" y="811988"/>
                  </a:lnTo>
                  <a:lnTo>
                    <a:pt x="92557" y="805088"/>
                  </a:lnTo>
                  <a:lnTo>
                    <a:pt x="55407" y="785876"/>
                  </a:lnTo>
                  <a:lnTo>
                    <a:pt x="26111" y="756580"/>
                  </a:lnTo>
                  <a:lnTo>
                    <a:pt x="6899" y="719430"/>
                  </a:lnTo>
                  <a:lnTo>
                    <a:pt x="0" y="676654"/>
                  </a:lnTo>
                  <a:lnTo>
                    <a:pt x="0" y="135333"/>
                  </a:lnTo>
                  <a:close/>
                </a:path>
              </a:pathLst>
            </a:custGeom>
            <a:ln w="12700">
              <a:solidFill>
                <a:srgbClr val="548235"/>
              </a:solidFill>
            </a:ln>
          </p:spPr>
          <p:txBody>
            <a:bodyPr wrap="square" lIns="0" tIns="0" rIns="0" bIns="0" rtlCol="0"/>
            <a:lstStyle/>
            <a:p>
              <a:endParaRPr/>
            </a:p>
          </p:txBody>
        </p:sp>
      </p:grpSp>
      <p:sp>
        <p:nvSpPr>
          <p:cNvPr id="7" name="object 7"/>
          <p:cNvSpPr txBox="1"/>
          <p:nvPr/>
        </p:nvSpPr>
        <p:spPr>
          <a:xfrm>
            <a:off x="7184541" y="3706367"/>
            <a:ext cx="863600" cy="525780"/>
          </a:xfrm>
          <a:prstGeom prst="rect">
            <a:avLst/>
          </a:prstGeom>
        </p:spPr>
        <p:txBody>
          <a:bodyPr vert="horz" wrap="square" lIns="0" tIns="13970" rIns="0" bIns="0" rtlCol="0">
            <a:spAutoFit/>
          </a:bodyPr>
          <a:lstStyle/>
          <a:p>
            <a:pPr marL="12700" marR="5080" indent="-635" algn="ctr">
              <a:lnSpc>
                <a:spcPct val="99100"/>
              </a:lnSpc>
              <a:spcBef>
                <a:spcPts val="110"/>
              </a:spcBef>
            </a:pPr>
            <a:r>
              <a:rPr sz="1100" spc="-5" dirty="0">
                <a:latin typeface="Arial"/>
                <a:cs typeface="Arial"/>
              </a:rPr>
              <a:t>Determine </a:t>
            </a:r>
            <a:r>
              <a:rPr sz="1100" dirty="0">
                <a:latin typeface="Arial"/>
                <a:cs typeface="Arial"/>
              </a:rPr>
              <a:t> s</a:t>
            </a:r>
            <a:r>
              <a:rPr sz="1100" spc="-10" dirty="0">
                <a:latin typeface="Arial"/>
                <a:cs typeface="Arial"/>
              </a:rPr>
              <a:t>t</a:t>
            </a:r>
            <a:r>
              <a:rPr sz="1100" spc="-5" dirty="0">
                <a:latin typeface="Arial"/>
                <a:cs typeface="Arial"/>
              </a:rPr>
              <a:t>r</a:t>
            </a:r>
            <a:r>
              <a:rPr sz="1100" dirty="0">
                <a:latin typeface="Arial"/>
                <a:cs typeface="Arial"/>
              </a:rPr>
              <a:t>andedness  </a:t>
            </a:r>
            <a:r>
              <a:rPr sz="1100" i="1" spc="-5" dirty="0">
                <a:latin typeface="Arial"/>
                <a:cs typeface="Arial"/>
              </a:rPr>
              <a:t>RSeQC</a:t>
            </a:r>
            <a:endParaRPr sz="1100">
              <a:latin typeface="Arial"/>
              <a:cs typeface="Arial"/>
            </a:endParaRPr>
          </a:p>
        </p:txBody>
      </p:sp>
      <p:sp>
        <p:nvSpPr>
          <p:cNvPr id="8" name="object 8"/>
          <p:cNvSpPr/>
          <p:nvPr/>
        </p:nvSpPr>
        <p:spPr>
          <a:xfrm>
            <a:off x="6408113" y="4371366"/>
            <a:ext cx="1210310" cy="1016635"/>
          </a:xfrm>
          <a:custGeom>
            <a:avLst/>
            <a:gdLst/>
            <a:ahLst/>
            <a:cxnLst/>
            <a:rect l="l" t="t" r="r" b="b"/>
            <a:pathLst>
              <a:path w="1210309" h="1016635">
                <a:moveTo>
                  <a:pt x="1206186" y="0"/>
                </a:moveTo>
                <a:lnTo>
                  <a:pt x="1191594" y="12245"/>
                </a:lnTo>
                <a:lnTo>
                  <a:pt x="1195675" y="17109"/>
                </a:lnTo>
                <a:lnTo>
                  <a:pt x="1210268" y="4864"/>
                </a:lnTo>
                <a:lnTo>
                  <a:pt x="1206186" y="0"/>
                </a:lnTo>
                <a:close/>
              </a:path>
              <a:path w="1210309" h="1016635">
                <a:moveTo>
                  <a:pt x="1186729" y="16327"/>
                </a:moveTo>
                <a:lnTo>
                  <a:pt x="1172136" y="28572"/>
                </a:lnTo>
                <a:lnTo>
                  <a:pt x="1176218" y="33436"/>
                </a:lnTo>
                <a:lnTo>
                  <a:pt x="1190811" y="21191"/>
                </a:lnTo>
                <a:lnTo>
                  <a:pt x="1186729" y="16327"/>
                </a:lnTo>
                <a:close/>
              </a:path>
              <a:path w="1210309" h="1016635">
                <a:moveTo>
                  <a:pt x="1167272" y="32654"/>
                </a:moveTo>
                <a:lnTo>
                  <a:pt x="1152678" y="44899"/>
                </a:lnTo>
                <a:lnTo>
                  <a:pt x="1156760" y="49763"/>
                </a:lnTo>
                <a:lnTo>
                  <a:pt x="1171354" y="37518"/>
                </a:lnTo>
                <a:lnTo>
                  <a:pt x="1167272" y="32654"/>
                </a:lnTo>
                <a:close/>
              </a:path>
              <a:path w="1210309" h="1016635">
                <a:moveTo>
                  <a:pt x="1147814" y="48981"/>
                </a:moveTo>
                <a:lnTo>
                  <a:pt x="1133222" y="61226"/>
                </a:lnTo>
                <a:lnTo>
                  <a:pt x="1137304" y="66090"/>
                </a:lnTo>
                <a:lnTo>
                  <a:pt x="1151896" y="53845"/>
                </a:lnTo>
                <a:lnTo>
                  <a:pt x="1147814" y="48981"/>
                </a:lnTo>
                <a:close/>
              </a:path>
              <a:path w="1210309" h="1016635">
                <a:moveTo>
                  <a:pt x="1128356" y="65308"/>
                </a:moveTo>
                <a:lnTo>
                  <a:pt x="1113764" y="77553"/>
                </a:lnTo>
                <a:lnTo>
                  <a:pt x="1117846" y="82417"/>
                </a:lnTo>
                <a:lnTo>
                  <a:pt x="1132438" y="70172"/>
                </a:lnTo>
                <a:lnTo>
                  <a:pt x="1128356" y="65308"/>
                </a:lnTo>
                <a:close/>
              </a:path>
              <a:path w="1210309" h="1016635">
                <a:moveTo>
                  <a:pt x="1108900" y="81635"/>
                </a:moveTo>
                <a:lnTo>
                  <a:pt x="1094306" y="93880"/>
                </a:lnTo>
                <a:lnTo>
                  <a:pt x="1098388" y="98745"/>
                </a:lnTo>
                <a:lnTo>
                  <a:pt x="1112982" y="86499"/>
                </a:lnTo>
                <a:lnTo>
                  <a:pt x="1108900" y="81635"/>
                </a:lnTo>
                <a:close/>
              </a:path>
              <a:path w="1210309" h="1016635">
                <a:moveTo>
                  <a:pt x="1089442" y="97962"/>
                </a:moveTo>
                <a:lnTo>
                  <a:pt x="1074849" y="110206"/>
                </a:lnTo>
                <a:lnTo>
                  <a:pt x="1078931" y="115072"/>
                </a:lnTo>
                <a:lnTo>
                  <a:pt x="1093524" y="102826"/>
                </a:lnTo>
                <a:lnTo>
                  <a:pt x="1089442" y="97962"/>
                </a:lnTo>
                <a:close/>
              </a:path>
              <a:path w="1210309" h="1016635">
                <a:moveTo>
                  <a:pt x="1069985" y="114288"/>
                </a:moveTo>
                <a:lnTo>
                  <a:pt x="1055392" y="126533"/>
                </a:lnTo>
                <a:lnTo>
                  <a:pt x="1059474" y="131399"/>
                </a:lnTo>
                <a:lnTo>
                  <a:pt x="1074066" y="119153"/>
                </a:lnTo>
                <a:lnTo>
                  <a:pt x="1069985" y="114288"/>
                </a:lnTo>
                <a:close/>
              </a:path>
              <a:path w="1210309" h="1016635">
                <a:moveTo>
                  <a:pt x="1050527" y="130615"/>
                </a:moveTo>
                <a:lnTo>
                  <a:pt x="1035935" y="142861"/>
                </a:lnTo>
                <a:lnTo>
                  <a:pt x="1040016" y="147726"/>
                </a:lnTo>
                <a:lnTo>
                  <a:pt x="1054609" y="135481"/>
                </a:lnTo>
                <a:lnTo>
                  <a:pt x="1050527" y="130615"/>
                </a:lnTo>
                <a:close/>
              </a:path>
              <a:path w="1210309" h="1016635">
                <a:moveTo>
                  <a:pt x="1031071" y="146942"/>
                </a:moveTo>
                <a:lnTo>
                  <a:pt x="1016477" y="159188"/>
                </a:lnTo>
                <a:lnTo>
                  <a:pt x="1020559" y="164052"/>
                </a:lnTo>
                <a:lnTo>
                  <a:pt x="1035152" y="151806"/>
                </a:lnTo>
                <a:lnTo>
                  <a:pt x="1031071" y="146942"/>
                </a:lnTo>
                <a:close/>
              </a:path>
              <a:path w="1210309" h="1016635">
                <a:moveTo>
                  <a:pt x="1011613" y="163269"/>
                </a:moveTo>
                <a:lnTo>
                  <a:pt x="997019" y="175515"/>
                </a:lnTo>
                <a:lnTo>
                  <a:pt x="1001101" y="180379"/>
                </a:lnTo>
                <a:lnTo>
                  <a:pt x="1015695" y="168134"/>
                </a:lnTo>
                <a:lnTo>
                  <a:pt x="1011613" y="163269"/>
                </a:lnTo>
                <a:close/>
              </a:path>
              <a:path w="1210309" h="1016635">
                <a:moveTo>
                  <a:pt x="992155" y="179597"/>
                </a:moveTo>
                <a:lnTo>
                  <a:pt x="977563" y="191842"/>
                </a:lnTo>
                <a:lnTo>
                  <a:pt x="981645" y="196706"/>
                </a:lnTo>
                <a:lnTo>
                  <a:pt x="996237" y="184461"/>
                </a:lnTo>
                <a:lnTo>
                  <a:pt x="992155" y="179597"/>
                </a:lnTo>
                <a:close/>
              </a:path>
              <a:path w="1210309" h="1016635">
                <a:moveTo>
                  <a:pt x="972699" y="195924"/>
                </a:moveTo>
                <a:lnTo>
                  <a:pt x="958105" y="208169"/>
                </a:lnTo>
                <a:lnTo>
                  <a:pt x="962187" y="213033"/>
                </a:lnTo>
                <a:lnTo>
                  <a:pt x="976779" y="200788"/>
                </a:lnTo>
                <a:lnTo>
                  <a:pt x="972699" y="195924"/>
                </a:lnTo>
                <a:close/>
              </a:path>
              <a:path w="1210309" h="1016635">
                <a:moveTo>
                  <a:pt x="953241" y="212251"/>
                </a:moveTo>
                <a:lnTo>
                  <a:pt x="938648" y="224496"/>
                </a:lnTo>
                <a:lnTo>
                  <a:pt x="942729" y="229360"/>
                </a:lnTo>
                <a:lnTo>
                  <a:pt x="957323" y="217115"/>
                </a:lnTo>
                <a:lnTo>
                  <a:pt x="953241" y="212251"/>
                </a:lnTo>
                <a:close/>
              </a:path>
              <a:path w="1210309" h="1016635">
                <a:moveTo>
                  <a:pt x="933784" y="228578"/>
                </a:moveTo>
                <a:lnTo>
                  <a:pt x="919190" y="240823"/>
                </a:lnTo>
                <a:lnTo>
                  <a:pt x="923272" y="245687"/>
                </a:lnTo>
                <a:lnTo>
                  <a:pt x="937865" y="233442"/>
                </a:lnTo>
                <a:lnTo>
                  <a:pt x="933784" y="228578"/>
                </a:lnTo>
                <a:close/>
              </a:path>
              <a:path w="1210309" h="1016635">
                <a:moveTo>
                  <a:pt x="914326" y="244905"/>
                </a:moveTo>
                <a:lnTo>
                  <a:pt x="899734" y="257150"/>
                </a:lnTo>
                <a:lnTo>
                  <a:pt x="903815" y="262014"/>
                </a:lnTo>
                <a:lnTo>
                  <a:pt x="918408" y="249769"/>
                </a:lnTo>
                <a:lnTo>
                  <a:pt x="914326" y="244905"/>
                </a:lnTo>
                <a:close/>
              </a:path>
              <a:path w="1210309" h="1016635">
                <a:moveTo>
                  <a:pt x="894869" y="261232"/>
                </a:moveTo>
                <a:lnTo>
                  <a:pt x="880276" y="273477"/>
                </a:lnTo>
                <a:lnTo>
                  <a:pt x="884358" y="278342"/>
                </a:lnTo>
                <a:lnTo>
                  <a:pt x="898951" y="266096"/>
                </a:lnTo>
                <a:lnTo>
                  <a:pt x="894869" y="261232"/>
                </a:lnTo>
                <a:close/>
              </a:path>
              <a:path w="1210309" h="1016635">
                <a:moveTo>
                  <a:pt x="875412" y="277559"/>
                </a:moveTo>
                <a:lnTo>
                  <a:pt x="860818" y="289805"/>
                </a:lnTo>
                <a:lnTo>
                  <a:pt x="864900" y="294669"/>
                </a:lnTo>
                <a:lnTo>
                  <a:pt x="879494" y="282423"/>
                </a:lnTo>
                <a:lnTo>
                  <a:pt x="875412" y="277559"/>
                </a:lnTo>
                <a:close/>
              </a:path>
              <a:path w="1210309" h="1016635">
                <a:moveTo>
                  <a:pt x="855954" y="293886"/>
                </a:moveTo>
                <a:lnTo>
                  <a:pt x="841362" y="306132"/>
                </a:lnTo>
                <a:lnTo>
                  <a:pt x="845442" y="310996"/>
                </a:lnTo>
                <a:lnTo>
                  <a:pt x="860036" y="298750"/>
                </a:lnTo>
                <a:lnTo>
                  <a:pt x="855954" y="293886"/>
                </a:lnTo>
                <a:close/>
              </a:path>
              <a:path w="1210309" h="1016635">
                <a:moveTo>
                  <a:pt x="836496" y="310214"/>
                </a:moveTo>
                <a:lnTo>
                  <a:pt x="821904" y="322458"/>
                </a:lnTo>
                <a:lnTo>
                  <a:pt x="825986" y="327323"/>
                </a:lnTo>
                <a:lnTo>
                  <a:pt x="840578" y="315078"/>
                </a:lnTo>
                <a:lnTo>
                  <a:pt x="836496" y="310214"/>
                </a:lnTo>
                <a:close/>
              </a:path>
              <a:path w="1210309" h="1016635">
                <a:moveTo>
                  <a:pt x="817040" y="326539"/>
                </a:moveTo>
                <a:lnTo>
                  <a:pt x="802446" y="338785"/>
                </a:lnTo>
                <a:lnTo>
                  <a:pt x="806528" y="343650"/>
                </a:lnTo>
                <a:lnTo>
                  <a:pt x="821122" y="331405"/>
                </a:lnTo>
                <a:lnTo>
                  <a:pt x="817040" y="326539"/>
                </a:lnTo>
                <a:close/>
              </a:path>
              <a:path w="1210309" h="1016635">
                <a:moveTo>
                  <a:pt x="797582" y="342866"/>
                </a:moveTo>
                <a:lnTo>
                  <a:pt x="782989" y="355112"/>
                </a:lnTo>
                <a:lnTo>
                  <a:pt x="787071" y="359976"/>
                </a:lnTo>
                <a:lnTo>
                  <a:pt x="801664" y="347732"/>
                </a:lnTo>
                <a:lnTo>
                  <a:pt x="797582" y="342866"/>
                </a:lnTo>
                <a:close/>
              </a:path>
              <a:path w="1210309" h="1016635">
                <a:moveTo>
                  <a:pt x="778125" y="359194"/>
                </a:moveTo>
                <a:lnTo>
                  <a:pt x="763532" y="371439"/>
                </a:lnTo>
                <a:lnTo>
                  <a:pt x="767614" y="376303"/>
                </a:lnTo>
                <a:lnTo>
                  <a:pt x="782206" y="364058"/>
                </a:lnTo>
                <a:lnTo>
                  <a:pt x="778125" y="359194"/>
                </a:lnTo>
                <a:close/>
              </a:path>
              <a:path w="1210309" h="1016635">
                <a:moveTo>
                  <a:pt x="758667" y="375521"/>
                </a:moveTo>
                <a:lnTo>
                  <a:pt x="744075" y="387766"/>
                </a:lnTo>
                <a:lnTo>
                  <a:pt x="748157" y="392630"/>
                </a:lnTo>
                <a:lnTo>
                  <a:pt x="762749" y="380385"/>
                </a:lnTo>
                <a:lnTo>
                  <a:pt x="758667" y="375521"/>
                </a:lnTo>
                <a:close/>
              </a:path>
              <a:path w="1210309" h="1016635">
                <a:moveTo>
                  <a:pt x="739211" y="391848"/>
                </a:moveTo>
                <a:lnTo>
                  <a:pt x="724617" y="404093"/>
                </a:lnTo>
                <a:lnTo>
                  <a:pt x="728699" y="408957"/>
                </a:lnTo>
                <a:lnTo>
                  <a:pt x="743292" y="396712"/>
                </a:lnTo>
                <a:lnTo>
                  <a:pt x="739211" y="391848"/>
                </a:lnTo>
                <a:close/>
              </a:path>
              <a:path w="1210309" h="1016635">
                <a:moveTo>
                  <a:pt x="719753" y="408175"/>
                </a:moveTo>
                <a:lnTo>
                  <a:pt x="705159" y="420420"/>
                </a:lnTo>
                <a:lnTo>
                  <a:pt x="709241" y="425284"/>
                </a:lnTo>
                <a:lnTo>
                  <a:pt x="723835" y="413039"/>
                </a:lnTo>
                <a:lnTo>
                  <a:pt x="719753" y="408175"/>
                </a:lnTo>
                <a:close/>
              </a:path>
              <a:path w="1210309" h="1016635">
                <a:moveTo>
                  <a:pt x="700295" y="424502"/>
                </a:moveTo>
                <a:lnTo>
                  <a:pt x="685703" y="436747"/>
                </a:lnTo>
                <a:lnTo>
                  <a:pt x="689785" y="441612"/>
                </a:lnTo>
                <a:lnTo>
                  <a:pt x="704377" y="429366"/>
                </a:lnTo>
                <a:lnTo>
                  <a:pt x="700295" y="424502"/>
                </a:lnTo>
                <a:close/>
              </a:path>
              <a:path w="1210309" h="1016635">
                <a:moveTo>
                  <a:pt x="680838" y="440829"/>
                </a:moveTo>
                <a:lnTo>
                  <a:pt x="666245" y="453075"/>
                </a:lnTo>
                <a:lnTo>
                  <a:pt x="670327" y="457939"/>
                </a:lnTo>
                <a:lnTo>
                  <a:pt x="684919" y="445693"/>
                </a:lnTo>
                <a:lnTo>
                  <a:pt x="680838" y="440829"/>
                </a:lnTo>
                <a:close/>
              </a:path>
              <a:path w="1210309" h="1016635">
                <a:moveTo>
                  <a:pt x="661381" y="457156"/>
                </a:moveTo>
                <a:lnTo>
                  <a:pt x="646788" y="469402"/>
                </a:lnTo>
                <a:lnTo>
                  <a:pt x="650869" y="474266"/>
                </a:lnTo>
                <a:lnTo>
                  <a:pt x="665463" y="462020"/>
                </a:lnTo>
                <a:lnTo>
                  <a:pt x="661381" y="457156"/>
                </a:lnTo>
                <a:close/>
              </a:path>
              <a:path w="1210309" h="1016635">
                <a:moveTo>
                  <a:pt x="641924" y="473483"/>
                </a:moveTo>
                <a:lnTo>
                  <a:pt x="627330" y="485729"/>
                </a:lnTo>
                <a:lnTo>
                  <a:pt x="631412" y="490593"/>
                </a:lnTo>
                <a:lnTo>
                  <a:pt x="646005" y="478348"/>
                </a:lnTo>
                <a:lnTo>
                  <a:pt x="641924" y="473483"/>
                </a:lnTo>
                <a:close/>
              </a:path>
              <a:path w="1210309" h="1016635">
                <a:moveTo>
                  <a:pt x="622466" y="489811"/>
                </a:moveTo>
                <a:lnTo>
                  <a:pt x="607874" y="502056"/>
                </a:lnTo>
                <a:lnTo>
                  <a:pt x="611955" y="506920"/>
                </a:lnTo>
                <a:lnTo>
                  <a:pt x="626548" y="494675"/>
                </a:lnTo>
                <a:lnTo>
                  <a:pt x="622466" y="489811"/>
                </a:lnTo>
                <a:close/>
              </a:path>
              <a:path w="1210309" h="1016635">
                <a:moveTo>
                  <a:pt x="603009" y="506138"/>
                </a:moveTo>
                <a:lnTo>
                  <a:pt x="588416" y="518383"/>
                </a:lnTo>
                <a:lnTo>
                  <a:pt x="592498" y="523247"/>
                </a:lnTo>
                <a:lnTo>
                  <a:pt x="607090" y="511002"/>
                </a:lnTo>
                <a:lnTo>
                  <a:pt x="603009" y="506138"/>
                </a:lnTo>
                <a:close/>
              </a:path>
              <a:path w="1210309" h="1016635">
                <a:moveTo>
                  <a:pt x="583552" y="522465"/>
                </a:moveTo>
                <a:lnTo>
                  <a:pt x="568958" y="534710"/>
                </a:lnTo>
                <a:lnTo>
                  <a:pt x="573040" y="539574"/>
                </a:lnTo>
                <a:lnTo>
                  <a:pt x="587634" y="527329"/>
                </a:lnTo>
                <a:lnTo>
                  <a:pt x="583552" y="522465"/>
                </a:lnTo>
                <a:close/>
              </a:path>
              <a:path w="1210309" h="1016635">
                <a:moveTo>
                  <a:pt x="564094" y="538792"/>
                </a:moveTo>
                <a:lnTo>
                  <a:pt x="549502" y="551036"/>
                </a:lnTo>
                <a:lnTo>
                  <a:pt x="553582" y="555901"/>
                </a:lnTo>
                <a:lnTo>
                  <a:pt x="568176" y="543656"/>
                </a:lnTo>
                <a:lnTo>
                  <a:pt x="564094" y="538792"/>
                </a:lnTo>
                <a:close/>
              </a:path>
              <a:path w="1210309" h="1016635">
                <a:moveTo>
                  <a:pt x="544636" y="555118"/>
                </a:moveTo>
                <a:lnTo>
                  <a:pt x="530044" y="567363"/>
                </a:lnTo>
                <a:lnTo>
                  <a:pt x="534126" y="572228"/>
                </a:lnTo>
                <a:lnTo>
                  <a:pt x="548718" y="559983"/>
                </a:lnTo>
                <a:lnTo>
                  <a:pt x="544636" y="555118"/>
                </a:lnTo>
                <a:close/>
              </a:path>
              <a:path w="1210309" h="1016635">
                <a:moveTo>
                  <a:pt x="525180" y="571445"/>
                </a:moveTo>
                <a:lnTo>
                  <a:pt x="510586" y="583690"/>
                </a:lnTo>
                <a:lnTo>
                  <a:pt x="514668" y="588554"/>
                </a:lnTo>
                <a:lnTo>
                  <a:pt x="529262" y="576310"/>
                </a:lnTo>
                <a:lnTo>
                  <a:pt x="525180" y="571445"/>
                </a:lnTo>
                <a:close/>
              </a:path>
              <a:path w="1210309" h="1016635">
                <a:moveTo>
                  <a:pt x="505722" y="587772"/>
                </a:moveTo>
                <a:lnTo>
                  <a:pt x="491129" y="600017"/>
                </a:lnTo>
                <a:lnTo>
                  <a:pt x="495211" y="604881"/>
                </a:lnTo>
                <a:lnTo>
                  <a:pt x="509804" y="592636"/>
                </a:lnTo>
                <a:lnTo>
                  <a:pt x="505722" y="587772"/>
                </a:lnTo>
                <a:close/>
              </a:path>
              <a:path w="1210309" h="1016635">
                <a:moveTo>
                  <a:pt x="486265" y="604099"/>
                </a:moveTo>
                <a:lnTo>
                  <a:pt x="471672" y="616344"/>
                </a:lnTo>
                <a:lnTo>
                  <a:pt x="475754" y="621209"/>
                </a:lnTo>
                <a:lnTo>
                  <a:pt x="490346" y="608963"/>
                </a:lnTo>
                <a:lnTo>
                  <a:pt x="486265" y="604099"/>
                </a:lnTo>
                <a:close/>
              </a:path>
              <a:path w="1210309" h="1016635">
                <a:moveTo>
                  <a:pt x="466807" y="620426"/>
                </a:moveTo>
                <a:lnTo>
                  <a:pt x="452215" y="632672"/>
                </a:lnTo>
                <a:lnTo>
                  <a:pt x="456297" y="637536"/>
                </a:lnTo>
                <a:lnTo>
                  <a:pt x="470889" y="625290"/>
                </a:lnTo>
                <a:lnTo>
                  <a:pt x="466807" y="620426"/>
                </a:lnTo>
                <a:close/>
              </a:path>
              <a:path w="1210309" h="1016635">
                <a:moveTo>
                  <a:pt x="447351" y="636753"/>
                </a:moveTo>
                <a:lnTo>
                  <a:pt x="432757" y="648999"/>
                </a:lnTo>
                <a:lnTo>
                  <a:pt x="436839" y="653863"/>
                </a:lnTo>
                <a:lnTo>
                  <a:pt x="451432" y="641617"/>
                </a:lnTo>
                <a:lnTo>
                  <a:pt x="447351" y="636753"/>
                </a:lnTo>
                <a:close/>
              </a:path>
              <a:path w="1210309" h="1016635">
                <a:moveTo>
                  <a:pt x="427893" y="653080"/>
                </a:moveTo>
                <a:lnTo>
                  <a:pt x="413299" y="665326"/>
                </a:lnTo>
                <a:lnTo>
                  <a:pt x="417381" y="670190"/>
                </a:lnTo>
                <a:lnTo>
                  <a:pt x="431975" y="657945"/>
                </a:lnTo>
                <a:lnTo>
                  <a:pt x="427893" y="653080"/>
                </a:lnTo>
                <a:close/>
              </a:path>
              <a:path w="1210309" h="1016635">
                <a:moveTo>
                  <a:pt x="408435" y="669408"/>
                </a:moveTo>
                <a:lnTo>
                  <a:pt x="393843" y="681653"/>
                </a:lnTo>
                <a:lnTo>
                  <a:pt x="397925" y="686517"/>
                </a:lnTo>
                <a:lnTo>
                  <a:pt x="412517" y="674272"/>
                </a:lnTo>
                <a:lnTo>
                  <a:pt x="408435" y="669408"/>
                </a:lnTo>
                <a:close/>
              </a:path>
              <a:path w="1210309" h="1016635">
                <a:moveTo>
                  <a:pt x="388979" y="685735"/>
                </a:moveTo>
                <a:lnTo>
                  <a:pt x="374385" y="697980"/>
                </a:lnTo>
                <a:lnTo>
                  <a:pt x="378467" y="702844"/>
                </a:lnTo>
                <a:lnTo>
                  <a:pt x="393061" y="690599"/>
                </a:lnTo>
                <a:lnTo>
                  <a:pt x="388979" y="685735"/>
                </a:lnTo>
                <a:close/>
              </a:path>
              <a:path w="1210309" h="1016635">
                <a:moveTo>
                  <a:pt x="369521" y="702062"/>
                </a:moveTo>
                <a:lnTo>
                  <a:pt x="354928" y="714306"/>
                </a:lnTo>
                <a:lnTo>
                  <a:pt x="359009" y="719171"/>
                </a:lnTo>
                <a:lnTo>
                  <a:pt x="373603" y="706926"/>
                </a:lnTo>
                <a:lnTo>
                  <a:pt x="369521" y="702062"/>
                </a:lnTo>
                <a:close/>
              </a:path>
              <a:path w="1210309" h="1016635">
                <a:moveTo>
                  <a:pt x="350064" y="718388"/>
                </a:moveTo>
                <a:lnTo>
                  <a:pt x="335471" y="730633"/>
                </a:lnTo>
                <a:lnTo>
                  <a:pt x="339553" y="735498"/>
                </a:lnTo>
                <a:lnTo>
                  <a:pt x="354145" y="723253"/>
                </a:lnTo>
                <a:lnTo>
                  <a:pt x="350064" y="718388"/>
                </a:lnTo>
                <a:close/>
              </a:path>
              <a:path w="1210309" h="1016635">
                <a:moveTo>
                  <a:pt x="330606" y="734715"/>
                </a:moveTo>
                <a:lnTo>
                  <a:pt x="316014" y="746960"/>
                </a:lnTo>
                <a:lnTo>
                  <a:pt x="320095" y="751826"/>
                </a:lnTo>
                <a:lnTo>
                  <a:pt x="334688" y="739580"/>
                </a:lnTo>
                <a:lnTo>
                  <a:pt x="330606" y="734715"/>
                </a:lnTo>
                <a:close/>
              </a:path>
              <a:path w="1210309" h="1016635">
                <a:moveTo>
                  <a:pt x="311150" y="751042"/>
                </a:moveTo>
                <a:lnTo>
                  <a:pt x="296556" y="763287"/>
                </a:lnTo>
                <a:lnTo>
                  <a:pt x="300638" y="768153"/>
                </a:lnTo>
                <a:lnTo>
                  <a:pt x="315231" y="755907"/>
                </a:lnTo>
                <a:lnTo>
                  <a:pt x="311150" y="751042"/>
                </a:lnTo>
                <a:close/>
              </a:path>
              <a:path w="1210309" h="1016635">
                <a:moveTo>
                  <a:pt x="291692" y="767369"/>
                </a:moveTo>
                <a:lnTo>
                  <a:pt x="277098" y="779614"/>
                </a:lnTo>
                <a:lnTo>
                  <a:pt x="281180" y="784479"/>
                </a:lnTo>
                <a:lnTo>
                  <a:pt x="295774" y="772233"/>
                </a:lnTo>
                <a:lnTo>
                  <a:pt x="291692" y="767369"/>
                </a:lnTo>
                <a:close/>
              </a:path>
              <a:path w="1210309" h="1016635">
                <a:moveTo>
                  <a:pt x="272234" y="783696"/>
                </a:moveTo>
                <a:lnTo>
                  <a:pt x="257642" y="795942"/>
                </a:lnTo>
                <a:lnTo>
                  <a:pt x="261722" y="800806"/>
                </a:lnTo>
                <a:lnTo>
                  <a:pt x="276316" y="788560"/>
                </a:lnTo>
                <a:lnTo>
                  <a:pt x="272234" y="783696"/>
                </a:lnTo>
                <a:close/>
              </a:path>
              <a:path w="1210309" h="1016635">
                <a:moveTo>
                  <a:pt x="252776" y="800023"/>
                </a:moveTo>
                <a:lnTo>
                  <a:pt x="238184" y="812269"/>
                </a:lnTo>
                <a:lnTo>
                  <a:pt x="242266" y="817133"/>
                </a:lnTo>
                <a:lnTo>
                  <a:pt x="256858" y="804887"/>
                </a:lnTo>
                <a:lnTo>
                  <a:pt x="252776" y="800023"/>
                </a:lnTo>
                <a:close/>
              </a:path>
              <a:path w="1210309" h="1016635">
                <a:moveTo>
                  <a:pt x="233320" y="816350"/>
                </a:moveTo>
                <a:lnTo>
                  <a:pt x="218727" y="828596"/>
                </a:lnTo>
                <a:lnTo>
                  <a:pt x="222808" y="833460"/>
                </a:lnTo>
                <a:lnTo>
                  <a:pt x="237402" y="821215"/>
                </a:lnTo>
                <a:lnTo>
                  <a:pt x="233320" y="816350"/>
                </a:lnTo>
                <a:close/>
              </a:path>
              <a:path w="1210309" h="1016635">
                <a:moveTo>
                  <a:pt x="213862" y="832678"/>
                </a:moveTo>
                <a:lnTo>
                  <a:pt x="199269" y="844923"/>
                </a:lnTo>
                <a:lnTo>
                  <a:pt x="203351" y="849787"/>
                </a:lnTo>
                <a:lnTo>
                  <a:pt x="217944" y="837542"/>
                </a:lnTo>
                <a:lnTo>
                  <a:pt x="213862" y="832678"/>
                </a:lnTo>
                <a:close/>
              </a:path>
              <a:path w="1210309" h="1016635">
                <a:moveTo>
                  <a:pt x="194405" y="849005"/>
                </a:moveTo>
                <a:lnTo>
                  <a:pt x="179811" y="861250"/>
                </a:lnTo>
                <a:lnTo>
                  <a:pt x="183893" y="866114"/>
                </a:lnTo>
                <a:lnTo>
                  <a:pt x="198487" y="853869"/>
                </a:lnTo>
                <a:lnTo>
                  <a:pt x="194405" y="849005"/>
                </a:lnTo>
                <a:close/>
              </a:path>
              <a:path w="1210309" h="1016635">
                <a:moveTo>
                  <a:pt x="174947" y="865332"/>
                </a:moveTo>
                <a:lnTo>
                  <a:pt x="160355" y="877577"/>
                </a:lnTo>
                <a:lnTo>
                  <a:pt x="164437" y="882441"/>
                </a:lnTo>
                <a:lnTo>
                  <a:pt x="179029" y="870196"/>
                </a:lnTo>
                <a:lnTo>
                  <a:pt x="174947" y="865332"/>
                </a:lnTo>
                <a:close/>
              </a:path>
              <a:path w="1210309" h="1016635">
                <a:moveTo>
                  <a:pt x="155489" y="881659"/>
                </a:moveTo>
                <a:lnTo>
                  <a:pt x="140897" y="893904"/>
                </a:lnTo>
                <a:lnTo>
                  <a:pt x="144979" y="898768"/>
                </a:lnTo>
                <a:lnTo>
                  <a:pt x="159571" y="886523"/>
                </a:lnTo>
                <a:lnTo>
                  <a:pt x="155489" y="881659"/>
                </a:lnTo>
                <a:close/>
              </a:path>
              <a:path w="1210309" h="1016635">
                <a:moveTo>
                  <a:pt x="136033" y="897986"/>
                </a:moveTo>
                <a:lnTo>
                  <a:pt x="121439" y="910231"/>
                </a:lnTo>
                <a:lnTo>
                  <a:pt x="125521" y="915095"/>
                </a:lnTo>
                <a:lnTo>
                  <a:pt x="140115" y="902850"/>
                </a:lnTo>
                <a:lnTo>
                  <a:pt x="136033" y="897986"/>
                </a:lnTo>
                <a:close/>
              </a:path>
              <a:path w="1210309" h="1016635">
                <a:moveTo>
                  <a:pt x="116575" y="914313"/>
                </a:moveTo>
                <a:lnTo>
                  <a:pt x="101982" y="926558"/>
                </a:lnTo>
                <a:lnTo>
                  <a:pt x="106064" y="931423"/>
                </a:lnTo>
                <a:lnTo>
                  <a:pt x="120657" y="919177"/>
                </a:lnTo>
                <a:lnTo>
                  <a:pt x="116575" y="914313"/>
                </a:lnTo>
                <a:close/>
              </a:path>
              <a:path w="1210309" h="1016635">
                <a:moveTo>
                  <a:pt x="33881" y="938112"/>
                </a:moveTo>
                <a:lnTo>
                  <a:pt x="0" y="1016279"/>
                </a:lnTo>
                <a:lnTo>
                  <a:pt x="82862" y="996483"/>
                </a:lnTo>
                <a:lnTo>
                  <a:pt x="67262" y="977893"/>
                </a:lnTo>
                <a:lnTo>
                  <a:pt x="50684" y="977893"/>
                </a:lnTo>
                <a:lnTo>
                  <a:pt x="46602" y="973029"/>
                </a:lnTo>
                <a:lnTo>
                  <a:pt x="56331" y="964866"/>
                </a:lnTo>
                <a:lnTo>
                  <a:pt x="33881" y="938112"/>
                </a:lnTo>
                <a:close/>
              </a:path>
              <a:path w="1210309" h="1016635">
                <a:moveTo>
                  <a:pt x="56331" y="964866"/>
                </a:moveTo>
                <a:lnTo>
                  <a:pt x="46602" y="973029"/>
                </a:lnTo>
                <a:lnTo>
                  <a:pt x="50684" y="977893"/>
                </a:lnTo>
                <a:lnTo>
                  <a:pt x="60412" y="969730"/>
                </a:lnTo>
                <a:lnTo>
                  <a:pt x="56331" y="964866"/>
                </a:lnTo>
                <a:close/>
              </a:path>
              <a:path w="1210309" h="1016635">
                <a:moveTo>
                  <a:pt x="60412" y="969730"/>
                </a:moveTo>
                <a:lnTo>
                  <a:pt x="50684" y="977893"/>
                </a:lnTo>
                <a:lnTo>
                  <a:pt x="67262" y="977893"/>
                </a:lnTo>
                <a:lnTo>
                  <a:pt x="60412" y="969730"/>
                </a:lnTo>
                <a:close/>
              </a:path>
              <a:path w="1210309" h="1016635">
                <a:moveTo>
                  <a:pt x="58204" y="963295"/>
                </a:moveTo>
                <a:lnTo>
                  <a:pt x="56331" y="964866"/>
                </a:lnTo>
                <a:lnTo>
                  <a:pt x="60412" y="969730"/>
                </a:lnTo>
                <a:lnTo>
                  <a:pt x="62285" y="968159"/>
                </a:lnTo>
                <a:lnTo>
                  <a:pt x="58204" y="963295"/>
                </a:lnTo>
                <a:close/>
              </a:path>
              <a:path w="1210309" h="1016635">
                <a:moveTo>
                  <a:pt x="77660" y="946967"/>
                </a:moveTo>
                <a:lnTo>
                  <a:pt x="63068" y="959213"/>
                </a:lnTo>
                <a:lnTo>
                  <a:pt x="67149" y="964077"/>
                </a:lnTo>
                <a:lnTo>
                  <a:pt x="81742" y="951831"/>
                </a:lnTo>
                <a:lnTo>
                  <a:pt x="77660" y="946967"/>
                </a:lnTo>
                <a:close/>
              </a:path>
              <a:path w="1210309" h="1016635">
                <a:moveTo>
                  <a:pt x="97118" y="930640"/>
                </a:moveTo>
                <a:lnTo>
                  <a:pt x="82525" y="942886"/>
                </a:lnTo>
                <a:lnTo>
                  <a:pt x="86607" y="947750"/>
                </a:lnTo>
                <a:lnTo>
                  <a:pt x="101199" y="935504"/>
                </a:lnTo>
                <a:lnTo>
                  <a:pt x="97118" y="930640"/>
                </a:lnTo>
                <a:close/>
              </a:path>
            </a:pathLst>
          </a:custGeom>
          <a:solidFill>
            <a:srgbClr val="000000"/>
          </a:solidFill>
        </p:spPr>
        <p:txBody>
          <a:bodyPr wrap="square" lIns="0" tIns="0" rIns="0" bIns="0" rtlCol="0"/>
          <a:lstStyle/>
          <a:p>
            <a:endParaRPr/>
          </a:p>
        </p:txBody>
      </p:sp>
      <p:sp>
        <p:nvSpPr>
          <p:cNvPr id="9" name="TextBox 8">
            <a:extLst>
              <a:ext uri="{FF2B5EF4-FFF2-40B4-BE49-F238E27FC236}">
                <a16:creationId xmlns:a16="http://schemas.microsoft.com/office/drawing/2014/main" id="{1F1513A3-2C88-384C-B055-666A02531405}"/>
              </a:ext>
            </a:extLst>
          </p:cNvPr>
          <p:cNvSpPr txBox="1"/>
          <p:nvPr/>
        </p:nvSpPr>
        <p:spPr>
          <a:xfrm>
            <a:off x="3991103" y="4002034"/>
            <a:ext cx="1161793" cy="369332"/>
          </a:xfrm>
          <a:prstGeom prst="rect">
            <a:avLst/>
          </a:prstGeom>
          <a:noFill/>
        </p:spPr>
        <p:txBody>
          <a:bodyPr wrap="none" rtlCol="0">
            <a:spAutoFit/>
          </a:bodyPr>
          <a:lstStyle/>
          <a:p>
            <a:r>
              <a:rPr lang="en-US" dirty="0"/>
              <a:t>SAM/BAM</a:t>
            </a:r>
          </a:p>
        </p:txBody>
      </p:sp>
      <p:sp>
        <p:nvSpPr>
          <p:cNvPr id="10" name="TextBox 9">
            <a:extLst>
              <a:ext uri="{FF2B5EF4-FFF2-40B4-BE49-F238E27FC236}">
                <a16:creationId xmlns:a16="http://schemas.microsoft.com/office/drawing/2014/main" id="{E43739FE-3B96-7A42-9965-7032A4268AA2}"/>
              </a:ext>
            </a:extLst>
          </p:cNvPr>
          <p:cNvSpPr txBox="1"/>
          <p:nvPr/>
        </p:nvSpPr>
        <p:spPr>
          <a:xfrm>
            <a:off x="4211580" y="5379451"/>
            <a:ext cx="720838" cy="369332"/>
          </a:xfrm>
          <a:prstGeom prst="rect">
            <a:avLst/>
          </a:prstGeom>
          <a:noFill/>
        </p:spPr>
        <p:txBody>
          <a:bodyPr wrap="none" rtlCol="0">
            <a:spAutoFit/>
          </a:bodyPr>
          <a:lstStyle/>
          <a:p>
            <a:r>
              <a:rPr lang="en-US" dirty="0"/>
              <a:t>count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8461" y="187286"/>
            <a:ext cx="4406900" cy="695960"/>
          </a:xfrm>
          <a:prstGeom prst="rect">
            <a:avLst/>
          </a:prstGeom>
        </p:spPr>
        <p:txBody>
          <a:bodyPr vert="horz" wrap="square" lIns="0" tIns="12700" rIns="0" bIns="0" rtlCol="0">
            <a:spAutoFit/>
          </a:bodyPr>
          <a:lstStyle/>
          <a:p>
            <a:pPr marL="12700">
              <a:lnSpc>
                <a:spcPct val="100000"/>
              </a:lnSpc>
              <a:spcBef>
                <a:spcPts val="100"/>
              </a:spcBef>
            </a:pPr>
            <a:r>
              <a:rPr spc="-5" dirty="0"/>
              <a:t>Stranded</a:t>
            </a:r>
            <a:r>
              <a:rPr spc="-40" dirty="0"/>
              <a:t> </a:t>
            </a:r>
            <a:r>
              <a:rPr spc="-5" dirty="0"/>
              <a:t>libraries</a:t>
            </a:r>
          </a:p>
        </p:txBody>
      </p:sp>
      <p:graphicFrame>
        <p:nvGraphicFramePr>
          <p:cNvPr id="5" name="object 3">
            <a:extLst>
              <a:ext uri="{FF2B5EF4-FFF2-40B4-BE49-F238E27FC236}">
                <a16:creationId xmlns:a16="http://schemas.microsoft.com/office/drawing/2014/main" id="{250A13C3-0D29-7A66-0410-2004C2E3C35B}"/>
              </a:ext>
            </a:extLst>
          </p:cNvPr>
          <p:cNvGraphicFramePr/>
          <p:nvPr>
            <p:extLst>
              <p:ext uri="{D42A27DB-BD31-4B8C-83A1-F6EECF244321}">
                <p14:modId xmlns:p14="http://schemas.microsoft.com/office/powerpoint/2010/main" val="3473385954"/>
              </p:ext>
            </p:extLst>
          </p:nvPr>
        </p:nvGraphicFramePr>
        <p:xfrm>
          <a:off x="695215" y="835225"/>
          <a:ext cx="7687309" cy="4250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Antisense RNA transcribed from the sense strand of the DNA binds to the...  | Download Scientific Diagram">
            <a:extLst>
              <a:ext uri="{FF2B5EF4-FFF2-40B4-BE49-F238E27FC236}">
                <a16:creationId xmlns:a16="http://schemas.microsoft.com/office/drawing/2014/main" id="{2E149B16-19C8-F318-E331-70C8FC3830B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38106"/>
          <a:stretch/>
        </p:blipFill>
        <p:spPr bwMode="auto">
          <a:xfrm>
            <a:off x="2438400" y="4905017"/>
            <a:ext cx="4490250" cy="17524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A4E290-6FB0-450C-FB1F-491302FA9E06}"/>
              </a:ext>
            </a:extLst>
          </p:cNvPr>
          <p:cNvSpPr>
            <a:spLocks noGrp="1"/>
          </p:cNvSpPr>
          <p:nvPr>
            <p:ph type="title"/>
          </p:nvPr>
        </p:nvSpPr>
        <p:spPr>
          <a:xfrm>
            <a:off x="1077912" y="336803"/>
            <a:ext cx="6988175" cy="1354217"/>
          </a:xfrm>
        </p:spPr>
        <p:txBody>
          <a:bodyPr/>
          <a:lstStyle/>
          <a:p>
            <a:pPr algn="ctr"/>
            <a:r>
              <a:rPr lang="en-US" sz="4400" spc="-5" dirty="0"/>
              <a:t>Why</a:t>
            </a:r>
            <a:r>
              <a:rPr lang="en-US" sz="4400" spc="-10" dirty="0"/>
              <a:t> </a:t>
            </a:r>
            <a:r>
              <a:rPr lang="en-US" sz="4400" spc="-5" dirty="0"/>
              <a:t>is </a:t>
            </a:r>
            <a:r>
              <a:rPr lang="en-US" sz="4400" spc="-5" dirty="0" err="1"/>
              <a:t>strandedness</a:t>
            </a:r>
            <a:r>
              <a:rPr lang="en-US" sz="4400" spc="-5" dirty="0"/>
              <a:t> important</a:t>
            </a:r>
            <a:r>
              <a:rPr lang="en-US" sz="4400" dirty="0"/>
              <a:t> to </a:t>
            </a:r>
            <a:r>
              <a:rPr lang="en-US" sz="4400" spc="-5" dirty="0"/>
              <a:t>determine?</a:t>
            </a:r>
            <a:endParaRPr lang="en-US" dirty="0"/>
          </a:p>
        </p:txBody>
      </p:sp>
      <p:sp>
        <p:nvSpPr>
          <p:cNvPr id="5" name="Text Placeholder 4">
            <a:extLst>
              <a:ext uri="{FF2B5EF4-FFF2-40B4-BE49-F238E27FC236}">
                <a16:creationId xmlns:a16="http://schemas.microsoft.com/office/drawing/2014/main" id="{B90521F3-8725-4B8D-FA8A-857EF758A548}"/>
              </a:ext>
            </a:extLst>
          </p:cNvPr>
          <p:cNvSpPr>
            <a:spLocks noGrp="1"/>
          </p:cNvSpPr>
          <p:nvPr>
            <p:ph type="body" idx="1"/>
          </p:nvPr>
        </p:nvSpPr>
        <p:spPr>
          <a:xfrm>
            <a:off x="679194" y="2219452"/>
            <a:ext cx="7606030" cy="4062651"/>
          </a:xfrm>
        </p:spPr>
        <p:txBody>
          <a:bodyPr/>
          <a:lstStyle/>
          <a:p>
            <a:pPr marL="342900" indent="-342900">
              <a:buFont typeface="Arial" panose="020B0604020202020204" pitchFamily="34" charset="0"/>
              <a:buChar char="•"/>
            </a:pPr>
            <a:r>
              <a:rPr lang="en-US" sz="2400" dirty="0"/>
              <a:t>If you use an incorrect directionality parameter during the alignment or read counting step, the reads may orient to the </a:t>
            </a:r>
            <a:r>
              <a:rPr lang="en-US" sz="2400" i="1" dirty="0">
                <a:solidFill>
                  <a:srgbClr val="FF0000"/>
                </a:solidFill>
              </a:rPr>
              <a:t>wrong strand</a:t>
            </a:r>
            <a:r>
              <a:rPr lang="en-US" sz="2400" dirty="0"/>
              <a:t>.</a:t>
            </a:r>
          </a:p>
          <a:p>
            <a:endParaRPr lang="en-US" sz="2400" dirty="0"/>
          </a:p>
          <a:p>
            <a:pPr marL="342900" indent="-342900">
              <a:buFont typeface="Arial" panose="020B0604020202020204" pitchFamily="34" charset="0"/>
              <a:buChar char="•"/>
            </a:pPr>
            <a:r>
              <a:rPr lang="en-US" sz="2400" dirty="0"/>
              <a:t>This means you may not get any read counts (all equal to 0) or if there is a gene in the same location these reads can be counted for the </a:t>
            </a:r>
            <a:r>
              <a:rPr lang="en-US" sz="2400" dirty="0">
                <a:solidFill>
                  <a:srgbClr val="FF0000"/>
                </a:solidFill>
              </a:rPr>
              <a:t>wrong gene</a:t>
            </a:r>
            <a:r>
              <a:rPr lang="en-US" sz="2400" dirty="0"/>
              <a:t>.</a:t>
            </a:r>
          </a:p>
          <a:p>
            <a:endParaRPr lang="en-US" sz="2400" dirty="0"/>
          </a:p>
          <a:p>
            <a:pPr marL="342900" indent="-342900">
              <a:buFont typeface="Arial" panose="020B0604020202020204" pitchFamily="34" charset="0"/>
              <a:buChar char="•"/>
            </a:pPr>
            <a:r>
              <a:rPr lang="en-US" sz="2400" dirty="0"/>
              <a:t>Its important to check using QC tools!</a:t>
            </a:r>
          </a:p>
          <a:p>
            <a:endParaRPr lang="en-US" sz="2400" dirty="0"/>
          </a:p>
          <a:p>
            <a:endParaRPr lang="en-US" sz="2400" dirty="0"/>
          </a:p>
        </p:txBody>
      </p:sp>
    </p:spTree>
    <p:extLst>
      <p:ext uri="{BB962C8B-B14F-4D97-AF65-F5344CB8AC3E}">
        <p14:creationId xmlns:p14="http://schemas.microsoft.com/office/powerpoint/2010/main" val="343761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1AA8788-C826-6942-A73B-EAA9D14E76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97350E4-2DF3-5C04-C41D-1149AE8CC6A0}"/>
              </a:ext>
            </a:extLst>
          </p:cNvPr>
          <p:cNvSpPr/>
          <p:nvPr/>
        </p:nvSpPr>
        <p:spPr>
          <a:xfrm>
            <a:off x="2971800" y="457200"/>
            <a:ext cx="1981200" cy="5715000"/>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2263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6348" y="249427"/>
            <a:ext cx="4773930" cy="574040"/>
          </a:xfrm>
          <a:prstGeom prst="rect">
            <a:avLst/>
          </a:prstGeom>
        </p:spPr>
        <p:txBody>
          <a:bodyPr vert="horz" wrap="square" lIns="0" tIns="12700" rIns="0" bIns="0" rtlCol="0">
            <a:spAutoFit/>
          </a:bodyPr>
          <a:lstStyle/>
          <a:p>
            <a:pPr marL="12700">
              <a:lnSpc>
                <a:spcPct val="100000"/>
              </a:lnSpc>
              <a:spcBef>
                <a:spcPts val="100"/>
              </a:spcBef>
            </a:pPr>
            <a:r>
              <a:rPr sz="3600" spc="-110" dirty="0"/>
              <a:t>P</a:t>
            </a:r>
            <a:r>
              <a:rPr sz="3600" spc="-105" dirty="0"/>
              <a:t>r</a:t>
            </a:r>
            <a:r>
              <a:rPr sz="3600" dirty="0"/>
              <a:t>e</a:t>
            </a:r>
            <a:r>
              <a:rPr sz="3600" spc="-215" dirty="0"/>
              <a:t> </a:t>
            </a:r>
            <a:r>
              <a:rPr sz="3600" dirty="0"/>
              <a:t>&amp;</a:t>
            </a:r>
            <a:r>
              <a:rPr sz="3600" spc="-215" dirty="0"/>
              <a:t> </a:t>
            </a:r>
            <a:r>
              <a:rPr sz="3600" spc="-110" dirty="0"/>
              <a:t>pos</a:t>
            </a:r>
            <a:r>
              <a:rPr sz="3600" dirty="0"/>
              <a:t>t</a:t>
            </a:r>
            <a:r>
              <a:rPr sz="3600" spc="-215" dirty="0"/>
              <a:t> </a:t>
            </a:r>
            <a:r>
              <a:rPr sz="3600" spc="-110" dirty="0"/>
              <a:t>a</a:t>
            </a:r>
            <a:r>
              <a:rPr sz="3600" spc="-105" dirty="0"/>
              <a:t>li</a:t>
            </a:r>
            <a:r>
              <a:rPr sz="3600" spc="-110" dirty="0"/>
              <a:t>gn</a:t>
            </a:r>
            <a:r>
              <a:rPr sz="3600" spc="-105" dirty="0"/>
              <a:t>m</a:t>
            </a:r>
            <a:r>
              <a:rPr sz="3600" spc="-110" dirty="0"/>
              <a:t>en</a:t>
            </a:r>
            <a:r>
              <a:rPr sz="3600" dirty="0"/>
              <a:t>t</a:t>
            </a:r>
            <a:r>
              <a:rPr sz="3600" spc="-215" dirty="0"/>
              <a:t> </a:t>
            </a:r>
            <a:r>
              <a:rPr sz="3600" spc="-110" dirty="0"/>
              <a:t>QC</a:t>
            </a:r>
            <a:endParaRPr sz="3600"/>
          </a:p>
        </p:txBody>
      </p:sp>
      <p:pic>
        <p:nvPicPr>
          <p:cNvPr id="3" name="object 3"/>
          <p:cNvPicPr/>
          <p:nvPr/>
        </p:nvPicPr>
        <p:blipFill>
          <a:blip r:embed="rId3" cstate="print"/>
          <a:stretch>
            <a:fillRect/>
          </a:stretch>
        </p:blipFill>
        <p:spPr>
          <a:xfrm>
            <a:off x="217033" y="3773227"/>
            <a:ext cx="5278582" cy="3025493"/>
          </a:xfrm>
          <a:prstGeom prst="rect">
            <a:avLst/>
          </a:prstGeom>
        </p:spPr>
      </p:pic>
      <p:sp>
        <p:nvSpPr>
          <p:cNvPr id="4" name="object 4"/>
          <p:cNvSpPr txBox="1"/>
          <p:nvPr/>
        </p:nvSpPr>
        <p:spPr>
          <a:xfrm>
            <a:off x="253977" y="3814282"/>
            <a:ext cx="5153025" cy="2690480"/>
          </a:xfrm>
          <a:prstGeom prst="rect">
            <a:avLst/>
          </a:prstGeom>
          <a:solidFill>
            <a:srgbClr val="FFFFFF"/>
          </a:solidFill>
          <a:ln w="9524">
            <a:solidFill>
              <a:srgbClr val="E0E0E0"/>
            </a:solidFill>
          </a:ln>
        </p:spPr>
        <p:txBody>
          <a:bodyPr vert="horz" wrap="square" lIns="0" tIns="38100" rIns="0" bIns="0" rtlCol="0">
            <a:spAutoFit/>
          </a:bodyPr>
          <a:lstStyle/>
          <a:p>
            <a:pPr marL="274320" indent="-182880">
              <a:lnSpc>
                <a:spcPct val="100000"/>
              </a:lnSpc>
              <a:spcBef>
                <a:spcPts val="300"/>
              </a:spcBef>
              <a:buClr>
                <a:srgbClr val="93A299"/>
              </a:buClr>
              <a:buSzPct val="83333"/>
              <a:buFont typeface="Arial"/>
              <a:buChar char="•"/>
              <a:tabLst>
                <a:tab pos="274320" algn="l"/>
              </a:tabLst>
            </a:pPr>
            <a:r>
              <a:rPr sz="2400" b="1" spc="-5" dirty="0">
                <a:solidFill>
                  <a:srgbClr val="292934"/>
                </a:solidFill>
                <a:latin typeface="Helvetica Neue"/>
                <a:cs typeface="Helvetica Neue"/>
              </a:rPr>
              <a:t>aligned</a:t>
            </a:r>
            <a:r>
              <a:rPr sz="2400" b="1" spc="-65" dirty="0">
                <a:solidFill>
                  <a:srgbClr val="292934"/>
                </a:solidFill>
                <a:latin typeface="Helvetica Neue"/>
                <a:cs typeface="Helvetica Neue"/>
              </a:rPr>
              <a:t> </a:t>
            </a:r>
            <a:r>
              <a:rPr sz="2400" b="1" spc="-20" dirty="0">
                <a:solidFill>
                  <a:srgbClr val="292934"/>
                </a:solidFill>
                <a:latin typeface="Helvetica Neue"/>
                <a:cs typeface="Helvetica Neue"/>
              </a:rPr>
              <a:t>reads</a:t>
            </a:r>
            <a:r>
              <a:rPr sz="2400" b="1" spc="-75" dirty="0">
                <a:solidFill>
                  <a:srgbClr val="292934"/>
                </a:solidFill>
                <a:latin typeface="Helvetica Neue"/>
                <a:cs typeface="Helvetica Neue"/>
              </a:rPr>
              <a:t> </a:t>
            </a:r>
            <a:r>
              <a:rPr sz="2400" dirty="0">
                <a:solidFill>
                  <a:srgbClr val="292934"/>
                </a:solidFill>
                <a:latin typeface="Helvetica Neue"/>
                <a:cs typeface="Helvetica Neue"/>
              </a:rPr>
              <a:t>QC</a:t>
            </a:r>
            <a:endParaRPr sz="2400" dirty="0">
              <a:latin typeface="Helvetica Neue"/>
              <a:cs typeface="Helvetica Neue"/>
            </a:endParaRPr>
          </a:p>
          <a:p>
            <a:pPr marL="541020" lvl="1" indent="-182880">
              <a:lnSpc>
                <a:spcPct val="100000"/>
              </a:lnSpc>
              <a:spcBef>
                <a:spcPts val="1025"/>
              </a:spcBef>
              <a:buClr>
                <a:srgbClr val="93A299"/>
              </a:buClr>
              <a:buSzPct val="85000"/>
              <a:buFont typeface="Arial"/>
              <a:buChar char="•"/>
              <a:tabLst>
                <a:tab pos="541020" algn="l"/>
              </a:tabLst>
            </a:pPr>
            <a:r>
              <a:rPr sz="2000" dirty="0">
                <a:solidFill>
                  <a:srgbClr val="292934"/>
                </a:solidFill>
                <a:latin typeface="Helvetica Neue"/>
                <a:cs typeface="Helvetica Neue"/>
              </a:rPr>
              <a:t>%</a:t>
            </a:r>
            <a:r>
              <a:rPr sz="2000" spc="-55" dirty="0">
                <a:solidFill>
                  <a:srgbClr val="292934"/>
                </a:solidFill>
                <a:latin typeface="Helvetica Neue"/>
                <a:cs typeface="Helvetica Neue"/>
              </a:rPr>
              <a:t> </a:t>
            </a:r>
            <a:r>
              <a:rPr sz="2000" dirty="0">
                <a:solidFill>
                  <a:srgbClr val="292934"/>
                </a:solidFill>
                <a:latin typeface="Helvetica Neue"/>
                <a:cs typeface="Helvetica Neue"/>
              </a:rPr>
              <a:t>(uniquely)</a:t>
            </a:r>
            <a:r>
              <a:rPr sz="2000" spc="-50" dirty="0">
                <a:solidFill>
                  <a:srgbClr val="292934"/>
                </a:solidFill>
                <a:latin typeface="Helvetica Neue"/>
                <a:cs typeface="Helvetica Neue"/>
              </a:rPr>
              <a:t> </a:t>
            </a:r>
            <a:r>
              <a:rPr sz="2000" dirty="0">
                <a:solidFill>
                  <a:srgbClr val="292934"/>
                </a:solidFill>
                <a:latin typeface="Helvetica Neue"/>
                <a:cs typeface="Helvetica Neue"/>
              </a:rPr>
              <a:t>aligned</a:t>
            </a:r>
            <a:r>
              <a:rPr sz="2000" spc="-45" dirty="0">
                <a:solidFill>
                  <a:srgbClr val="292934"/>
                </a:solidFill>
                <a:latin typeface="Helvetica Neue"/>
                <a:cs typeface="Helvetica Neue"/>
              </a:rPr>
              <a:t> </a:t>
            </a:r>
            <a:r>
              <a:rPr sz="2000" spc="-20" dirty="0">
                <a:solidFill>
                  <a:srgbClr val="292934"/>
                </a:solidFill>
                <a:latin typeface="Helvetica Neue"/>
                <a:cs typeface="Helvetica Neue"/>
              </a:rPr>
              <a:t>reads</a:t>
            </a:r>
            <a:endParaRPr sz="2000" dirty="0">
              <a:latin typeface="Helvetica Neue"/>
              <a:cs typeface="Helvetica Neue"/>
            </a:endParaRPr>
          </a:p>
          <a:p>
            <a:pPr marL="541020" lvl="1" indent="-182880">
              <a:lnSpc>
                <a:spcPct val="100000"/>
              </a:lnSpc>
              <a:spcBef>
                <a:spcPts val="1200"/>
              </a:spcBef>
              <a:buClr>
                <a:srgbClr val="93A299"/>
              </a:buClr>
              <a:buSzPct val="85000"/>
              <a:buFont typeface="Arial"/>
              <a:buChar char="•"/>
              <a:tabLst>
                <a:tab pos="541020" algn="l"/>
              </a:tabLst>
            </a:pPr>
            <a:r>
              <a:rPr sz="2000" dirty="0">
                <a:solidFill>
                  <a:srgbClr val="292934"/>
                </a:solidFill>
                <a:latin typeface="Helvetica Neue"/>
                <a:cs typeface="Helvetica Neue"/>
              </a:rPr>
              <a:t>%</a:t>
            </a:r>
            <a:r>
              <a:rPr sz="2000" spc="-20" dirty="0">
                <a:solidFill>
                  <a:srgbClr val="292934"/>
                </a:solidFill>
                <a:latin typeface="Helvetica Neue"/>
                <a:cs typeface="Helvetica Neue"/>
              </a:rPr>
              <a:t> </a:t>
            </a:r>
            <a:r>
              <a:rPr sz="2000" dirty="0">
                <a:solidFill>
                  <a:srgbClr val="292934"/>
                </a:solidFill>
                <a:latin typeface="Helvetica Neue"/>
                <a:cs typeface="Helvetica Neue"/>
              </a:rPr>
              <a:t>exonic</a:t>
            </a:r>
            <a:r>
              <a:rPr sz="2000" spc="-20" dirty="0">
                <a:solidFill>
                  <a:srgbClr val="292934"/>
                </a:solidFill>
                <a:latin typeface="Helvetica Neue"/>
                <a:cs typeface="Helvetica Neue"/>
              </a:rPr>
              <a:t> </a:t>
            </a:r>
            <a:r>
              <a:rPr sz="2000" dirty="0">
                <a:solidFill>
                  <a:srgbClr val="292934"/>
                </a:solidFill>
                <a:latin typeface="Helvetica Neue"/>
                <a:cs typeface="Helvetica Neue"/>
              </a:rPr>
              <a:t>vs.</a:t>
            </a:r>
            <a:r>
              <a:rPr sz="2000" spc="-20" dirty="0">
                <a:solidFill>
                  <a:srgbClr val="292934"/>
                </a:solidFill>
                <a:latin typeface="Helvetica Neue"/>
                <a:cs typeface="Helvetica Neue"/>
              </a:rPr>
              <a:t> intronic/intergenic</a:t>
            </a:r>
            <a:endParaRPr sz="2000" dirty="0">
              <a:latin typeface="Helvetica Neue"/>
              <a:cs typeface="Helvetica Neue"/>
            </a:endParaRPr>
          </a:p>
          <a:p>
            <a:pPr marL="541020" lvl="1" indent="-182880">
              <a:lnSpc>
                <a:spcPct val="100000"/>
              </a:lnSpc>
              <a:spcBef>
                <a:spcPts val="1200"/>
              </a:spcBef>
              <a:buClr>
                <a:srgbClr val="93A299"/>
              </a:buClr>
              <a:buSzPct val="85000"/>
              <a:buFont typeface="Arial"/>
              <a:buChar char="•"/>
              <a:tabLst>
                <a:tab pos="541020" algn="l"/>
              </a:tabLst>
            </a:pPr>
            <a:r>
              <a:rPr lang="en-US" sz="2000" spc="-5" dirty="0" err="1">
                <a:solidFill>
                  <a:srgbClr val="FF0000"/>
                </a:solidFill>
                <a:latin typeface="Helvetica Neue"/>
                <a:cs typeface="Helvetica Neue"/>
              </a:rPr>
              <a:t>s</a:t>
            </a:r>
            <a:r>
              <a:rPr sz="2000" spc="-5" dirty="0" err="1">
                <a:solidFill>
                  <a:srgbClr val="FF0000"/>
                </a:solidFill>
                <a:latin typeface="Helvetica Neue"/>
                <a:cs typeface="Helvetica Neue"/>
              </a:rPr>
              <a:t>trandedness</a:t>
            </a:r>
            <a:endParaRPr lang="en-US" sz="2000" spc="-5" dirty="0">
              <a:solidFill>
                <a:srgbClr val="FF0000"/>
              </a:solidFill>
              <a:latin typeface="Helvetica Neue"/>
              <a:cs typeface="Helvetica Neue"/>
            </a:endParaRPr>
          </a:p>
          <a:p>
            <a:pPr marL="541020" lvl="1" indent="-182880">
              <a:lnSpc>
                <a:spcPct val="100000"/>
              </a:lnSpc>
              <a:spcBef>
                <a:spcPts val="1200"/>
              </a:spcBef>
              <a:buClr>
                <a:srgbClr val="93A299"/>
              </a:buClr>
              <a:buSzPct val="85000"/>
              <a:buFont typeface="Arial"/>
              <a:buChar char="•"/>
              <a:tabLst>
                <a:tab pos="541020" algn="l"/>
              </a:tabLst>
            </a:pPr>
            <a:r>
              <a:rPr lang="en-US" sz="2000" spc="-5" dirty="0">
                <a:solidFill>
                  <a:srgbClr val="292934"/>
                </a:solidFill>
                <a:latin typeface="Helvetica Neue"/>
                <a:cs typeface="Helvetica Neue"/>
              </a:rPr>
              <a:t>splice junction detection/annotation</a:t>
            </a:r>
          </a:p>
          <a:p>
            <a:pPr marL="541020" lvl="1" indent="-182880">
              <a:lnSpc>
                <a:spcPct val="100000"/>
              </a:lnSpc>
              <a:spcBef>
                <a:spcPts val="1200"/>
              </a:spcBef>
              <a:buClr>
                <a:srgbClr val="93A299"/>
              </a:buClr>
              <a:buSzPct val="85000"/>
              <a:buFont typeface="Arial"/>
              <a:buChar char="•"/>
              <a:tabLst>
                <a:tab pos="541020" algn="l"/>
              </a:tabLst>
            </a:pPr>
            <a:endParaRPr sz="2000" dirty="0">
              <a:latin typeface="Helvetica Neue"/>
              <a:cs typeface="Helvetica Neue"/>
            </a:endParaRPr>
          </a:p>
        </p:txBody>
      </p:sp>
      <p:pic>
        <p:nvPicPr>
          <p:cNvPr id="5" name="object 5"/>
          <p:cNvPicPr/>
          <p:nvPr/>
        </p:nvPicPr>
        <p:blipFill>
          <a:blip r:embed="rId4" cstate="print"/>
          <a:stretch>
            <a:fillRect/>
          </a:stretch>
        </p:blipFill>
        <p:spPr>
          <a:xfrm>
            <a:off x="217033" y="996777"/>
            <a:ext cx="5278582" cy="2564475"/>
          </a:xfrm>
          <a:prstGeom prst="rect">
            <a:avLst/>
          </a:prstGeom>
        </p:spPr>
      </p:pic>
      <p:sp>
        <p:nvSpPr>
          <p:cNvPr id="6" name="object 6"/>
          <p:cNvSpPr txBox="1"/>
          <p:nvPr/>
        </p:nvSpPr>
        <p:spPr>
          <a:xfrm>
            <a:off x="253977" y="1031052"/>
            <a:ext cx="5153025" cy="2440305"/>
          </a:xfrm>
          <a:prstGeom prst="rect">
            <a:avLst/>
          </a:prstGeom>
          <a:solidFill>
            <a:srgbClr val="FFFFFF"/>
          </a:solidFill>
          <a:ln w="9524">
            <a:solidFill>
              <a:srgbClr val="E0E0E0"/>
            </a:solidFill>
          </a:ln>
        </p:spPr>
        <p:txBody>
          <a:bodyPr vert="horz" wrap="square" lIns="0" tIns="18415" rIns="0" bIns="0" rtlCol="0">
            <a:spAutoFit/>
          </a:bodyPr>
          <a:lstStyle/>
          <a:p>
            <a:pPr marL="274320" indent="-182880">
              <a:lnSpc>
                <a:spcPct val="100000"/>
              </a:lnSpc>
              <a:spcBef>
                <a:spcPts val="145"/>
              </a:spcBef>
              <a:buClr>
                <a:srgbClr val="93A299"/>
              </a:buClr>
              <a:buSzPct val="81818"/>
              <a:buFont typeface="Arial"/>
              <a:buChar char="•"/>
              <a:tabLst>
                <a:tab pos="274320" algn="l"/>
              </a:tabLst>
            </a:pPr>
            <a:r>
              <a:rPr sz="2200" b="1" spc="-5" dirty="0">
                <a:solidFill>
                  <a:srgbClr val="292934"/>
                </a:solidFill>
                <a:latin typeface="Helvetica Neue"/>
                <a:cs typeface="Helvetica Neue"/>
              </a:rPr>
              <a:t>raw</a:t>
            </a:r>
            <a:r>
              <a:rPr sz="2200" b="1" spc="-65" dirty="0">
                <a:solidFill>
                  <a:srgbClr val="292934"/>
                </a:solidFill>
                <a:latin typeface="Helvetica Neue"/>
                <a:cs typeface="Helvetica Neue"/>
              </a:rPr>
              <a:t> </a:t>
            </a:r>
            <a:r>
              <a:rPr sz="2200" b="1" spc="-20" dirty="0">
                <a:solidFill>
                  <a:srgbClr val="292934"/>
                </a:solidFill>
                <a:latin typeface="Helvetica Neue"/>
                <a:cs typeface="Helvetica Neue"/>
              </a:rPr>
              <a:t>reads</a:t>
            </a:r>
            <a:r>
              <a:rPr sz="2200" b="1" spc="-65" dirty="0">
                <a:solidFill>
                  <a:srgbClr val="292934"/>
                </a:solidFill>
                <a:latin typeface="Helvetica Neue"/>
                <a:cs typeface="Helvetica Neue"/>
              </a:rPr>
              <a:t> </a:t>
            </a:r>
            <a:r>
              <a:rPr sz="2200" dirty="0">
                <a:solidFill>
                  <a:srgbClr val="292934"/>
                </a:solidFill>
                <a:latin typeface="Helvetica Neue"/>
                <a:cs typeface="Helvetica Neue"/>
              </a:rPr>
              <a:t>QC</a:t>
            </a:r>
            <a:endParaRPr sz="2200">
              <a:latin typeface="Helvetica Neue"/>
              <a:cs typeface="Helvetica Neue"/>
            </a:endParaRPr>
          </a:p>
          <a:p>
            <a:pPr marL="548005" marR="278130" lvl="1" indent="-190500">
              <a:lnSpc>
                <a:spcPts val="2090"/>
              </a:lnSpc>
              <a:spcBef>
                <a:spcPts val="1080"/>
              </a:spcBef>
              <a:buClr>
                <a:srgbClr val="93A299"/>
              </a:buClr>
              <a:buSzPct val="84210"/>
              <a:buFont typeface="Arial"/>
              <a:buChar char="•"/>
              <a:tabLst>
                <a:tab pos="548005" algn="l"/>
              </a:tabLst>
            </a:pPr>
            <a:r>
              <a:rPr sz="1900" spc="-5" dirty="0">
                <a:solidFill>
                  <a:srgbClr val="292934"/>
                </a:solidFill>
                <a:latin typeface="Helvetica Neue"/>
                <a:cs typeface="Helvetica Neue"/>
              </a:rPr>
              <a:t>adapter/primer/other </a:t>
            </a:r>
            <a:r>
              <a:rPr sz="1900" dirty="0">
                <a:solidFill>
                  <a:srgbClr val="292934"/>
                </a:solidFill>
                <a:latin typeface="Helvetica Neue"/>
                <a:cs typeface="Helvetica Neue"/>
              </a:rPr>
              <a:t>contaminating and </a:t>
            </a:r>
            <a:r>
              <a:rPr sz="1900" spc="-515" dirty="0">
                <a:solidFill>
                  <a:srgbClr val="292934"/>
                </a:solidFill>
                <a:latin typeface="Helvetica Neue"/>
                <a:cs typeface="Helvetica Neue"/>
              </a:rPr>
              <a:t> </a:t>
            </a:r>
            <a:r>
              <a:rPr sz="1900" spc="-30" dirty="0">
                <a:solidFill>
                  <a:srgbClr val="292934"/>
                </a:solidFill>
                <a:latin typeface="Helvetica Neue"/>
                <a:cs typeface="Helvetica Neue"/>
              </a:rPr>
              <a:t>over-represented</a:t>
            </a:r>
            <a:r>
              <a:rPr sz="1900" spc="-35" dirty="0">
                <a:solidFill>
                  <a:srgbClr val="292934"/>
                </a:solidFill>
                <a:latin typeface="Helvetica Neue"/>
                <a:cs typeface="Helvetica Neue"/>
              </a:rPr>
              <a:t> </a:t>
            </a:r>
            <a:r>
              <a:rPr sz="1900" dirty="0">
                <a:solidFill>
                  <a:srgbClr val="292934"/>
                </a:solidFill>
                <a:latin typeface="Helvetica Neue"/>
                <a:cs typeface="Helvetica Neue"/>
              </a:rPr>
              <a:t>sequences</a:t>
            </a:r>
            <a:endParaRPr sz="1900">
              <a:latin typeface="Helvetica Neue"/>
              <a:cs typeface="Helvetica Neue"/>
            </a:endParaRPr>
          </a:p>
          <a:p>
            <a:pPr marL="541020" lvl="1" indent="-182880">
              <a:lnSpc>
                <a:spcPct val="100000"/>
              </a:lnSpc>
              <a:spcBef>
                <a:spcPts val="295"/>
              </a:spcBef>
              <a:buClr>
                <a:srgbClr val="93A299"/>
              </a:buClr>
              <a:buSzPct val="84210"/>
              <a:buFont typeface="Arial"/>
              <a:buChar char="•"/>
              <a:tabLst>
                <a:tab pos="541020" algn="l"/>
              </a:tabLst>
            </a:pPr>
            <a:r>
              <a:rPr sz="1900" dirty="0">
                <a:solidFill>
                  <a:srgbClr val="292934"/>
                </a:solidFill>
                <a:latin typeface="Helvetica Neue"/>
                <a:cs typeface="Helvetica Neue"/>
              </a:rPr>
              <a:t>sequencing</a:t>
            </a:r>
            <a:r>
              <a:rPr sz="1900" spc="-100" dirty="0">
                <a:solidFill>
                  <a:srgbClr val="292934"/>
                </a:solidFill>
                <a:latin typeface="Helvetica Neue"/>
                <a:cs typeface="Helvetica Neue"/>
              </a:rPr>
              <a:t> </a:t>
            </a:r>
            <a:r>
              <a:rPr sz="1900" dirty="0">
                <a:solidFill>
                  <a:srgbClr val="292934"/>
                </a:solidFill>
                <a:latin typeface="Helvetica Neue"/>
                <a:cs typeface="Helvetica Neue"/>
              </a:rPr>
              <a:t>quality</a:t>
            </a:r>
            <a:endParaRPr sz="1900">
              <a:latin typeface="Helvetica Neue"/>
              <a:cs typeface="Helvetica Neue"/>
            </a:endParaRPr>
          </a:p>
          <a:p>
            <a:pPr marL="541020" lvl="1" indent="-182880">
              <a:lnSpc>
                <a:spcPct val="100000"/>
              </a:lnSpc>
              <a:spcBef>
                <a:spcPts val="1535"/>
              </a:spcBef>
              <a:buClr>
                <a:srgbClr val="93A299"/>
              </a:buClr>
              <a:buSzPct val="84210"/>
              <a:buFont typeface="Arial"/>
              <a:buChar char="•"/>
              <a:tabLst>
                <a:tab pos="541020" algn="l"/>
              </a:tabLst>
            </a:pPr>
            <a:r>
              <a:rPr sz="1900" spc="-5" dirty="0">
                <a:solidFill>
                  <a:srgbClr val="292934"/>
                </a:solidFill>
                <a:latin typeface="Helvetica Neue"/>
                <a:cs typeface="Helvetica Neue"/>
              </a:rPr>
              <a:t>GC</a:t>
            </a:r>
            <a:r>
              <a:rPr sz="1900" spc="-70" dirty="0">
                <a:solidFill>
                  <a:srgbClr val="292934"/>
                </a:solidFill>
                <a:latin typeface="Helvetica Neue"/>
                <a:cs typeface="Helvetica Neue"/>
              </a:rPr>
              <a:t> </a:t>
            </a:r>
            <a:r>
              <a:rPr sz="1900" spc="-5" dirty="0">
                <a:solidFill>
                  <a:srgbClr val="292934"/>
                </a:solidFill>
                <a:latin typeface="Helvetica Neue"/>
                <a:cs typeface="Helvetica Neue"/>
              </a:rPr>
              <a:t>distributions</a:t>
            </a:r>
            <a:endParaRPr sz="1900">
              <a:latin typeface="Helvetica Neue"/>
              <a:cs typeface="Helvetica Neue"/>
            </a:endParaRPr>
          </a:p>
          <a:p>
            <a:pPr marL="541020" lvl="1" indent="-182880">
              <a:lnSpc>
                <a:spcPct val="100000"/>
              </a:lnSpc>
              <a:spcBef>
                <a:spcPts val="915"/>
              </a:spcBef>
              <a:buClr>
                <a:srgbClr val="93A299"/>
              </a:buClr>
              <a:buSzPct val="84210"/>
              <a:buFont typeface="Arial"/>
              <a:buChar char="•"/>
              <a:tabLst>
                <a:tab pos="541020" algn="l"/>
              </a:tabLst>
            </a:pPr>
            <a:r>
              <a:rPr sz="1900" spc="-5" dirty="0">
                <a:solidFill>
                  <a:srgbClr val="292934"/>
                </a:solidFill>
                <a:latin typeface="Helvetica Neue"/>
                <a:cs typeface="Helvetica Neue"/>
              </a:rPr>
              <a:t>duplication</a:t>
            </a:r>
            <a:r>
              <a:rPr sz="1900" spc="-110" dirty="0">
                <a:solidFill>
                  <a:srgbClr val="292934"/>
                </a:solidFill>
                <a:latin typeface="Helvetica Neue"/>
                <a:cs typeface="Helvetica Neue"/>
              </a:rPr>
              <a:t> </a:t>
            </a:r>
            <a:r>
              <a:rPr sz="1900" dirty="0">
                <a:solidFill>
                  <a:srgbClr val="292934"/>
                </a:solidFill>
                <a:latin typeface="Helvetica Neue"/>
                <a:cs typeface="Helvetica Neue"/>
              </a:rPr>
              <a:t>levels</a:t>
            </a:r>
            <a:endParaRPr sz="1900">
              <a:latin typeface="Helvetica Neue"/>
              <a:cs typeface="Helvetica Neue"/>
            </a:endParaRPr>
          </a:p>
        </p:txBody>
      </p:sp>
      <p:sp>
        <p:nvSpPr>
          <p:cNvPr id="7" name="object 7"/>
          <p:cNvSpPr txBox="1"/>
          <p:nvPr/>
        </p:nvSpPr>
        <p:spPr>
          <a:xfrm>
            <a:off x="5784078" y="1315389"/>
            <a:ext cx="2910840" cy="751488"/>
          </a:xfrm>
          <a:prstGeom prst="rect">
            <a:avLst/>
          </a:prstGeom>
        </p:spPr>
        <p:txBody>
          <a:bodyPr vert="horz" wrap="square" lIns="0" tIns="12700" rIns="0" bIns="0" rtlCol="0">
            <a:spAutoFit/>
          </a:bodyPr>
          <a:lstStyle/>
          <a:p>
            <a:pPr marL="12700" algn="ctr">
              <a:lnSpc>
                <a:spcPct val="100000"/>
              </a:lnSpc>
              <a:spcBef>
                <a:spcPts val="100"/>
              </a:spcBef>
            </a:pPr>
            <a:r>
              <a:rPr sz="2400" b="1" spc="-5" dirty="0">
                <a:latin typeface="Times New Roman"/>
                <a:cs typeface="Times New Roman"/>
              </a:rPr>
              <a:t>Pre-alignment:</a:t>
            </a:r>
            <a:r>
              <a:rPr sz="2400" b="1" spc="-20" dirty="0">
                <a:latin typeface="Times New Roman"/>
                <a:cs typeface="Times New Roman"/>
              </a:rPr>
              <a:t> </a:t>
            </a:r>
            <a:r>
              <a:rPr sz="2400" b="1" spc="-5" dirty="0">
                <a:solidFill>
                  <a:srgbClr val="C00000"/>
                </a:solidFill>
                <a:latin typeface="Times New Roman"/>
                <a:cs typeface="Times New Roman"/>
              </a:rPr>
              <a:t>FastQC</a:t>
            </a:r>
            <a:r>
              <a:rPr sz="2400" b="1" spc="-5" dirty="0">
                <a:latin typeface="Times New Roman"/>
                <a:cs typeface="Times New Roman"/>
              </a:rPr>
              <a:t>,</a:t>
            </a:r>
            <a:r>
              <a:rPr sz="2400" b="1" spc="-20" dirty="0">
                <a:latin typeface="Times New Roman"/>
                <a:cs typeface="Times New Roman"/>
              </a:rPr>
              <a:t> </a:t>
            </a:r>
            <a:r>
              <a:rPr sz="2400" b="1" spc="-5" dirty="0">
                <a:latin typeface="Times New Roman"/>
                <a:cs typeface="Times New Roman"/>
              </a:rPr>
              <a:t>fastp</a:t>
            </a:r>
            <a:endParaRPr sz="2400" dirty="0">
              <a:latin typeface="Times New Roman"/>
              <a:cs typeface="Times New Roman"/>
            </a:endParaRPr>
          </a:p>
        </p:txBody>
      </p:sp>
      <p:sp>
        <p:nvSpPr>
          <p:cNvPr id="8" name="object 8"/>
          <p:cNvSpPr txBox="1"/>
          <p:nvPr/>
        </p:nvSpPr>
        <p:spPr>
          <a:xfrm>
            <a:off x="5699408" y="4867147"/>
            <a:ext cx="3152775" cy="751488"/>
          </a:xfrm>
          <a:prstGeom prst="rect">
            <a:avLst/>
          </a:prstGeom>
        </p:spPr>
        <p:txBody>
          <a:bodyPr vert="horz" wrap="square" lIns="0" tIns="12700" rIns="0" bIns="0" rtlCol="0">
            <a:spAutoFit/>
          </a:bodyPr>
          <a:lstStyle/>
          <a:p>
            <a:pPr marL="12700" algn="ctr">
              <a:lnSpc>
                <a:spcPct val="100000"/>
              </a:lnSpc>
              <a:spcBef>
                <a:spcPts val="100"/>
              </a:spcBef>
            </a:pPr>
            <a:r>
              <a:rPr sz="2400" b="1" spc="-5" dirty="0">
                <a:latin typeface="Times New Roman"/>
                <a:cs typeface="Times New Roman"/>
              </a:rPr>
              <a:t>Post-alignment:</a:t>
            </a:r>
            <a:r>
              <a:rPr sz="2400" b="1" spc="-10" dirty="0">
                <a:latin typeface="Times New Roman"/>
                <a:cs typeface="Times New Roman"/>
              </a:rPr>
              <a:t> </a:t>
            </a:r>
            <a:r>
              <a:rPr sz="2400" b="1" spc="-5" dirty="0">
                <a:solidFill>
                  <a:srgbClr val="C00000"/>
                </a:solidFill>
                <a:latin typeface="Times New Roman"/>
                <a:cs typeface="Times New Roman"/>
              </a:rPr>
              <a:t>RSeQC</a:t>
            </a:r>
            <a:r>
              <a:rPr sz="2400" b="1" spc="-5" dirty="0">
                <a:latin typeface="Times New Roman"/>
                <a:cs typeface="Times New Roman"/>
              </a:rPr>
              <a:t>, </a:t>
            </a:r>
            <a:r>
              <a:rPr sz="2400" b="1" spc="-50" dirty="0">
                <a:latin typeface="Times New Roman"/>
                <a:cs typeface="Times New Roman"/>
              </a:rPr>
              <a:t>QoRTs</a:t>
            </a:r>
            <a:endParaRPr sz="2400" dirty="0">
              <a:latin typeface="Times New Roman"/>
              <a:cs typeface="Times New Roman"/>
            </a:endParaRPr>
          </a:p>
        </p:txBody>
      </p:sp>
      <p:grpSp>
        <p:nvGrpSpPr>
          <p:cNvPr id="9" name="object 9"/>
          <p:cNvGrpSpPr/>
          <p:nvPr/>
        </p:nvGrpSpPr>
        <p:grpSpPr>
          <a:xfrm>
            <a:off x="6995341" y="2231753"/>
            <a:ext cx="488315" cy="2443480"/>
            <a:chOff x="6995341" y="2231753"/>
            <a:chExt cx="488315" cy="2443480"/>
          </a:xfrm>
        </p:grpSpPr>
        <p:sp>
          <p:nvSpPr>
            <p:cNvPr id="10" name="object 10"/>
            <p:cNvSpPr/>
            <p:nvPr/>
          </p:nvSpPr>
          <p:spPr>
            <a:xfrm>
              <a:off x="7001691" y="2238103"/>
              <a:ext cx="475615" cy="2430780"/>
            </a:xfrm>
            <a:custGeom>
              <a:avLst/>
              <a:gdLst/>
              <a:ahLst/>
              <a:cxnLst/>
              <a:rect l="l" t="t" r="r" b="b"/>
              <a:pathLst>
                <a:path w="475615" h="2430779">
                  <a:moveTo>
                    <a:pt x="356523" y="0"/>
                  </a:moveTo>
                  <a:lnTo>
                    <a:pt x="118840" y="0"/>
                  </a:lnTo>
                  <a:lnTo>
                    <a:pt x="118840" y="2192942"/>
                  </a:lnTo>
                  <a:lnTo>
                    <a:pt x="0" y="2192942"/>
                  </a:lnTo>
                  <a:lnTo>
                    <a:pt x="237681" y="2430623"/>
                  </a:lnTo>
                  <a:lnTo>
                    <a:pt x="475364" y="2192942"/>
                  </a:lnTo>
                  <a:lnTo>
                    <a:pt x="356523" y="2192942"/>
                  </a:lnTo>
                  <a:lnTo>
                    <a:pt x="356523" y="0"/>
                  </a:lnTo>
                  <a:close/>
                </a:path>
              </a:pathLst>
            </a:custGeom>
            <a:solidFill>
              <a:srgbClr val="A9D18E"/>
            </a:solidFill>
          </p:spPr>
          <p:txBody>
            <a:bodyPr wrap="square" lIns="0" tIns="0" rIns="0" bIns="0" rtlCol="0"/>
            <a:lstStyle/>
            <a:p>
              <a:endParaRPr/>
            </a:p>
          </p:txBody>
        </p:sp>
        <p:sp>
          <p:nvSpPr>
            <p:cNvPr id="11" name="object 11"/>
            <p:cNvSpPr/>
            <p:nvPr/>
          </p:nvSpPr>
          <p:spPr>
            <a:xfrm>
              <a:off x="7001691" y="2238103"/>
              <a:ext cx="475615" cy="2430780"/>
            </a:xfrm>
            <a:custGeom>
              <a:avLst/>
              <a:gdLst/>
              <a:ahLst/>
              <a:cxnLst/>
              <a:rect l="l" t="t" r="r" b="b"/>
              <a:pathLst>
                <a:path w="475615" h="2430779">
                  <a:moveTo>
                    <a:pt x="0" y="2192942"/>
                  </a:moveTo>
                  <a:lnTo>
                    <a:pt x="118841" y="2192942"/>
                  </a:lnTo>
                  <a:lnTo>
                    <a:pt x="118841" y="0"/>
                  </a:lnTo>
                  <a:lnTo>
                    <a:pt x="356523" y="0"/>
                  </a:lnTo>
                  <a:lnTo>
                    <a:pt x="356523" y="2192942"/>
                  </a:lnTo>
                  <a:lnTo>
                    <a:pt x="475365" y="2192942"/>
                  </a:lnTo>
                  <a:lnTo>
                    <a:pt x="237682" y="2430624"/>
                  </a:lnTo>
                  <a:lnTo>
                    <a:pt x="0" y="2192942"/>
                  </a:lnTo>
                  <a:close/>
                </a:path>
              </a:pathLst>
            </a:custGeom>
            <a:ln w="12700">
              <a:solidFill>
                <a:srgbClr val="385723"/>
              </a:solidFill>
            </a:ln>
          </p:spPr>
          <p:txBody>
            <a:bodyPr wrap="square" lIns="0" tIns="0" rIns="0" bIns="0" rtlCol="0"/>
            <a:lstStyle/>
            <a: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402D-0AA7-0156-5596-2647F168456F}"/>
              </a:ext>
            </a:extLst>
          </p:cNvPr>
          <p:cNvSpPr>
            <a:spLocks noGrp="1"/>
          </p:cNvSpPr>
          <p:nvPr>
            <p:ph type="title"/>
          </p:nvPr>
        </p:nvSpPr>
        <p:spPr>
          <a:xfrm>
            <a:off x="460058" y="501038"/>
            <a:ext cx="8150542" cy="553998"/>
          </a:xfrm>
        </p:spPr>
        <p:txBody>
          <a:bodyPr/>
          <a:lstStyle/>
          <a:p>
            <a:pPr algn="ctr"/>
            <a:r>
              <a:rPr lang="en-US" sz="3600" dirty="0"/>
              <a:t>RNA-Seq library preparation protocols</a:t>
            </a:r>
          </a:p>
        </p:txBody>
      </p:sp>
      <p:graphicFrame>
        <p:nvGraphicFramePr>
          <p:cNvPr id="4" name="Table 3">
            <a:extLst>
              <a:ext uri="{FF2B5EF4-FFF2-40B4-BE49-F238E27FC236}">
                <a16:creationId xmlns:a16="http://schemas.microsoft.com/office/drawing/2014/main" id="{75715B4C-43FD-733D-2C62-37A2839091E6}"/>
              </a:ext>
            </a:extLst>
          </p:cNvPr>
          <p:cNvGraphicFramePr>
            <a:graphicFrameLocks noGrp="1"/>
          </p:cNvGraphicFramePr>
          <p:nvPr>
            <p:extLst>
              <p:ext uri="{D42A27DB-BD31-4B8C-83A1-F6EECF244321}">
                <p14:modId xmlns:p14="http://schemas.microsoft.com/office/powerpoint/2010/main" val="4151853165"/>
              </p:ext>
            </p:extLst>
          </p:nvPr>
        </p:nvGraphicFramePr>
        <p:xfrm>
          <a:off x="839629" y="1371600"/>
          <a:ext cx="7391400" cy="4343400"/>
        </p:xfrm>
        <a:graphic>
          <a:graphicData uri="http://schemas.openxmlformats.org/drawingml/2006/table">
            <a:tbl>
              <a:tblPr firstRow="1" bandRow="1">
                <a:tableStyleId>{22838BEF-8BB2-4498-84A7-C5851F593DF1}</a:tableStyleId>
              </a:tblPr>
              <a:tblGrid>
                <a:gridCol w="3695700">
                  <a:extLst>
                    <a:ext uri="{9D8B030D-6E8A-4147-A177-3AD203B41FA5}">
                      <a16:colId xmlns:a16="http://schemas.microsoft.com/office/drawing/2014/main" val="3031612429"/>
                    </a:ext>
                  </a:extLst>
                </a:gridCol>
                <a:gridCol w="3695700">
                  <a:extLst>
                    <a:ext uri="{9D8B030D-6E8A-4147-A177-3AD203B41FA5}">
                      <a16:colId xmlns:a16="http://schemas.microsoft.com/office/drawing/2014/main" val="3594530826"/>
                    </a:ext>
                  </a:extLst>
                </a:gridCol>
              </a:tblGrid>
              <a:tr h="796653">
                <a:tc>
                  <a:txBody>
                    <a:bodyPr/>
                    <a:lstStyle/>
                    <a:p>
                      <a:pPr algn="ctr"/>
                      <a:r>
                        <a:rPr lang="en-US" sz="2400" dirty="0" err="1"/>
                        <a:t>Strandedness</a:t>
                      </a:r>
                      <a:r>
                        <a:rPr lang="en-US" sz="2400" dirty="0"/>
                        <a:t> Type</a:t>
                      </a:r>
                    </a:p>
                  </a:txBody>
                  <a:tcPr/>
                </a:tc>
                <a:tc>
                  <a:txBody>
                    <a:bodyPr/>
                    <a:lstStyle/>
                    <a:p>
                      <a:pPr algn="ctr"/>
                      <a:r>
                        <a:rPr lang="en-US" sz="2400" dirty="0"/>
                        <a:t>Example Protocols</a:t>
                      </a:r>
                    </a:p>
                  </a:txBody>
                  <a:tcPr/>
                </a:tc>
                <a:extLst>
                  <a:ext uri="{0D108BD9-81ED-4DB2-BD59-A6C34878D82A}">
                    <a16:rowId xmlns:a16="http://schemas.microsoft.com/office/drawing/2014/main" val="1960797124"/>
                  </a:ext>
                </a:extLst>
              </a:tr>
              <a:tr h="796653">
                <a:tc>
                  <a:txBody>
                    <a:bodyPr/>
                    <a:lstStyle/>
                    <a:p>
                      <a:pPr algn="ctr"/>
                      <a:r>
                        <a:rPr lang="en-US" sz="2000" dirty="0" err="1"/>
                        <a:t>Unstranded</a:t>
                      </a:r>
                      <a:endParaRPr lang="en-US" sz="2000" dirty="0"/>
                    </a:p>
                  </a:txBody>
                  <a:tcPr/>
                </a:tc>
                <a:tc>
                  <a:txBody>
                    <a:bodyPr/>
                    <a:lstStyle/>
                    <a:p>
                      <a:pPr algn="ctr"/>
                      <a:r>
                        <a:rPr lang="en-US" sz="2000" dirty="0"/>
                        <a:t>Standard Illumina mRNA-Seq</a:t>
                      </a:r>
                    </a:p>
                  </a:txBody>
                  <a:tcPr anchor="ctr"/>
                </a:tc>
                <a:extLst>
                  <a:ext uri="{0D108BD9-81ED-4DB2-BD59-A6C34878D82A}">
                    <a16:rowId xmlns:a16="http://schemas.microsoft.com/office/drawing/2014/main" val="1133307064"/>
                  </a:ext>
                </a:extLst>
              </a:tr>
              <a:tr h="1375047">
                <a:tc>
                  <a:txBody>
                    <a:bodyPr/>
                    <a:lstStyle/>
                    <a:p>
                      <a:pPr algn="ctr"/>
                      <a:r>
                        <a:rPr lang="en-US" sz="2000" dirty="0"/>
                        <a:t>Forward-stranded (1st strand)</a:t>
                      </a:r>
                    </a:p>
                  </a:txBody>
                  <a:tcPr/>
                </a:tc>
                <a:tc>
                  <a:txBody>
                    <a:bodyPr/>
                    <a:lstStyle/>
                    <a:p>
                      <a:pPr algn="ctr"/>
                      <a:r>
                        <a:rPr lang="en-US" sz="2000" dirty="0"/>
                        <a:t>Illumina </a:t>
                      </a:r>
                      <a:r>
                        <a:rPr lang="en-US" sz="2000" dirty="0" err="1"/>
                        <a:t>TruSeq</a:t>
                      </a:r>
                      <a:r>
                        <a:rPr lang="en-US" sz="2000" dirty="0"/>
                        <a:t> Stranded, </a:t>
                      </a:r>
                      <a:r>
                        <a:rPr lang="en-US" sz="2000" dirty="0" err="1"/>
                        <a:t>NEBNext</a:t>
                      </a:r>
                      <a:r>
                        <a:rPr lang="en-US" sz="2000" dirty="0"/>
                        <a:t> Ultra Directional RNA</a:t>
                      </a:r>
                    </a:p>
                  </a:txBody>
                  <a:tcPr/>
                </a:tc>
                <a:extLst>
                  <a:ext uri="{0D108BD9-81ED-4DB2-BD59-A6C34878D82A}">
                    <a16:rowId xmlns:a16="http://schemas.microsoft.com/office/drawing/2014/main" val="1263075110"/>
                  </a:ext>
                </a:extLst>
              </a:tr>
              <a:tr h="1375047">
                <a:tc>
                  <a:txBody>
                    <a:bodyPr/>
                    <a:lstStyle/>
                    <a:p>
                      <a:pPr algn="ctr"/>
                      <a:r>
                        <a:rPr lang="en-US" sz="2000" dirty="0"/>
                        <a:t>Reverse-stranded (2nd strand)</a:t>
                      </a:r>
                    </a:p>
                  </a:txBody>
                  <a:tcPr/>
                </a:tc>
                <a:tc>
                  <a:txBody>
                    <a:bodyPr/>
                    <a:lstStyle/>
                    <a:p>
                      <a:pPr algn="ctr"/>
                      <a:r>
                        <a:rPr lang="en-US" sz="2000" dirty="0"/>
                        <a:t>Illumina </a:t>
                      </a:r>
                      <a:r>
                        <a:rPr lang="en-US" sz="2000" dirty="0" err="1"/>
                        <a:t>ScriptSeq</a:t>
                      </a:r>
                      <a:r>
                        <a:rPr lang="en-US" sz="2000" dirty="0"/>
                        <a:t>, </a:t>
                      </a:r>
                      <a:r>
                        <a:rPr lang="en-US" sz="2000" dirty="0" err="1"/>
                        <a:t>SMARTer</a:t>
                      </a:r>
                      <a:r>
                        <a:rPr lang="en-US" sz="2000" dirty="0"/>
                        <a:t> Stranded</a:t>
                      </a:r>
                    </a:p>
                  </a:txBody>
                  <a:tcPr/>
                </a:tc>
                <a:extLst>
                  <a:ext uri="{0D108BD9-81ED-4DB2-BD59-A6C34878D82A}">
                    <a16:rowId xmlns:a16="http://schemas.microsoft.com/office/drawing/2014/main" val="4246606856"/>
                  </a:ext>
                </a:extLst>
              </a:tr>
            </a:tbl>
          </a:graphicData>
        </a:graphic>
      </p:graphicFrame>
      <p:sp>
        <p:nvSpPr>
          <p:cNvPr id="5" name="TextBox 4">
            <a:extLst>
              <a:ext uri="{FF2B5EF4-FFF2-40B4-BE49-F238E27FC236}">
                <a16:creationId xmlns:a16="http://schemas.microsoft.com/office/drawing/2014/main" id="{CD6F6B63-5D14-D201-5523-4503E538DB7B}"/>
              </a:ext>
            </a:extLst>
          </p:cNvPr>
          <p:cNvSpPr txBox="1"/>
          <p:nvPr/>
        </p:nvSpPr>
        <p:spPr>
          <a:xfrm>
            <a:off x="268129" y="5956852"/>
            <a:ext cx="8607742" cy="400110"/>
          </a:xfrm>
          <a:prstGeom prst="rect">
            <a:avLst/>
          </a:prstGeom>
          <a:noFill/>
        </p:spPr>
        <p:txBody>
          <a:bodyPr wrap="square" rtlCol="0">
            <a:spAutoFit/>
          </a:bodyPr>
          <a:lstStyle/>
          <a:p>
            <a:pPr algn="ctr"/>
            <a:r>
              <a:rPr lang="en-US" sz="2000" i="1" dirty="0">
                <a:solidFill>
                  <a:srgbClr val="FF0000"/>
                </a:solidFill>
              </a:rPr>
              <a:t>After today’s activity you should be modifying your hisat2 script! </a:t>
            </a:r>
          </a:p>
        </p:txBody>
      </p:sp>
    </p:spTree>
    <p:extLst>
      <p:ext uri="{BB962C8B-B14F-4D97-AF65-F5344CB8AC3E}">
        <p14:creationId xmlns:p14="http://schemas.microsoft.com/office/powerpoint/2010/main" val="1247815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885" rIns="0" bIns="0" rtlCol="0">
            <a:spAutoFit/>
          </a:bodyPr>
          <a:lstStyle/>
          <a:p>
            <a:pPr marL="1955164" marR="5080" indent="-963930">
              <a:lnSpc>
                <a:spcPts val="4680"/>
              </a:lnSpc>
              <a:spcBef>
                <a:spcPts val="755"/>
              </a:spcBef>
            </a:pPr>
            <a:r>
              <a:rPr sz="4000" spc="-5" dirty="0"/>
              <a:t>Why retain stranded </a:t>
            </a:r>
            <a:r>
              <a:rPr sz="4000" spc="-1210" dirty="0"/>
              <a:t> </a:t>
            </a:r>
            <a:r>
              <a:rPr sz="4000" spc="-5" dirty="0"/>
              <a:t>information?</a:t>
            </a:r>
          </a:p>
        </p:txBody>
      </p:sp>
      <p:sp>
        <p:nvSpPr>
          <p:cNvPr id="3" name="object 3"/>
          <p:cNvSpPr txBox="1"/>
          <p:nvPr/>
        </p:nvSpPr>
        <p:spPr>
          <a:xfrm>
            <a:off x="707390" y="1807971"/>
            <a:ext cx="7661275" cy="3384550"/>
          </a:xfrm>
          <a:prstGeom prst="rect">
            <a:avLst/>
          </a:prstGeom>
        </p:spPr>
        <p:txBody>
          <a:bodyPr vert="horz" wrap="square" lIns="0" tIns="63500" rIns="0" bIns="0" rtlCol="0">
            <a:spAutoFit/>
          </a:bodyPr>
          <a:lstStyle/>
          <a:p>
            <a:pPr marL="241300" marR="45720" indent="-228600">
              <a:lnSpc>
                <a:spcPts val="3000"/>
              </a:lnSpc>
              <a:spcBef>
                <a:spcPts val="500"/>
              </a:spcBef>
              <a:buFont typeface="Arial"/>
              <a:buChar char="•"/>
              <a:tabLst>
                <a:tab pos="241300" algn="l"/>
              </a:tabLst>
            </a:pPr>
            <a:r>
              <a:rPr sz="2800" dirty="0">
                <a:latin typeface="Times New Roman"/>
                <a:cs typeface="Times New Roman"/>
              </a:rPr>
              <a:t>It </a:t>
            </a:r>
            <a:r>
              <a:rPr sz="2800" spc="-5" dirty="0">
                <a:latin typeface="Times New Roman"/>
                <a:cs typeface="Times New Roman"/>
              </a:rPr>
              <a:t>makes sense to begin with the most information </a:t>
            </a:r>
            <a:r>
              <a:rPr sz="2800" dirty="0">
                <a:latin typeface="Times New Roman"/>
                <a:cs typeface="Times New Roman"/>
              </a:rPr>
              <a:t> </a:t>
            </a:r>
            <a:r>
              <a:rPr sz="2800" spc="-5" dirty="0">
                <a:latin typeface="Times New Roman"/>
                <a:cs typeface="Times New Roman"/>
              </a:rPr>
              <a:t>possible</a:t>
            </a:r>
            <a:r>
              <a:rPr sz="2800" spc="-15" dirty="0">
                <a:latin typeface="Times New Roman"/>
                <a:cs typeface="Times New Roman"/>
              </a:rPr>
              <a:t> </a:t>
            </a:r>
            <a:r>
              <a:rPr sz="2800" dirty="0">
                <a:latin typeface="Times New Roman"/>
                <a:cs typeface="Times New Roman"/>
              </a:rPr>
              <a:t>– </a:t>
            </a:r>
            <a:r>
              <a:rPr sz="2800" spc="-5" dirty="0">
                <a:latin typeface="Times New Roman"/>
                <a:cs typeface="Times New Roman"/>
              </a:rPr>
              <a:t>even</a:t>
            </a:r>
            <a:r>
              <a:rPr sz="2800" dirty="0">
                <a:latin typeface="Times New Roman"/>
                <a:cs typeface="Times New Roman"/>
              </a:rPr>
              <a:t> </a:t>
            </a:r>
            <a:r>
              <a:rPr sz="2800" spc="-5" dirty="0">
                <a:latin typeface="Times New Roman"/>
                <a:cs typeface="Times New Roman"/>
              </a:rPr>
              <a:t>if</a:t>
            </a:r>
            <a:r>
              <a:rPr sz="2800" spc="5" dirty="0">
                <a:latin typeface="Times New Roman"/>
                <a:cs typeface="Times New Roman"/>
              </a:rPr>
              <a:t> </a:t>
            </a:r>
            <a:r>
              <a:rPr sz="2800" spc="-10" dirty="0">
                <a:latin typeface="Times New Roman"/>
                <a:cs typeface="Times New Roman"/>
              </a:rPr>
              <a:t>immediately</a:t>
            </a:r>
            <a:r>
              <a:rPr sz="2800" dirty="0">
                <a:latin typeface="Times New Roman"/>
                <a:cs typeface="Times New Roman"/>
              </a:rPr>
              <a:t> </a:t>
            </a:r>
            <a:r>
              <a:rPr sz="2800" spc="-5" dirty="0">
                <a:latin typeface="Times New Roman"/>
                <a:cs typeface="Times New Roman"/>
              </a:rPr>
              <a:t>that is </a:t>
            </a:r>
            <a:r>
              <a:rPr sz="2800" dirty="0">
                <a:latin typeface="Times New Roman"/>
                <a:cs typeface="Times New Roman"/>
              </a:rPr>
              <a:t>not</a:t>
            </a:r>
            <a:r>
              <a:rPr sz="2800" spc="-5" dirty="0">
                <a:latin typeface="Times New Roman"/>
                <a:cs typeface="Times New Roman"/>
              </a:rPr>
              <a:t> </a:t>
            </a:r>
            <a:r>
              <a:rPr sz="2800" dirty="0">
                <a:latin typeface="Times New Roman"/>
                <a:cs typeface="Times New Roman"/>
              </a:rPr>
              <a:t>of</a:t>
            </a:r>
            <a:r>
              <a:rPr sz="2800" spc="5" dirty="0">
                <a:latin typeface="Times New Roman"/>
                <a:cs typeface="Times New Roman"/>
              </a:rPr>
              <a:t> </a:t>
            </a:r>
            <a:r>
              <a:rPr sz="2800" spc="-5" dirty="0">
                <a:latin typeface="Times New Roman"/>
                <a:cs typeface="Times New Roman"/>
              </a:rPr>
              <a:t>interest</a:t>
            </a:r>
            <a:endParaRPr sz="2800" dirty="0">
              <a:latin typeface="Times New Roman"/>
              <a:cs typeface="Times New Roman"/>
            </a:endParaRPr>
          </a:p>
          <a:p>
            <a:pPr marL="241300" marR="95250" indent="-228600">
              <a:lnSpc>
                <a:spcPct val="90700"/>
              </a:lnSpc>
              <a:spcBef>
                <a:spcPts val="919"/>
              </a:spcBef>
              <a:buFont typeface="Arial"/>
              <a:buChar char="•"/>
              <a:tabLst>
                <a:tab pos="241300" algn="l"/>
              </a:tabLst>
            </a:pPr>
            <a:r>
              <a:rPr sz="2800" spc="-5" dirty="0">
                <a:latin typeface="Times New Roman"/>
                <a:cs typeface="Times New Roman"/>
              </a:rPr>
              <a:t>Useful</a:t>
            </a:r>
            <a:r>
              <a:rPr sz="2800" spc="-10" dirty="0">
                <a:latin typeface="Times New Roman"/>
                <a:cs typeface="Times New Roman"/>
              </a:rPr>
              <a:t> </a:t>
            </a:r>
            <a:r>
              <a:rPr sz="2800" dirty="0">
                <a:latin typeface="Times New Roman"/>
                <a:cs typeface="Times New Roman"/>
              </a:rPr>
              <a:t>for</a:t>
            </a:r>
            <a:r>
              <a:rPr sz="2800" spc="5" dirty="0">
                <a:latin typeface="Times New Roman"/>
                <a:cs typeface="Times New Roman"/>
              </a:rPr>
              <a:t> </a:t>
            </a:r>
            <a:r>
              <a:rPr sz="2800" spc="-5" dirty="0">
                <a:latin typeface="Times New Roman"/>
                <a:cs typeface="Times New Roman"/>
              </a:rPr>
              <a:t>identifying</a:t>
            </a:r>
            <a:r>
              <a:rPr sz="2800" dirty="0">
                <a:latin typeface="Times New Roman"/>
                <a:cs typeface="Times New Roman"/>
              </a:rPr>
              <a:t> </a:t>
            </a:r>
            <a:r>
              <a:rPr sz="2800" spc="-5" dirty="0">
                <a:latin typeface="Times New Roman"/>
                <a:cs typeface="Times New Roman"/>
              </a:rPr>
              <a:t>antisense</a:t>
            </a:r>
            <a:r>
              <a:rPr sz="2800" spc="-10" dirty="0">
                <a:latin typeface="Times New Roman"/>
                <a:cs typeface="Times New Roman"/>
              </a:rPr>
              <a:t> </a:t>
            </a:r>
            <a:r>
              <a:rPr sz="2800" spc="-5" dirty="0">
                <a:latin typeface="Times New Roman"/>
                <a:cs typeface="Times New Roman"/>
              </a:rPr>
              <a:t>transcripts, </a:t>
            </a:r>
            <a:r>
              <a:rPr sz="2800" dirty="0">
                <a:latin typeface="Times New Roman"/>
                <a:cs typeface="Times New Roman"/>
              </a:rPr>
              <a:t> </a:t>
            </a:r>
            <a:r>
              <a:rPr sz="2800" spc="-5" dirty="0">
                <a:latin typeface="Times New Roman"/>
                <a:cs typeface="Times New Roman"/>
              </a:rPr>
              <a:t>mapping splicing events, and detecting overlapping </a:t>
            </a:r>
            <a:r>
              <a:rPr sz="2800" spc="-685" dirty="0">
                <a:latin typeface="Times New Roman"/>
                <a:cs typeface="Times New Roman"/>
              </a:rPr>
              <a:t> </a:t>
            </a:r>
            <a:r>
              <a:rPr sz="2800" spc="-5" dirty="0">
                <a:latin typeface="Times New Roman"/>
                <a:cs typeface="Times New Roman"/>
              </a:rPr>
              <a:t>transcripts.</a:t>
            </a:r>
            <a:endParaRPr sz="2800" dirty="0">
              <a:latin typeface="Times New Roman"/>
              <a:cs typeface="Times New Roman"/>
            </a:endParaRPr>
          </a:p>
          <a:p>
            <a:pPr marL="241300" marR="5080" indent="-228600">
              <a:lnSpc>
                <a:spcPts val="3000"/>
              </a:lnSpc>
              <a:spcBef>
                <a:spcPts val="1025"/>
              </a:spcBef>
              <a:buFont typeface="Arial"/>
              <a:buChar char="•"/>
              <a:tabLst>
                <a:tab pos="241300" algn="l"/>
              </a:tabLst>
            </a:pPr>
            <a:r>
              <a:rPr sz="2800" spc="-5" dirty="0">
                <a:latin typeface="Times New Roman"/>
                <a:cs typeface="Times New Roman"/>
              </a:rPr>
              <a:t>They are</a:t>
            </a:r>
            <a:r>
              <a:rPr sz="2800" spc="-10" dirty="0">
                <a:latin typeface="Times New Roman"/>
                <a:cs typeface="Times New Roman"/>
              </a:rPr>
              <a:t> </a:t>
            </a:r>
            <a:r>
              <a:rPr sz="2800" spc="-5" dirty="0">
                <a:latin typeface="Times New Roman"/>
                <a:cs typeface="Times New Roman"/>
              </a:rPr>
              <a:t>commonly</a:t>
            </a:r>
            <a:r>
              <a:rPr sz="2800" dirty="0">
                <a:latin typeface="Times New Roman"/>
                <a:cs typeface="Times New Roman"/>
              </a:rPr>
              <a:t> </a:t>
            </a:r>
            <a:r>
              <a:rPr sz="2800" spc="-5" dirty="0">
                <a:latin typeface="Times New Roman"/>
                <a:cs typeface="Times New Roman"/>
              </a:rPr>
              <a:t>used in</a:t>
            </a:r>
            <a:r>
              <a:rPr sz="2800" dirty="0">
                <a:latin typeface="Times New Roman"/>
                <a:cs typeface="Times New Roman"/>
              </a:rPr>
              <a:t> </a:t>
            </a:r>
            <a:r>
              <a:rPr sz="2800" spc="-5" dirty="0">
                <a:latin typeface="Times New Roman"/>
                <a:cs typeface="Times New Roman"/>
              </a:rPr>
              <a:t>studies </a:t>
            </a:r>
            <a:r>
              <a:rPr sz="2800" dirty="0">
                <a:latin typeface="Times New Roman"/>
                <a:cs typeface="Times New Roman"/>
              </a:rPr>
              <a:t>of </a:t>
            </a:r>
            <a:r>
              <a:rPr sz="2800" spc="5" dirty="0">
                <a:latin typeface="Times New Roman"/>
                <a:cs typeface="Times New Roman"/>
              </a:rPr>
              <a:t> </a:t>
            </a:r>
            <a:r>
              <a:rPr sz="2800" spc="-5" dirty="0">
                <a:latin typeface="Times New Roman"/>
                <a:cs typeface="Times New Roman"/>
              </a:rPr>
              <a:t>transcriptomics, gene expression analysis, and RNA </a:t>
            </a:r>
            <a:r>
              <a:rPr sz="2800" spc="-685" dirty="0">
                <a:latin typeface="Times New Roman"/>
                <a:cs typeface="Times New Roman"/>
              </a:rPr>
              <a:t> </a:t>
            </a:r>
            <a:r>
              <a:rPr sz="2800" spc="-5" dirty="0">
                <a:latin typeface="Times New Roman"/>
                <a:cs typeface="Times New Roman"/>
              </a:rPr>
              <a:t>editing, and</a:t>
            </a:r>
            <a:r>
              <a:rPr sz="2800" dirty="0">
                <a:latin typeface="Times New Roman"/>
                <a:cs typeface="Times New Roman"/>
              </a:rPr>
              <a:t> </a:t>
            </a:r>
            <a:r>
              <a:rPr sz="2800" i="1" dirty="0">
                <a:latin typeface="Times New Roman"/>
                <a:cs typeface="Times New Roman"/>
              </a:rPr>
              <a:t>de</a:t>
            </a:r>
            <a:r>
              <a:rPr sz="2800" i="1" spc="-15" dirty="0">
                <a:latin typeface="Times New Roman"/>
                <a:cs typeface="Times New Roman"/>
              </a:rPr>
              <a:t> </a:t>
            </a:r>
            <a:r>
              <a:rPr sz="2800" i="1" spc="-5" dirty="0">
                <a:latin typeface="Times New Roman"/>
                <a:cs typeface="Times New Roman"/>
              </a:rPr>
              <a:t>novo</a:t>
            </a:r>
            <a:r>
              <a:rPr sz="2800" i="1" dirty="0">
                <a:latin typeface="Times New Roman"/>
                <a:cs typeface="Times New Roman"/>
              </a:rPr>
              <a:t> </a:t>
            </a:r>
            <a:r>
              <a:rPr sz="2800" spc="-25" dirty="0">
                <a:latin typeface="Times New Roman"/>
                <a:cs typeface="Times New Roman"/>
              </a:rPr>
              <a:t>assembly.</a:t>
            </a:r>
            <a:endParaRPr sz="28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7912" y="336803"/>
            <a:ext cx="6988175" cy="653897"/>
          </a:xfrm>
          <a:prstGeom prst="rect">
            <a:avLst/>
          </a:prstGeom>
        </p:spPr>
        <p:txBody>
          <a:bodyPr vert="horz" wrap="square" lIns="0" tIns="95885" rIns="0" bIns="0" rtlCol="0">
            <a:spAutoFit/>
          </a:bodyPr>
          <a:lstStyle/>
          <a:p>
            <a:pPr marL="137795" marR="5080" indent="387985" algn="ctr">
              <a:lnSpc>
                <a:spcPts val="4680"/>
              </a:lnSpc>
              <a:spcBef>
                <a:spcPts val="755"/>
              </a:spcBef>
            </a:pPr>
            <a:r>
              <a:rPr sz="3600" spc="-5" dirty="0"/>
              <a:t>Three </a:t>
            </a:r>
            <a:r>
              <a:rPr lang="en-US" sz="3600" spc="-5" dirty="0"/>
              <a:t>possible </a:t>
            </a:r>
            <a:r>
              <a:rPr sz="3600" spc="-5" dirty="0"/>
              <a:t>scenarios</a:t>
            </a:r>
          </a:p>
        </p:txBody>
      </p:sp>
      <p:sp>
        <p:nvSpPr>
          <p:cNvPr id="3" name="object 3"/>
          <p:cNvSpPr txBox="1"/>
          <p:nvPr/>
        </p:nvSpPr>
        <p:spPr>
          <a:xfrm>
            <a:off x="707390" y="1807971"/>
            <a:ext cx="7399020" cy="3213700"/>
          </a:xfrm>
          <a:prstGeom prst="rect">
            <a:avLst/>
          </a:prstGeom>
        </p:spPr>
        <p:txBody>
          <a:bodyPr vert="horz" wrap="square" lIns="0" tIns="63500" rIns="0" bIns="0" rtlCol="0">
            <a:spAutoFit/>
          </a:bodyPr>
          <a:lstStyle/>
          <a:p>
            <a:pPr marL="241300" marR="5080" indent="-228600">
              <a:lnSpc>
                <a:spcPts val="3000"/>
              </a:lnSpc>
              <a:spcBef>
                <a:spcPts val="500"/>
              </a:spcBef>
              <a:buFont typeface="Arial"/>
              <a:buChar char="•"/>
              <a:tabLst>
                <a:tab pos="241300" algn="l"/>
              </a:tabLst>
            </a:pPr>
            <a:r>
              <a:rPr sz="2800" dirty="0">
                <a:latin typeface="Times New Roman"/>
                <a:cs typeface="Times New Roman"/>
              </a:rPr>
              <a:t>Forward </a:t>
            </a:r>
            <a:r>
              <a:rPr sz="2800" spc="-5" dirty="0">
                <a:latin typeface="Times New Roman"/>
                <a:cs typeface="Times New Roman"/>
              </a:rPr>
              <a:t>(</a:t>
            </a:r>
            <a:r>
              <a:rPr lang="en-US" sz="2800" spc="-5" dirty="0">
                <a:latin typeface="Times New Roman"/>
                <a:cs typeface="Times New Roman"/>
              </a:rPr>
              <a:t>sense</a:t>
            </a:r>
            <a:r>
              <a:rPr sz="2800" spc="-5" dirty="0">
                <a:latin typeface="Times New Roman"/>
                <a:cs typeface="Times New Roman"/>
              </a:rPr>
              <a:t>) </a:t>
            </a:r>
            <a:r>
              <a:rPr sz="2800" dirty="0">
                <a:latin typeface="Times New Roman"/>
                <a:cs typeface="Times New Roman"/>
              </a:rPr>
              <a:t>– </a:t>
            </a:r>
            <a:r>
              <a:rPr sz="2800" spc="-5" dirty="0">
                <a:latin typeface="Times New Roman"/>
                <a:cs typeface="Times New Roman"/>
              </a:rPr>
              <a:t>reads resemble the </a:t>
            </a:r>
            <a:r>
              <a:rPr lang="en-US" sz="2800" spc="-5" dirty="0">
                <a:latin typeface="Times New Roman"/>
                <a:cs typeface="Times New Roman"/>
              </a:rPr>
              <a:t>DNA </a:t>
            </a:r>
            <a:r>
              <a:rPr sz="2800" spc="-685" dirty="0">
                <a:latin typeface="Times New Roman"/>
                <a:cs typeface="Times New Roman"/>
              </a:rPr>
              <a:t> </a:t>
            </a:r>
            <a:r>
              <a:rPr sz="2800" spc="-5" dirty="0">
                <a:latin typeface="Times New Roman"/>
                <a:cs typeface="Times New Roman"/>
              </a:rPr>
              <a:t>sequence</a:t>
            </a:r>
            <a:endParaRPr lang="en-US" sz="2800" spc="-5" dirty="0">
              <a:latin typeface="Times New Roman"/>
              <a:cs typeface="Times New Roman"/>
            </a:endParaRPr>
          </a:p>
          <a:p>
            <a:pPr marL="241300" marR="5080" indent="-228600">
              <a:lnSpc>
                <a:spcPts val="3000"/>
              </a:lnSpc>
              <a:spcBef>
                <a:spcPts val="500"/>
              </a:spcBef>
              <a:buFont typeface="Arial"/>
              <a:buChar char="•"/>
              <a:tabLst>
                <a:tab pos="241300" algn="l"/>
              </a:tabLst>
            </a:pPr>
            <a:endParaRPr sz="2800" dirty="0">
              <a:latin typeface="Times New Roman"/>
              <a:cs typeface="Times New Roman"/>
            </a:endParaRPr>
          </a:p>
          <a:p>
            <a:pPr marL="241300" marR="1239520" indent="-228600">
              <a:lnSpc>
                <a:spcPts val="3000"/>
              </a:lnSpc>
              <a:spcBef>
                <a:spcPts val="1005"/>
              </a:spcBef>
              <a:buFont typeface="Arial"/>
              <a:buChar char="•"/>
              <a:tabLst>
                <a:tab pos="241300" algn="l"/>
              </a:tabLst>
            </a:pPr>
            <a:r>
              <a:rPr sz="2800" spc="-5" dirty="0">
                <a:latin typeface="Times New Roman"/>
                <a:cs typeface="Times New Roman"/>
              </a:rPr>
              <a:t>Reverse (</a:t>
            </a:r>
            <a:r>
              <a:rPr lang="en-US" sz="2800" spc="-5" dirty="0">
                <a:latin typeface="Times New Roman"/>
                <a:cs typeface="Times New Roman"/>
              </a:rPr>
              <a:t>antisense</a:t>
            </a:r>
            <a:r>
              <a:rPr sz="2800" spc="-5" dirty="0">
                <a:latin typeface="Times New Roman"/>
                <a:cs typeface="Times New Roman"/>
              </a:rPr>
              <a:t>) </a:t>
            </a:r>
            <a:r>
              <a:rPr sz="2800" dirty="0">
                <a:latin typeface="Times New Roman"/>
                <a:cs typeface="Times New Roman"/>
              </a:rPr>
              <a:t>– </a:t>
            </a:r>
            <a:r>
              <a:rPr sz="2800" spc="-5" dirty="0">
                <a:latin typeface="Times New Roman"/>
                <a:cs typeface="Times New Roman"/>
              </a:rPr>
              <a:t>reads resemble the </a:t>
            </a:r>
            <a:r>
              <a:rPr sz="2800" spc="-685" dirty="0">
                <a:latin typeface="Times New Roman"/>
                <a:cs typeface="Times New Roman"/>
              </a:rPr>
              <a:t> </a:t>
            </a:r>
            <a:r>
              <a:rPr sz="2800" spc="-5" dirty="0">
                <a:latin typeface="Times New Roman"/>
                <a:cs typeface="Times New Roman"/>
              </a:rPr>
              <a:t>complementary sequence</a:t>
            </a:r>
            <a:endParaRPr lang="en-US" sz="2800" spc="-5" dirty="0">
              <a:latin typeface="Times New Roman"/>
              <a:cs typeface="Times New Roman"/>
            </a:endParaRPr>
          </a:p>
          <a:p>
            <a:pPr marL="12700" marR="1239520">
              <a:lnSpc>
                <a:spcPts val="3000"/>
              </a:lnSpc>
              <a:spcBef>
                <a:spcPts val="1005"/>
              </a:spcBef>
              <a:tabLst>
                <a:tab pos="241300" algn="l"/>
              </a:tabLst>
            </a:pPr>
            <a:endParaRPr sz="2800" dirty="0">
              <a:latin typeface="Times New Roman"/>
              <a:cs typeface="Times New Roman"/>
            </a:endParaRPr>
          </a:p>
          <a:p>
            <a:pPr marL="241300" indent="-228600">
              <a:lnSpc>
                <a:spcPct val="100000"/>
              </a:lnSpc>
              <a:spcBef>
                <a:spcPts val="680"/>
              </a:spcBef>
              <a:buFont typeface="Arial"/>
              <a:buChar char="•"/>
              <a:tabLst>
                <a:tab pos="241300" algn="l"/>
              </a:tabLst>
            </a:pPr>
            <a:r>
              <a:rPr sz="2800" spc="-5" dirty="0">
                <a:latin typeface="Times New Roman"/>
                <a:cs typeface="Times New Roman"/>
              </a:rPr>
              <a:t>Unstranded</a:t>
            </a:r>
            <a:endParaRPr sz="28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22747" y="1468074"/>
            <a:ext cx="6156325" cy="410845"/>
          </a:xfrm>
          <a:custGeom>
            <a:avLst/>
            <a:gdLst/>
            <a:ahLst/>
            <a:cxnLst/>
            <a:rect l="l" t="t" r="r" b="b"/>
            <a:pathLst>
              <a:path w="6156325" h="410844">
                <a:moveTo>
                  <a:pt x="0" y="102705"/>
                </a:moveTo>
                <a:lnTo>
                  <a:pt x="5950798" y="102705"/>
                </a:lnTo>
                <a:lnTo>
                  <a:pt x="5950798" y="0"/>
                </a:lnTo>
                <a:lnTo>
                  <a:pt x="6156200" y="205411"/>
                </a:lnTo>
                <a:lnTo>
                  <a:pt x="5950798" y="410817"/>
                </a:lnTo>
                <a:lnTo>
                  <a:pt x="5950798" y="308111"/>
                </a:lnTo>
                <a:lnTo>
                  <a:pt x="0" y="308111"/>
                </a:lnTo>
                <a:lnTo>
                  <a:pt x="0" y="102705"/>
                </a:lnTo>
                <a:close/>
              </a:path>
            </a:pathLst>
          </a:custGeom>
          <a:solidFill>
            <a:schemeClr val="accent2"/>
          </a:solidFill>
          <a:ln w="28575">
            <a:solidFill>
              <a:schemeClr val="tx1"/>
            </a:solidFill>
          </a:ln>
        </p:spPr>
        <p:txBody>
          <a:bodyPr wrap="square" lIns="0" tIns="0" rIns="0" bIns="0" rtlCol="0"/>
          <a:lstStyle/>
          <a:p>
            <a:endParaRPr/>
          </a:p>
        </p:txBody>
      </p:sp>
      <p:sp>
        <p:nvSpPr>
          <p:cNvPr id="3" name="object 3"/>
          <p:cNvSpPr txBox="1"/>
          <p:nvPr/>
        </p:nvSpPr>
        <p:spPr>
          <a:xfrm>
            <a:off x="303313" y="970962"/>
            <a:ext cx="321945"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5’</a:t>
            </a:r>
            <a:endParaRPr sz="2800">
              <a:latin typeface="Times New Roman"/>
              <a:cs typeface="Times New Roman"/>
            </a:endParaRPr>
          </a:p>
        </p:txBody>
      </p:sp>
      <p:sp>
        <p:nvSpPr>
          <p:cNvPr id="4" name="object 4"/>
          <p:cNvSpPr txBox="1"/>
          <p:nvPr/>
        </p:nvSpPr>
        <p:spPr>
          <a:xfrm>
            <a:off x="6757686" y="1050209"/>
            <a:ext cx="321945"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3’</a:t>
            </a:r>
            <a:endParaRPr sz="2800">
              <a:latin typeface="Times New Roman"/>
              <a:cs typeface="Times New Roman"/>
            </a:endParaRPr>
          </a:p>
        </p:txBody>
      </p:sp>
      <p:sp>
        <p:nvSpPr>
          <p:cNvPr id="5" name="object 5"/>
          <p:cNvSpPr/>
          <p:nvPr/>
        </p:nvSpPr>
        <p:spPr>
          <a:xfrm>
            <a:off x="2831394" y="3821537"/>
            <a:ext cx="6212205" cy="410845"/>
          </a:xfrm>
          <a:custGeom>
            <a:avLst/>
            <a:gdLst/>
            <a:ahLst/>
            <a:cxnLst/>
            <a:rect l="l" t="t" r="r" b="b"/>
            <a:pathLst>
              <a:path w="6212205" h="410844">
                <a:moveTo>
                  <a:pt x="6212160" y="308109"/>
                </a:moveTo>
                <a:lnTo>
                  <a:pt x="205408" y="308109"/>
                </a:lnTo>
                <a:lnTo>
                  <a:pt x="205408" y="410817"/>
                </a:lnTo>
                <a:lnTo>
                  <a:pt x="0" y="205408"/>
                </a:lnTo>
                <a:lnTo>
                  <a:pt x="205408" y="0"/>
                </a:lnTo>
                <a:lnTo>
                  <a:pt x="205408" y="102700"/>
                </a:lnTo>
                <a:lnTo>
                  <a:pt x="6212160" y="102700"/>
                </a:lnTo>
                <a:lnTo>
                  <a:pt x="6212160" y="308109"/>
                </a:lnTo>
                <a:close/>
              </a:path>
            </a:pathLst>
          </a:custGeom>
          <a:solidFill>
            <a:srgbClr val="00B0F0"/>
          </a:solidFill>
          <a:ln w="28575">
            <a:solidFill>
              <a:srgbClr val="2F528F"/>
            </a:solidFill>
          </a:ln>
        </p:spPr>
        <p:txBody>
          <a:bodyPr wrap="square" lIns="0" tIns="0" rIns="0" bIns="0" rtlCol="0"/>
          <a:lstStyle/>
          <a:p>
            <a:endParaRPr/>
          </a:p>
        </p:txBody>
      </p:sp>
      <p:sp>
        <p:nvSpPr>
          <p:cNvPr id="6" name="object 6"/>
          <p:cNvSpPr txBox="1">
            <a:spLocks noGrp="1"/>
          </p:cNvSpPr>
          <p:nvPr>
            <p:ph type="title"/>
          </p:nvPr>
        </p:nvSpPr>
        <p:spPr>
          <a:xfrm>
            <a:off x="1996797" y="827705"/>
            <a:ext cx="376555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Times New Roman"/>
                <a:cs typeface="Times New Roman"/>
              </a:rPr>
              <a:t>DNA,</a:t>
            </a:r>
            <a:r>
              <a:rPr sz="2800" spc="-30" dirty="0">
                <a:latin typeface="Times New Roman"/>
                <a:cs typeface="Times New Roman"/>
              </a:rPr>
              <a:t> </a:t>
            </a:r>
            <a:r>
              <a:rPr sz="2800" spc="-5" dirty="0">
                <a:latin typeface="Times New Roman"/>
                <a:cs typeface="Times New Roman"/>
              </a:rPr>
              <a:t>coding/sense</a:t>
            </a:r>
            <a:r>
              <a:rPr sz="2800" spc="-40" dirty="0">
                <a:latin typeface="Times New Roman"/>
                <a:cs typeface="Times New Roman"/>
              </a:rPr>
              <a:t> </a:t>
            </a:r>
            <a:r>
              <a:rPr sz="2800" spc="-5" dirty="0">
                <a:latin typeface="Times New Roman"/>
                <a:cs typeface="Times New Roman"/>
              </a:rPr>
              <a:t>strand</a:t>
            </a:r>
            <a:endParaRPr sz="2800">
              <a:latin typeface="Times New Roman"/>
              <a:cs typeface="Times New Roman"/>
            </a:endParaRPr>
          </a:p>
        </p:txBody>
      </p:sp>
      <p:sp>
        <p:nvSpPr>
          <p:cNvPr id="7" name="object 7"/>
          <p:cNvSpPr txBox="1"/>
          <p:nvPr/>
        </p:nvSpPr>
        <p:spPr>
          <a:xfrm>
            <a:off x="3600910" y="3335557"/>
            <a:ext cx="483108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Times New Roman"/>
                <a:cs typeface="Times New Roman"/>
              </a:rPr>
              <a:t>DNA,</a:t>
            </a:r>
            <a:r>
              <a:rPr sz="2800" spc="-25" dirty="0">
                <a:latin typeface="Times New Roman"/>
                <a:cs typeface="Times New Roman"/>
              </a:rPr>
              <a:t> </a:t>
            </a:r>
            <a:r>
              <a:rPr sz="2800" spc="-5" dirty="0">
                <a:latin typeface="Times New Roman"/>
                <a:cs typeface="Times New Roman"/>
              </a:rPr>
              <a:t>noncoding/antisense</a:t>
            </a:r>
            <a:r>
              <a:rPr sz="2800" spc="-30" dirty="0">
                <a:latin typeface="Times New Roman"/>
                <a:cs typeface="Times New Roman"/>
              </a:rPr>
              <a:t> </a:t>
            </a:r>
            <a:r>
              <a:rPr sz="2800" spc="-5" dirty="0">
                <a:latin typeface="Times New Roman"/>
                <a:cs typeface="Times New Roman"/>
              </a:rPr>
              <a:t>strand</a:t>
            </a:r>
            <a:endParaRPr sz="2800">
              <a:latin typeface="Times New Roman"/>
              <a:cs typeface="Times New Roman"/>
            </a:endParaRPr>
          </a:p>
        </p:txBody>
      </p:sp>
      <p:grpSp>
        <p:nvGrpSpPr>
          <p:cNvPr id="8" name="object 8"/>
          <p:cNvGrpSpPr/>
          <p:nvPr/>
        </p:nvGrpSpPr>
        <p:grpSpPr>
          <a:xfrm>
            <a:off x="7323739" y="2301209"/>
            <a:ext cx="1823085" cy="594360"/>
            <a:chOff x="7272528" y="3642359"/>
            <a:chExt cx="1823085" cy="594360"/>
          </a:xfrm>
        </p:grpSpPr>
        <p:pic>
          <p:nvPicPr>
            <p:cNvPr id="9" name="object 9"/>
            <p:cNvPicPr/>
            <p:nvPr/>
          </p:nvPicPr>
          <p:blipFill>
            <a:blip r:embed="rId2" cstate="print"/>
            <a:stretch>
              <a:fillRect/>
            </a:stretch>
          </p:blipFill>
          <p:spPr>
            <a:xfrm>
              <a:off x="7272528" y="3678935"/>
              <a:ext cx="1822703" cy="460248"/>
            </a:xfrm>
            <a:prstGeom prst="rect">
              <a:avLst/>
            </a:prstGeom>
          </p:spPr>
        </p:pic>
        <p:pic>
          <p:nvPicPr>
            <p:cNvPr id="10" name="object 10"/>
            <p:cNvPicPr/>
            <p:nvPr/>
          </p:nvPicPr>
          <p:blipFill>
            <a:blip r:embed="rId3" cstate="print"/>
            <a:stretch>
              <a:fillRect/>
            </a:stretch>
          </p:blipFill>
          <p:spPr>
            <a:xfrm>
              <a:off x="7647432" y="3642359"/>
              <a:ext cx="1075944" cy="594359"/>
            </a:xfrm>
            <a:prstGeom prst="rect">
              <a:avLst/>
            </a:prstGeom>
          </p:spPr>
        </p:pic>
      </p:grpSp>
      <p:pic>
        <p:nvPicPr>
          <p:cNvPr id="11" name="object 11"/>
          <p:cNvPicPr/>
          <p:nvPr/>
        </p:nvPicPr>
        <p:blipFill>
          <a:blip r:embed="rId4" cstate="print"/>
          <a:stretch>
            <a:fillRect/>
          </a:stretch>
        </p:blipFill>
        <p:spPr>
          <a:xfrm>
            <a:off x="7383902" y="2376330"/>
            <a:ext cx="1703627" cy="344309"/>
          </a:xfrm>
          <a:prstGeom prst="rect">
            <a:avLst/>
          </a:prstGeom>
        </p:spPr>
      </p:pic>
      <p:grpSp>
        <p:nvGrpSpPr>
          <p:cNvPr id="12" name="object 12"/>
          <p:cNvGrpSpPr/>
          <p:nvPr/>
        </p:nvGrpSpPr>
        <p:grpSpPr>
          <a:xfrm>
            <a:off x="2861466" y="2301209"/>
            <a:ext cx="1819910" cy="594360"/>
            <a:chOff x="2810255" y="3642359"/>
            <a:chExt cx="1819910" cy="594360"/>
          </a:xfrm>
        </p:grpSpPr>
        <p:pic>
          <p:nvPicPr>
            <p:cNvPr id="13" name="object 13"/>
            <p:cNvPicPr/>
            <p:nvPr/>
          </p:nvPicPr>
          <p:blipFill>
            <a:blip r:embed="rId5" cstate="print"/>
            <a:stretch>
              <a:fillRect/>
            </a:stretch>
          </p:blipFill>
          <p:spPr>
            <a:xfrm>
              <a:off x="2810255" y="3678935"/>
              <a:ext cx="1819656" cy="460248"/>
            </a:xfrm>
            <a:prstGeom prst="rect">
              <a:avLst/>
            </a:prstGeom>
          </p:spPr>
        </p:pic>
        <p:pic>
          <p:nvPicPr>
            <p:cNvPr id="14" name="object 14"/>
            <p:cNvPicPr/>
            <p:nvPr/>
          </p:nvPicPr>
          <p:blipFill>
            <a:blip r:embed="rId6" cstate="print"/>
            <a:stretch>
              <a:fillRect/>
            </a:stretch>
          </p:blipFill>
          <p:spPr>
            <a:xfrm>
              <a:off x="3182111" y="3642359"/>
              <a:ext cx="1075943" cy="594359"/>
            </a:xfrm>
            <a:prstGeom prst="rect">
              <a:avLst/>
            </a:prstGeom>
          </p:spPr>
        </p:pic>
      </p:grpSp>
      <p:pic>
        <p:nvPicPr>
          <p:cNvPr id="15" name="object 15"/>
          <p:cNvPicPr/>
          <p:nvPr/>
        </p:nvPicPr>
        <p:blipFill>
          <a:blip r:embed="rId7" cstate="print"/>
          <a:stretch>
            <a:fillRect/>
          </a:stretch>
        </p:blipFill>
        <p:spPr>
          <a:xfrm>
            <a:off x="2919583" y="2376330"/>
            <a:ext cx="1703627" cy="344309"/>
          </a:xfrm>
          <a:prstGeom prst="rect">
            <a:avLst/>
          </a:prstGeom>
        </p:spPr>
      </p:pic>
      <p:graphicFrame>
        <p:nvGraphicFramePr>
          <p:cNvPr id="16" name="object 16"/>
          <p:cNvGraphicFramePr>
            <a:graphicFrameLocks noGrp="1"/>
          </p:cNvGraphicFramePr>
          <p:nvPr>
            <p:extLst>
              <p:ext uri="{D42A27DB-BD31-4B8C-83A1-F6EECF244321}">
                <p14:modId xmlns:p14="http://schemas.microsoft.com/office/powerpoint/2010/main" val="3336244798"/>
              </p:ext>
            </p:extLst>
          </p:nvPr>
        </p:nvGraphicFramePr>
        <p:xfrm>
          <a:off x="2919583" y="2376330"/>
          <a:ext cx="6168390" cy="344170"/>
        </p:xfrm>
        <a:graphic>
          <a:graphicData uri="http://schemas.openxmlformats.org/drawingml/2006/table">
            <a:tbl>
              <a:tblPr firstRow="1" bandRow="1">
                <a:tableStyleId>{2D5ABB26-0587-4C30-8999-92F81FD0307C}</a:tableStyleId>
              </a:tblPr>
              <a:tblGrid>
                <a:gridCol w="1703705">
                  <a:extLst>
                    <a:ext uri="{9D8B030D-6E8A-4147-A177-3AD203B41FA5}">
                      <a16:colId xmlns:a16="http://schemas.microsoft.com/office/drawing/2014/main" val="20000"/>
                    </a:ext>
                  </a:extLst>
                </a:gridCol>
                <a:gridCol w="2760980">
                  <a:extLst>
                    <a:ext uri="{9D8B030D-6E8A-4147-A177-3AD203B41FA5}">
                      <a16:colId xmlns:a16="http://schemas.microsoft.com/office/drawing/2014/main" val="20001"/>
                    </a:ext>
                  </a:extLst>
                </a:gridCol>
                <a:gridCol w="1703705">
                  <a:extLst>
                    <a:ext uri="{9D8B030D-6E8A-4147-A177-3AD203B41FA5}">
                      <a16:colId xmlns:a16="http://schemas.microsoft.com/office/drawing/2014/main" val="20002"/>
                    </a:ext>
                  </a:extLst>
                </a:gridCol>
              </a:tblGrid>
              <a:tr h="172085">
                <a:tc rowSpan="2">
                  <a:txBody>
                    <a:bodyPr/>
                    <a:lstStyle/>
                    <a:p>
                      <a:pPr marL="511809">
                        <a:lnSpc>
                          <a:spcPct val="100000"/>
                        </a:lnSpc>
                        <a:spcBef>
                          <a:spcPts val="175"/>
                        </a:spcBef>
                      </a:pPr>
                      <a:r>
                        <a:rPr sz="1800" b="1" dirty="0">
                          <a:latin typeface="Times New Roman"/>
                          <a:cs typeface="Times New Roman"/>
                        </a:rPr>
                        <a:t>Read</a:t>
                      </a:r>
                      <a:r>
                        <a:rPr sz="1800" b="1" spc="-50" dirty="0">
                          <a:latin typeface="Times New Roman"/>
                          <a:cs typeface="Times New Roman"/>
                        </a:rPr>
                        <a:t> </a:t>
                      </a:r>
                      <a:r>
                        <a:rPr sz="1800" b="1" dirty="0">
                          <a:latin typeface="Times New Roman"/>
                          <a:cs typeface="Times New Roman"/>
                        </a:rPr>
                        <a:t>1</a:t>
                      </a:r>
                      <a:endParaRPr sz="1800" dirty="0">
                        <a:latin typeface="Times New Roman"/>
                        <a:cs typeface="Times New Roman"/>
                      </a:endParaRPr>
                    </a:p>
                  </a:txBody>
                  <a:tcPr marL="0" marR="0" marT="22225" marB="0"/>
                </a:tc>
                <a:tc>
                  <a:txBody>
                    <a:bodyPr/>
                    <a:lstStyle/>
                    <a:p>
                      <a:pPr>
                        <a:lnSpc>
                          <a:spcPct val="100000"/>
                        </a:lnSpc>
                      </a:pPr>
                      <a:endParaRPr sz="1000" dirty="0">
                        <a:latin typeface="Times New Roman"/>
                        <a:cs typeface="Times New Roman"/>
                      </a:endParaRPr>
                    </a:p>
                  </a:txBody>
                  <a:tcPr marL="0" marR="0" marT="0" marB="0">
                    <a:lnB w="57150">
                      <a:solidFill>
                        <a:srgbClr val="000000"/>
                      </a:solidFill>
                      <a:prstDash val="solid"/>
                    </a:lnB>
                  </a:tcPr>
                </a:tc>
                <a:tc rowSpan="2">
                  <a:txBody>
                    <a:bodyPr/>
                    <a:lstStyle/>
                    <a:p>
                      <a:pPr marL="511809">
                        <a:lnSpc>
                          <a:spcPct val="100000"/>
                        </a:lnSpc>
                        <a:spcBef>
                          <a:spcPts val="175"/>
                        </a:spcBef>
                      </a:pPr>
                      <a:r>
                        <a:rPr sz="1800" b="1" dirty="0">
                          <a:latin typeface="Times New Roman"/>
                          <a:cs typeface="Times New Roman"/>
                        </a:rPr>
                        <a:t>Read</a:t>
                      </a:r>
                      <a:r>
                        <a:rPr sz="1800" b="1" spc="-50" dirty="0">
                          <a:latin typeface="Times New Roman"/>
                          <a:cs typeface="Times New Roman"/>
                        </a:rPr>
                        <a:t> </a:t>
                      </a:r>
                      <a:r>
                        <a:rPr sz="1800" b="1" dirty="0">
                          <a:latin typeface="Times New Roman"/>
                          <a:cs typeface="Times New Roman"/>
                        </a:rPr>
                        <a:t>2</a:t>
                      </a:r>
                      <a:endParaRPr sz="1800">
                        <a:latin typeface="Times New Roman"/>
                        <a:cs typeface="Times New Roman"/>
                      </a:endParaRPr>
                    </a:p>
                  </a:txBody>
                  <a:tcPr marL="0" marR="0" marT="22225" marB="0"/>
                </a:tc>
                <a:extLst>
                  <a:ext uri="{0D108BD9-81ED-4DB2-BD59-A6C34878D82A}">
                    <a16:rowId xmlns:a16="http://schemas.microsoft.com/office/drawing/2014/main" val="10000"/>
                  </a:ext>
                </a:extLst>
              </a:tr>
              <a:tr h="172085">
                <a:tc vMerge="1">
                  <a:txBody>
                    <a:bodyPr/>
                    <a:lstStyle/>
                    <a:p>
                      <a:endParaRPr/>
                    </a:p>
                  </a:txBody>
                  <a:tcPr marL="0" marR="0" marT="22225" marB="0"/>
                </a:tc>
                <a:tc>
                  <a:txBody>
                    <a:bodyPr/>
                    <a:lstStyle/>
                    <a:p>
                      <a:pPr>
                        <a:lnSpc>
                          <a:spcPct val="100000"/>
                        </a:lnSpc>
                      </a:pPr>
                      <a:endParaRPr sz="1000" dirty="0">
                        <a:latin typeface="Times New Roman"/>
                        <a:cs typeface="Times New Roman"/>
                      </a:endParaRPr>
                    </a:p>
                  </a:txBody>
                  <a:tcPr marL="0" marR="0" marT="0" marB="0">
                    <a:lnT w="57150">
                      <a:solidFill>
                        <a:srgbClr val="000000"/>
                      </a:solidFill>
                      <a:prstDash val="solid"/>
                    </a:lnT>
                  </a:tcPr>
                </a:tc>
                <a:tc vMerge="1">
                  <a:txBody>
                    <a:bodyPr/>
                    <a:lstStyle/>
                    <a:p>
                      <a:endParaRPr/>
                    </a:p>
                  </a:txBody>
                  <a:tcPr marL="0" marR="0" marT="22225" marB="0"/>
                </a:tc>
                <a:extLst>
                  <a:ext uri="{0D108BD9-81ED-4DB2-BD59-A6C34878D82A}">
                    <a16:rowId xmlns:a16="http://schemas.microsoft.com/office/drawing/2014/main" val="10001"/>
                  </a:ext>
                </a:extLst>
              </a:tr>
            </a:tbl>
          </a:graphicData>
        </a:graphic>
      </p:graphicFrame>
      <p:sp>
        <p:nvSpPr>
          <p:cNvPr id="17" name="object 17"/>
          <p:cNvSpPr txBox="1"/>
          <p:nvPr/>
        </p:nvSpPr>
        <p:spPr>
          <a:xfrm>
            <a:off x="1013018" y="5093715"/>
            <a:ext cx="6949440" cy="882015"/>
          </a:xfrm>
          <a:prstGeom prst="rect">
            <a:avLst/>
          </a:prstGeom>
        </p:spPr>
        <p:txBody>
          <a:bodyPr vert="horz" wrap="square" lIns="0" tIns="9525" rIns="0" bIns="0" rtlCol="0">
            <a:spAutoFit/>
          </a:bodyPr>
          <a:lstStyle/>
          <a:p>
            <a:pPr marL="12700" marR="5080">
              <a:lnSpc>
                <a:spcPct val="100699"/>
              </a:lnSpc>
              <a:spcBef>
                <a:spcPts val="75"/>
              </a:spcBef>
            </a:pPr>
            <a:r>
              <a:rPr sz="2800" dirty="0">
                <a:latin typeface="Times New Roman"/>
                <a:cs typeface="Times New Roman"/>
              </a:rPr>
              <a:t>If </a:t>
            </a:r>
            <a:r>
              <a:rPr sz="2800" spc="-5" dirty="0">
                <a:latin typeface="Times New Roman"/>
                <a:cs typeface="Times New Roman"/>
              </a:rPr>
              <a:t>sequences </a:t>
            </a:r>
            <a:r>
              <a:rPr sz="2800" dirty="0">
                <a:latin typeface="Times New Roman"/>
                <a:cs typeface="Times New Roman"/>
              </a:rPr>
              <a:t>of </a:t>
            </a:r>
            <a:r>
              <a:rPr sz="2800" spc="-10" dirty="0">
                <a:latin typeface="Times New Roman"/>
                <a:cs typeface="Times New Roman"/>
              </a:rPr>
              <a:t>Read </a:t>
            </a:r>
            <a:r>
              <a:rPr sz="2800" dirty="0">
                <a:latin typeface="Times New Roman"/>
                <a:cs typeface="Times New Roman"/>
              </a:rPr>
              <a:t>1 </a:t>
            </a:r>
            <a:r>
              <a:rPr sz="2800" spc="-5" dirty="0">
                <a:latin typeface="Times New Roman"/>
                <a:cs typeface="Times New Roman"/>
              </a:rPr>
              <a:t>align to the coding, sense </a:t>
            </a:r>
            <a:r>
              <a:rPr sz="2800" spc="-685" dirty="0">
                <a:latin typeface="Times New Roman"/>
                <a:cs typeface="Times New Roman"/>
              </a:rPr>
              <a:t> </a:t>
            </a:r>
            <a:r>
              <a:rPr sz="2800" spc="-5" dirty="0">
                <a:latin typeface="Times New Roman"/>
                <a:cs typeface="Times New Roman"/>
              </a:rPr>
              <a:t>strand</a:t>
            </a:r>
            <a:r>
              <a:rPr sz="2800" spc="-10" dirty="0">
                <a:latin typeface="Times New Roman"/>
                <a:cs typeface="Times New Roman"/>
              </a:rPr>
              <a:t> </a:t>
            </a:r>
            <a:r>
              <a:rPr sz="2800" dirty="0">
                <a:latin typeface="Times New Roman"/>
                <a:cs typeface="Times New Roman"/>
              </a:rPr>
              <a:t>– </a:t>
            </a:r>
            <a:r>
              <a:rPr sz="2800" spc="-5" dirty="0">
                <a:latin typeface="Times New Roman"/>
                <a:cs typeface="Times New Roman"/>
              </a:rPr>
              <a:t>the</a:t>
            </a:r>
            <a:r>
              <a:rPr sz="2800" spc="-10" dirty="0">
                <a:latin typeface="Times New Roman"/>
                <a:cs typeface="Times New Roman"/>
              </a:rPr>
              <a:t> </a:t>
            </a:r>
            <a:r>
              <a:rPr sz="2800" spc="-5" dirty="0">
                <a:latin typeface="Times New Roman"/>
                <a:cs typeface="Times New Roman"/>
              </a:rPr>
              <a:t>library</a:t>
            </a:r>
            <a:r>
              <a:rPr sz="2800" dirty="0">
                <a:latin typeface="Times New Roman"/>
                <a:cs typeface="Times New Roman"/>
              </a:rPr>
              <a:t> </a:t>
            </a:r>
            <a:r>
              <a:rPr sz="2800" spc="-5" dirty="0">
                <a:latin typeface="Times New Roman"/>
                <a:cs typeface="Times New Roman"/>
              </a:rPr>
              <a:t>is “stranded”</a:t>
            </a:r>
            <a:endParaRPr sz="2800">
              <a:latin typeface="Times New Roman"/>
              <a:cs typeface="Times New Roman"/>
            </a:endParaRPr>
          </a:p>
        </p:txBody>
      </p:sp>
      <p:sp>
        <p:nvSpPr>
          <p:cNvPr id="20" name="TextBox 19">
            <a:extLst>
              <a:ext uri="{FF2B5EF4-FFF2-40B4-BE49-F238E27FC236}">
                <a16:creationId xmlns:a16="http://schemas.microsoft.com/office/drawing/2014/main" id="{FE972921-4D1B-4572-3FC0-DE1FC3371CCB}"/>
              </a:ext>
            </a:extLst>
          </p:cNvPr>
          <p:cNvSpPr txBox="1"/>
          <p:nvPr/>
        </p:nvSpPr>
        <p:spPr>
          <a:xfrm>
            <a:off x="6992511" y="26554"/>
            <a:ext cx="2991529" cy="369332"/>
          </a:xfrm>
          <a:prstGeom prst="rect">
            <a:avLst/>
          </a:prstGeom>
          <a:noFill/>
        </p:spPr>
        <p:txBody>
          <a:bodyPr wrap="square" rtlCol="0">
            <a:spAutoFit/>
          </a:bodyPr>
          <a:lstStyle/>
          <a:p>
            <a:r>
              <a:rPr lang="en-US" sz="1800" b="1" dirty="0">
                <a:latin typeface="Times New Roman"/>
                <a:cs typeface="Times New Roman"/>
              </a:rPr>
              <a:t>Forward </a:t>
            </a:r>
            <a:r>
              <a:rPr lang="en-US" sz="1800" b="1" spc="-5" dirty="0">
                <a:latin typeface="Times New Roman"/>
                <a:cs typeface="Times New Roman"/>
              </a:rPr>
              <a:t>(sense)</a:t>
            </a:r>
            <a:endParaRPr 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27FF934-7752-9C66-05AA-26283D7435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D56265-9A17-2FEB-F6E7-89E8176711E4}"/>
              </a:ext>
            </a:extLst>
          </p:cNvPr>
          <p:cNvSpPr/>
          <p:nvPr/>
        </p:nvSpPr>
        <p:spPr>
          <a:xfrm>
            <a:off x="522747" y="1468074"/>
            <a:ext cx="6156325" cy="410845"/>
          </a:xfrm>
          <a:custGeom>
            <a:avLst/>
            <a:gdLst/>
            <a:ahLst/>
            <a:cxnLst/>
            <a:rect l="l" t="t" r="r" b="b"/>
            <a:pathLst>
              <a:path w="6156325" h="410844">
                <a:moveTo>
                  <a:pt x="0" y="102705"/>
                </a:moveTo>
                <a:lnTo>
                  <a:pt x="5950798" y="102705"/>
                </a:lnTo>
                <a:lnTo>
                  <a:pt x="5950798" y="0"/>
                </a:lnTo>
                <a:lnTo>
                  <a:pt x="6156200" y="205411"/>
                </a:lnTo>
                <a:lnTo>
                  <a:pt x="5950798" y="410817"/>
                </a:lnTo>
                <a:lnTo>
                  <a:pt x="5950798" y="308111"/>
                </a:lnTo>
                <a:lnTo>
                  <a:pt x="0" y="308111"/>
                </a:lnTo>
                <a:lnTo>
                  <a:pt x="0" y="102705"/>
                </a:lnTo>
                <a:close/>
              </a:path>
            </a:pathLst>
          </a:custGeom>
          <a:solidFill>
            <a:schemeClr val="accent2"/>
          </a:solidFill>
          <a:ln w="28575">
            <a:solidFill>
              <a:schemeClr val="tx1"/>
            </a:solidFill>
          </a:ln>
        </p:spPr>
        <p:txBody>
          <a:bodyPr wrap="square" lIns="0" tIns="0" rIns="0" bIns="0" rtlCol="0"/>
          <a:lstStyle/>
          <a:p>
            <a:endParaRPr/>
          </a:p>
        </p:txBody>
      </p:sp>
      <p:sp>
        <p:nvSpPr>
          <p:cNvPr id="3" name="object 3">
            <a:extLst>
              <a:ext uri="{FF2B5EF4-FFF2-40B4-BE49-F238E27FC236}">
                <a16:creationId xmlns:a16="http://schemas.microsoft.com/office/drawing/2014/main" id="{6ADF6612-CC2A-C11F-4F07-733DE2BA93D9}"/>
              </a:ext>
            </a:extLst>
          </p:cNvPr>
          <p:cNvSpPr txBox="1"/>
          <p:nvPr/>
        </p:nvSpPr>
        <p:spPr>
          <a:xfrm>
            <a:off x="303313" y="970962"/>
            <a:ext cx="321945"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5’</a:t>
            </a:r>
            <a:endParaRPr sz="2800">
              <a:latin typeface="Times New Roman"/>
              <a:cs typeface="Times New Roman"/>
            </a:endParaRPr>
          </a:p>
        </p:txBody>
      </p:sp>
      <p:sp>
        <p:nvSpPr>
          <p:cNvPr id="4" name="object 4">
            <a:extLst>
              <a:ext uri="{FF2B5EF4-FFF2-40B4-BE49-F238E27FC236}">
                <a16:creationId xmlns:a16="http://schemas.microsoft.com/office/drawing/2014/main" id="{0258B0BB-060B-E51F-367D-EBB7B3A5AD53}"/>
              </a:ext>
            </a:extLst>
          </p:cNvPr>
          <p:cNvSpPr txBox="1"/>
          <p:nvPr/>
        </p:nvSpPr>
        <p:spPr>
          <a:xfrm>
            <a:off x="6757686" y="1050209"/>
            <a:ext cx="321945"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3’</a:t>
            </a:r>
            <a:endParaRPr sz="2800">
              <a:latin typeface="Times New Roman"/>
              <a:cs typeface="Times New Roman"/>
            </a:endParaRPr>
          </a:p>
        </p:txBody>
      </p:sp>
      <p:sp>
        <p:nvSpPr>
          <p:cNvPr id="5" name="object 5">
            <a:extLst>
              <a:ext uri="{FF2B5EF4-FFF2-40B4-BE49-F238E27FC236}">
                <a16:creationId xmlns:a16="http://schemas.microsoft.com/office/drawing/2014/main" id="{A718844B-F297-B17C-F190-A6E008FD3901}"/>
              </a:ext>
            </a:extLst>
          </p:cNvPr>
          <p:cNvSpPr/>
          <p:nvPr/>
        </p:nvSpPr>
        <p:spPr>
          <a:xfrm>
            <a:off x="2831394" y="3821537"/>
            <a:ext cx="6212205" cy="410845"/>
          </a:xfrm>
          <a:custGeom>
            <a:avLst/>
            <a:gdLst/>
            <a:ahLst/>
            <a:cxnLst/>
            <a:rect l="l" t="t" r="r" b="b"/>
            <a:pathLst>
              <a:path w="6212205" h="410844">
                <a:moveTo>
                  <a:pt x="6212160" y="308109"/>
                </a:moveTo>
                <a:lnTo>
                  <a:pt x="205408" y="308109"/>
                </a:lnTo>
                <a:lnTo>
                  <a:pt x="205408" y="410817"/>
                </a:lnTo>
                <a:lnTo>
                  <a:pt x="0" y="205408"/>
                </a:lnTo>
                <a:lnTo>
                  <a:pt x="205408" y="0"/>
                </a:lnTo>
                <a:lnTo>
                  <a:pt x="205408" y="102700"/>
                </a:lnTo>
                <a:lnTo>
                  <a:pt x="6212160" y="102700"/>
                </a:lnTo>
                <a:lnTo>
                  <a:pt x="6212160" y="308109"/>
                </a:lnTo>
                <a:close/>
              </a:path>
            </a:pathLst>
          </a:custGeom>
          <a:solidFill>
            <a:srgbClr val="00B0F0"/>
          </a:solidFill>
          <a:ln w="28575">
            <a:solidFill>
              <a:srgbClr val="2F528F"/>
            </a:solidFill>
          </a:ln>
        </p:spPr>
        <p:txBody>
          <a:bodyPr wrap="square" lIns="0" tIns="0" rIns="0" bIns="0" rtlCol="0"/>
          <a:lstStyle/>
          <a:p>
            <a:endParaRPr/>
          </a:p>
        </p:txBody>
      </p:sp>
      <p:sp>
        <p:nvSpPr>
          <p:cNvPr id="6" name="object 6">
            <a:extLst>
              <a:ext uri="{FF2B5EF4-FFF2-40B4-BE49-F238E27FC236}">
                <a16:creationId xmlns:a16="http://schemas.microsoft.com/office/drawing/2014/main" id="{414641E1-EA20-AF4A-9380-48539DCB4E9C}"/>
              </a:ext>
            </a:extLst>
          </p:cNvPr>
          <p:cNvSpPr txBox="1">
            <a:spLocks noGrp="1"/>
          </p:cNvSpPr>
          <p:nvPr>
            <p:ph type="title"/>
          </p:nvPr>
        </p:nvSpPr>
        <p:spPr>
          <a:xfrm>
            <a:off x="1996797" y="827705"/>
            <a:ext cx="376555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Times New Roman"/>
                <a:cs typeface="Times New Roman"/>
              </a:rPr>
              <a:t>DNA,</a:t>
            </a:r>
            <a:r>
              <a:rPr sz="2800" spc="-30" dirty="0">
                <a:latin typeface="Times New Roman"/>
                <a:cs typeface="Times New Roman"/>
              </a:rPr>
              <a:t> </a:t>
            </a:r>
            <a:r>
              <a:rPr sz="2800" spc="-5" dirty="0">
                <a:latin typeface="Times New Roman"/>
                <a:cs typeface="Times New Roman"/>
              </a:rPr>
              <a:t>coding/sense</a:t>
            </a:r>
            <a:r>
              <a:rPr sz="2800" spc="-40" dirty="0">
                <a:latin typeface="Times New Roman"/>
                <a:cs typeface="Times New Roman"/>
              </a:rPr>
              <a:t> </a:t>
            </a:r>
            <a:r>
              <a:rPr sz="2800" spc="-5" dirty="0">
                <a:latin typeface="Times New Roman"/>
                <a:cs typeface="Times New Roman"/>
              </a:rPr>
              <a:t>strand</a:t>
            </a:r>
            <a:endParaRPr sz="2800">
              <a:latin typeface="Times New Roman"/>
              <a:cs typeface="Times New Roman"/>
            </a:endParaRPr>
          </a:p>
        </p:txBody>
      </p:sp>
      <p:sp>
        <p:nvSpPr>
          <p:cNvPr id="7" name="object 7">
            <a:extLst>
              <a:ext uri="{FF2B5EF4-FFF2-40B4-BE49-F238E27FC236}">
                <a16:creationId xmlns:a16="http://schemas.microsoft.com/office/drawing/2014/main" id="{D12F60D2-D26F-B656-A994-8A02D1DF977A}"/>
              </a:ext>
            </a:extLst>
          </p:cNvPr>
          <p:cNvSpPr txBox="1"/>
          <p:nvPr/>
        </p:nvSpPr>
        <p:spPr>
          <a:xfrm>
            <a:off x="3600910" y="3335557"/>
            <a:ext cx="483108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Times New Roman"/>
                <a:cs typeface="Times New Roman"/>
              </a:rPr>
              <a:t>DNA,</a:t>
            </a:r>
            <a:r>
              <a:rPr sz="2800" spc="-25" dirty="0">
                <a:latin typeface="Times New Roman"/>
                <a:cs typeface="Times New Roman"/>
              </a:rPr>
              <a:t> </a:t>
            </a:r>
            <a:r>
              <a:rPr sz="2800" spc="-5" dirty="0">
                <a:latin typeface="Times New Roman"/>
                <a:cs typeface="Times New Roman"/>
              </a:rPr>
              <a:t>noncoding/antisense</a:t>
            </a:r>
            <a:r>
              <a:rPr sz="2800" spc="-30" dirty="0">
                <a:latin typeface="Times New Roman"/>
                <a:cs typeface="Times New Roman"/>
              </a:rPr>
              <a:t> </a:t>
            </a:r>
            <a:r>
              <a:rPr sz="2800" spc="-5" dirty="0">
                <a:latin typeface="Times New Roman"/>
                <a:cs typeface="Times New Roman"/>
              </a:rPr>
              <a:t>strand</a:t>
            </a:r>
            <a:endParaRPr sz="2800">
              <a:latin typeface="Times New Roman"/>
              <a:cs typeface="Times New Roman"/>
            </a:endParaRPr>
          </a:p>
        </p:txBody>
      </p:sp>
      <p:grpSp>
        <p:nvGrpSpPr>
          <p:cNvPr id="18" name="object 8">
            <a:extLst>
              <a:ext uri="{FF2B5EF4-FFF2-40B4-BE49-F238E27FC236}">
                <a16:creationId xmlns:a16="http://schemas.microsoft.com/office/drawing/2014/main" id="{DAA9295B-D538-6EF4-7CD2-DC6F68F413EB}"/>
              </a:ext>
            </a:extLst>
          </p:cNvPr>
          <p:cNvGrpSpPr/>
          <p:nvPr/>
        </p:nvGrpSpPr>
        <p:grpSpPr>
          <a:xfrm>
            <a:off x="3125308" y="2425563"/>
            <a:ext cx="1819910" cy="594360"/>
            <a:chOff x="3075432" y="3578352"/>
            <a:chExt cx="1819910" cy="594360"/>
          </a:xfrm>
        </p:grpSpPr>
        <p:pic>
          <p:nvPicPr>
            <p:cNvPr id="19" name="object 9">
              <a:extLst>
                <a:ext uri="{FF2B5EF4-FFF2-40B4-BE49-F238E27FC236}">
                  <a16:creationId xmlns:a16="http://schemas.microsoft.com/office/drawing/2014/main" id="{653ADC6F-CB3C-A292-253B-8DE585AFC3F5}"/>
                </a:ext>
              </a:extLst>
            </p:cNvPr>
            <p:cNvPicPr/>
            <p:nvPr/>
          </p:nvPicPr>
          <p:blipFill>
            <a:blip r:embed="rId2" cstate="print"/>
            <a:stretch>
              <a:fillRect/>
            </a:stretch>
          </p:blipFill>
          <p:spPr>
            <a:xfrm>
              <a:off x="3075432" y="3614928"/>
              <a:ext cx="1819656" cy="460248"/>
            </a:xfrm>
            <a:prstGeom prst="rect">
              <a:avLst/>
            </a:prstGeom>
          </p:spPr>
        </p:pic>
        <p:pic>
          <p:nvPicPr>
            <p:cNvPr id="20" name="object 10">
              <a:extLst>
                <a:ext uri="{FF2B5EF4-FFF2-40B4-BE49-F238E27FC236}">
                  <a16:creationId xmlns:a16="http://schemas.microsoft.com/office/drawing/2014/main" id="{042DB009-7A80-A501-72B7-B3716FCCE622}"/>
                </a:ext>
              </a:extLst>
            </p:cNvPr>
            <p:cNvPicPr/>
            <p:nvPr/>
          </p:nvPicPr>
          <p:blipFill>
            <a:blip r:embed="rId3" cstate="print"/>
            <a:stretch>
              <a:fillRect/>
            </a:stretch>
          </p:blipFill>
          <p:spPr>
            <a:xfrm>
              <a:off x="3447288" y="3578352"/>
              <a:ext cx="1075943" cy="594360"/>
            </a:xfrm>
            <a:prstGeom prst="rect">
              <a:avLst/>
            </a:prstGeom>
          </p:spPr>
        </p:pic>
        <p:pic>
          <p:nvPicPr>
            <p:cNvPr id="21" name="object 11">
              <a:extLst>
                <a:ext uri="{FF2B5EF4-FFF2-40B4-BE49-F238E27FC236}">
                  <a16:creationId xmlns:a16="http://schemas.microsoft.com/office/drawing/2014/main" id="{3D36A53C-3B2E-3045-BA41-C4ECC729EE28}"/>
                </a:ext>
              </a:extLst>
            </p:cNvPr>
            <p:cNvPicPr/>
            <p:nvPr/>
          </p:nvPicPr>
          <p:blipFill>
            <a:blip r:embed="rId4" cstate="print"/>
            <a:stretch>
              <a:fillRect/>
            </a:stretch>
          </p:blipFill>
          <p:spPr>
            <a:xfrm>
              <a:off x="3132583" y="3654078"/>
              <a:ext cx="1703627" cy="344309"/>
            </a:xfrm>
            <a:prstGeom prst="rect">
              <a:avLst/>
            </a:prstGeom>
          </p:spPr>
        </p:pic>
      </p:grpSp>
      <p:sp>
        <p:nvSpPr>
          <p:cNvPr id="22" name="object 12">
            <a:extLst>
              <a:ext uri="{FF2B5EF4-FFF2-40B4-BE49-F238E27FC236}">
                <a16:creationId xmlns:a16="http://schemas.microsoft.com/office/drawing/2014/main" id="{D1E82D95-10CD-B141-374E-18FA8D362C23}"/>
              </a:ext>
            </a:extLst>
          </p:cNvPr>
          <p:cNvSpPr txBox="1"/>
          <p:nvPr/>
        </p:nvSpPr>
        <p:spPr>
          <a:xfrm>
            <a:off x="3681848" y="2510399"/>
            <a:ext cx="70548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Read</a:t>
            </a:r>
            <a:r>
              <a:rPr sz="1800" b="1" spc="-90" dirty="0">
                <a:latin typeface="Times New Roman"/>
                <a:cs typeface="Times New Roman"/>
              </a:rPr>
              <a:t> </a:t>
            </a:r>
            <a:r>
              <a:rPr sz="1800" b="1" dirty="0">
                <a:latin typeface="Times New Roman"/>
                <a:cs typeface="Times New Roman"/>
              </a:rPr>
              <a:t>2</a:t>
            </a:r>
            <a:endParaRPr sz="1800" dirty="0">
              <a:latin typeface="Times New Roman"/>
              <a:cs typeface="Times New Roman"/>
            </a:endParaRPr>
          </a:p>
        </p:txBody>
      </p:sp>
      <p:grpSp>
        <p:nvGrpSpPr>
          <p:cNvPr id="23" name="object 13">
            <a:extLst>
              <a:ext uri="{FF2B5EF4-FFF2-40B4-BE49-F238E27FC236}">
                <a16:creationId xmlns:a16="http://schemas.microsoft.com/office/drawing/2014/main" id="{556F92DC-40B8-F185-FF21-EA2637BE4FB9}"/>
              </a:ext>
            </a:extLst>
          </p:cNvPr>
          <p:cNvGrpSpPr/>
          <p:nvPr/>
        </p:nvGrpSpPr>
        <p:grpSpPr>
          <a:xfrm>
            <a:off x="7209628" y="2422514"/>
            <a:ext cx="1823085" cy="594360"/>
            <a:chOff x="7159752" y="3575303"/>
            <a:chExt cx="1823085" cy="594360"/>
          </a:xfrm>
        </p:grpSpPr>
        <p:pic>
          <p:nvPicPr>
            <p:cNvPr id="24" name="object 14">
              <a:extLst>
                <a:ext uri="{FF2B5EF4-FFF2-40B4-BE49-F238E27FC236}">
                  <a16:creationId xmlns:a16="http://schemas.microsoft.com/office/drawing/2014/main" id="{51BD1A33-118B-AB95-54CA-C1DC63E3B31F}"/>
                </a:ext>
              </a:extLst>
            </p:cNvPr>
            <p:cNvPicPr/>
            <p:nvPr/>
          </p:nvPicPr>
          <p:blipFill>
            <a:blip r:embed="rId5" cstate="print"/>
            <a:stretch>
              <a:fillRect/>
            </a:stretch>
          </p:blipFill>
          <p:spPr>
            <a:xfrm>
              <a:off x="7159752" y="3608831"/>
              <a:ext cx="1822703" cy="463295"/>
            </a:xfrm>
            <a:prstGeom prst="rect">
              <a:avLst/>
            </a:prstGeom>
          </p:spPr>
        </p:pic>
        <p:pic>
          <p:nvPicPr>
            <p:cNvPr id="25" name="object 15">
              <a:extLst>
                <a:ext uri="{FF2B5EF4-FFF2-40B4-BE49-F238E27FC236}">
                  <a16:creationId xmlns:a16="http://schemas.microsoft.com/office/drawing/2014/main" id="{2B809177-80A2-E567-FC8D-477353DBB451}"/>
                </a:ext>
              </a:extLst>
            </p:cNvPr>
            <p:cNvPicPr/>
            <p:nvPr/>
          </p:nvPicPr>
          <p:blipFill>
            <a:blip r:embed="rId6" cstate="print"/>
            <a:stretch>
              <a:fillRect/>
            </a:stretch>
          </p:blipFill>
          <p:spPr>
            <a:xfrm>
              <a:off x="7531608" y="3575303"/>
              <a:ext cx="1078992" cy="594360"/>
            </a:xfrm>
            <a:prstGeom prst="rect">
              <a:avLst/>
            </a:prstGeom>
          </p:spPr>
        </p:pic>
        <p:pic>
          <p:nvPicPr>
            <p:cNvPr id="26" name="object 16">
              <a:extLst>
                <a:ext uri="{FF2B5EF4-FFF2-40B4-BE49-F238E27FC236}">
                  <a16:creationId xmlns:a16="http://schemas.microsoft.com/office/drawing/2014/main" id="{D6D3062D-7874-DDEA-11E8-1AC3C5BFE9CE}"/>
                </a:ext>
              </a:extLst>
            </p:cNvPr>
            <p:cNvPicPr/>
            <p:nvPr/>
          </p:nvPicPr>
          <p:blipFill>
            <a:blip r:embed="rId7" cstate="print"/>
            <a:stretch>
              <a:fillRect/>
            </a:stretch>
          </p:blipFill>
          <p:spPr>
            <a:xfrm>
              <a:off x="7219325" y="3649212"/>
              <a:ext cx="1703627" cy="344309"/>
            </a:xfrm>
            <a:prstGeom prst="rect">
              <a:avLst/>
            </a:prstGeom>
          </p:spPr>
        </p:pic>
      </p:grpSp>
      <p:sp>
        <p:nvSpPr>
          <p:cNvPr id="27" name="object 17">
            <a:extLst>
              <a:ext uri="{FF2B5EF4-FFF2-40B4-BE49-F238E27FC236}">
                <a16:creationId xmlns:a16="http://schemas.microsoft.com/office/drawing/2014/main" id="{5D33A3A2-81A7-B81D-7C5F-518C1106A0E9}"/>
              </a:ext>
            </a:extLst>
          </p:cNvPr>
          <p:cNvSpPr txBox="1"/>
          <p:nvPr/>
        </p:nvSpPr>
        <p:spPr>
          <a:xfrm>
            <a:off x="7768590" y="2507351"/>
            <a:ext cx="70548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Read</a:t>
            </a:r>
            <a:r>
              <a:rPr sz="1800" b="1" spc="-90" dirty="0">
                <a:latin typeface="Times New Roman"/>
                <a:cs typeface="Times New Roman"/>
              </a:rPr>
              <a:t> </a:t>
            </a:r>
            <a:r>
              <a:rPr sz="1800" b="1" dirty="0">
                <a:latin typeface="Times New Roman"/>
                <a:cs typeface="Times New Roman"/>
              </a:rPr>
              <a:t>1</a:t>
            </a:r>
            <a:endParaRPr sz="1800">
              <a:latin typeface="Times New Roman"/>
              <a:cs typeface="Times New Roman"/>
            </a:endParaRPr>
          </a:p>
        </p:txBody>
      </p:sp>
      <p:sp>
        <p:nvSpPr>
          <p:cNvPr id="28" name="object 19">
            <a:extLst>
              <a:ext uri="{FF2B5EF4-FFF2-40B4-BE49-F238E27FC236}">
                <a16:creationId xmlns:a16="http://schemas.microsoft.com/office/drawing/2014/main" id="{0FC3951D-B707-45B0-8B05-6742B835E7E5}"/>
              </a:ext>
            </a:extLst>
          </p:cNvPr>
          <p:cNvSpPr/>
          <p:nvPr/>
        </p:nvSpPr>
        <p:spPr>
          <a:xfrm>
            <a:off x="4886088" y="2668579"/>
            <a:ext cx="2383155" cy="5080"/>
          </a:xfrm>
          <a:custGeom>
            <a:avLst/>
            <a:gdLst/>
            <a:ahLst/>
            <a:cxnLst/>
            <a:rect l="l" t="t" r="r" b="b"/>
            <a:pathLst>
              <a:path w="2383154" h="5079">
                <a:moveTo>
                  <a:pt x="0" y="4865"/>
                </a:moveTo>
                <a:lnTo>
                  <a:pt x="2383113" y="0"/>
                </a:lnTo>
              </a:path>
            </a:pathLst>
          </a:custGeom>
          <a:ln w="38100">
            <a:solidFill>
              <a:srgbClr val="000000"/>
            </a:solidFill>
          </a:ln>
        </p:spPr>
        <p:txBody>
          <a:bodyPr wrap="square" lIns="0" tIns="0" rIns="0" bIns="0" rtlCol="0"/>
          <a:lstStyle/>
          <a:p>
            <a:endParaRPr/>
          </a:p>
        </p:txBody>
      </p:sp>
      <p:sp>
        <p:nvSpPr>
          <p:cNvPr id="29" name="object 18">
            <a:extLst>
              <a:ext uri="{FF2B5EF4-FFF2-40B4-BE49-F238E27FC236}">
                <a16:creationId xmlns:a16="http://schemas.microsoft.com/office/drawing/2014/main" id="{24B5576B-0048-E1CE-F1F9-3B3261A73585}"/>
              </a:ext>
            </a:extLst>
          </p:cNvPr>
          <p:cNvSpPr txBox="1"/>
          <p:nvPr/>
        </p:nvSpPr>
        <p:spPr>
          <a:xfrm>
            <a:off x="1013018" y="5093715"/>
            <a:ext cx="6949440" cy="882015"/>
          </a:xfrm>
          <a:prstGeom prst="rect">
            <a:avLst/>
          </a:prstGeom>
        </p:spPr>
        <p:txBody>
          <a:bodyPr vert="horz" wrap="square" lIns="0" tIns="9525" rIns="0" bIns="0" rtlCol="0">
            <a:spAutoFit/>
          </a:bodyPr>
          <a:lstStyle/>
          <a:p>
            <a:pPr marL="12700" marR="5080">
              <a:lnSpc>
                <a:spcPct val="100699"/>
              </a:lnSpc>
              <a:spcBef>
                <a:spcPts val="75"/>
              </a:spcBef>
            </a:pPr>
            <a:r>
              <a:rPr sz="2800" dirty="0">
                <a:latin typeface="Times New Roman"/>
                <a:cs typeface="Times New Roman"/>
              </a:rPr>
              <a:t>If </a:t>
            </a:r>
            <a:r>
              <a:rPr sz="2800" spc="-5" dirty="0">
                <a:latin typeface="Times New Roman"/>
                <a:cs typeface="Times New Roman"/>
              </a:rPr>
              <a:t>sequences </a:t>
            </a:r>
            <a:r>
              <a:rPr sz="2800" dirty="0">
                <a:latin typeface="Times New Roman"/>
                <a:cs typeface="Times New Roman"/>
              </a:rPr>
              <a:t>of </a:t>
            </a:r>
            <a:r>
              <a:rPr sz="2800" spc="-10" dirty="0">
                <a:latin typeface="Times New Roman"/>
                <a:cs typeface="Times New Roman"/>
              </a:rPr>
              <a:t>Read </a:t>
            </a:r>
            <a:r>
              <a:rPr sz="2800" dirty="0">
                <a:latin typeface="Times New Roman"/>
                <a:cs typeface="Times New Roman"/>
              </a:rPr>
              <a:t>2 </a:t>
            </a:r>
            <a:r>
              <a:rPr sz="2800" spc="-5" dirty="0">
                <a:latin typeface="Times New Roman"/>
                <a:cs typeface="Times New Roman"/>
              </a:rPr>
              <a:t>align to the coding, sense </a:t>
            </a:r>
            <a:r>
              <a:rPr sz="2800" spc="-685" dirty="0">
                <a:latin typeface="Times New Roman"/>
                <a:cs typeface="Times New Roman"/>
              </a:rPr>
              <a:t> </a:t>
            </a:r>
            <a:r>
              <a:rPr sz="2800" spc="-5" dirty="0">
                <a:latin typeface="Times New Roman"/>
                <a:cs typeface="Times New Roman"/>
              </a:rPr>
              <a:t>strand</a:t>
            </a:r>
            <a:r>
              <a:rPr sz="2800" spc="-10" dirty="0">
                <a:latin typeface="Times New Roman"/>
                <a:cs typeface="Times New Roman"/>
              </a:rPr>
              <a:t> </a:t>
            </a:r>
            <a:r>
              <a:rPr sz="2800" dirty="0">
                <a:latin typeface="Times New Roman"/>
                <a:cs typeface="Times New Roman"/>
              </a:rPr>
              <a:t>– </a:t>
            </a:r>
            <a:r>
              <a:rPr sz="2800" spc="-5" dirty="0">
                <a:latin typeface="Times New Roman"/>
                <a:cs typeface="Times New Roman"/>
              </a:rPr>
              <a:t>the</a:t>
            </a:r>
            <a:r>
              <a:rPr sz="2800" spc="-10" dirty="0">
                <a:latin typeface="Times New Roman"/>
                <a:cs typeface="Times New Roman"/>
              </a:rPr>
              <a:t> </a:t>
            </a:r>
            <a:r>
              <a:rPr sz="2800" spc="-5" dirty="0">
                <a:latin typeface="Times New Roman"/>
                <a:cs typeface="Times New Roman"/>
              </a:rPr>
              <a:t>library</a:t>
            </a:r>
            <a:r>
              <a:rPr sz="2800" dirty="0">
                <a:latin typeface="Times New Roman"/>
                <a:cs typeface="Times New Roman"/>
              </a:rPr>
              <a:t> </a:t>
            </a:r>
            <a:r>
              <a:rPr sz="2800" spc="-5" dirty="0">
                <a:latin typeface="Times New Roman"/>
                <a:cs typeface="Times New Roman"/>
              </a:rPr>
              <a:t>is </a:t>
            </a:r>
            <a:r>
              <a:rPr sz="2800" dirty="0">
                <a:latin typeface="Times New Roman"/>
                <a:cs typeface="Times New Roman"/>
              </a:rPr>
              <a:t>“</a:t>
            </a:r>
            <a:r>
              <a:rPr sz="2800" spc="-10" dirty="0">
                <a:latin typeface="Times New Roman"/>
                <a:cs typeface="Times New Roman"/>
              </a:rPr>
              <a:t> </a:t>
            </a:r>
            <a:r>
              <a:rPr sz="2800" spc="-5" dirty="0">
                <a:latin typeface="Times New Roman"/>
                <a:cs typeface="Times New Roman"/>
              </a:rPr>
              <a:t>reverse</a:t>
            </a:r>
            <a:r>
              <a:rPr sz="2800" spc="-10" dirty="0">
                <a:latin typeface="Times New Roman"/>
                <a:cs typeface="Times New Roman"/>
              </a:rPr>
              <a:t> </a:t>
            </a:r>
            <a:r>
              <a:rPr sz="2800" spc="-5" dirty="0">
                <a:latin typeface="Times New Roman"/>
                <a:cs typeface="Times New Roman"/>
              </a:rPr>
              <a:t>stranded”</a:t>
            </a:r>
            <a:endParaRPr sz="2800" dirty="0">
              <a:latin typeface="Times New Roman"/>
              <a:cs typeface="Times New Roman"/>
            </a:endParaRPr>
          </a:p>
        </p:txBody>
      </p:sp>
      <p:sp>
        <p:nvSpPr>
          <p:cNvPr id="31" name="TextBox 30">
            <a:extLst>
              <a:ext uri="{FF2B5EF4-FFF2-40B4-BE49-F238E27FC236}">
                <a16:creationId xmlns:a16="http://schemas.microsoft.com/office/drawing/2014/main" id="{8151C841-6B73-EB7E-D9C2-C1FB7C69C2FF}"/>
              </a:ext>
            </a:extLst>
          </p:cNvPr>
          <p:cNvSpPr txBox="1"/>
          <p:nvPr/>
        </p:nvSpPr>
        <p:spPr>
          <a:xfrm>
            <a:off x="6858000" y="77768"/>
            <a:ext cx="4572000" cy="369332"/>
          </a:xfrm>
          <a:prstGeom prst="rect">
            <a:avLst/>
          </a:prstGeom>
          <a:noFill/>
        </p:spPr>
        <p:txBody>
          <a:bodyPr wrap="square">
            <a:spAutoFit/>
          </a:bodyPr>
          <a:lstStyle/>
          <a:p>
            <a:r>
              <a:rPr lang="en-US" sz="1800" b="1" spc="-5" dirty="0">
                <a:latin typeface="Times New Roman"/>
                <a:cs typeface="Times New Roman"/>
              </a:rPr>
              <a:t>Reverse (antisense) </a:t>
            </a:r>
            <a:endParaRPr lang="en-US" b="1" dirty="0"/>
          </a:p>
        </p:txBody>
      </p:sp>
    </p:spTree>
    <p:extLst>
      <p:ext uri="{BB962C8B-B14F-4D97-AF65-F5344CB8AC3E}">
        <p14:creationId xmlns:p14="http://schemas.microsoft.com/office/powerpoint/2010/main" val="3801364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34278" y="1457740"/>
            <a:ext cx="6156325" cy="410845"/>
          </a:xfrm>
          <a:custGeom>
            <a:avLst/>
            <a:gdLst/>
            <a:ahLst/>
            <a:cxnLst/>
            <a:rect l="l" t="t" r="r" b="b"/>
            <a:pathLst>
              <a:path w="6156325" h="410844">
                <a:moveTo>
                  <a:pt x="0" y="102705"/>
                </a:moveTo>
                <a:lnTo>
                  <a:pt x="5950798" y="102705"/>
                </a:lnTo>
                <a:lnTo>
                  <a:pt x="5950798" y="0"/>
                </a:lnTo>
                <a:lnTo>
                  <a:pt x="6156200" y="205411"/>
                </a:lnTo>
                <a:lnTo>
                  <a:pt x="5950798" y="410817"/>
                </a:lnTo>
                <a:lnTo>
                  <a:pt x="5950798" y="308111"/>
                </a:lnTo>
                <a:lnTo>
                  <a:pt x="0" y="308111"/>
                </a:lnTo>
                <a:lnTo>
                  <a:pt x="0" y="102705"/>
                </a:lnTo>
                <a:close/>
              </a:path>
            </a:pathLst>
          </a:custGeom>
          <a:solidFill>
            <a:srgbClr val="C00000"/>
          </a:solidFill>
          <a:ln w="28575">
            <a:solidFill>
              <a:schemeClr val="tx1"/>
            </a:solidFill>
          </a:ln>
        </p:spPr>
        <p:txBody>
          <a:bodyPr wrap="square" lIns="0" tIns="0" rIns="0" bIns="0" rtlCol="0"/>
          <a:lstStyle/>
          <a:p>
            <a:endParaRPr/>
          </a:p>
        </p:txBody>
      </p:sp>
      <p:sp>
        <p:nvSpPr>
          <p:cNvPr id="3" name="object 3"/>
          <p:cNvSpPr txBox="1"/>
          <p:nvPr/>
        </p:nvSpPr>
        <p:spPr>
          <a:xfrm>
            <a:off x="714844" y="960628"/>
            <a:ext cx="321945"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5’</a:t>
            </a:r>
            <a:endParaRPr sz="2800">
              <a:latin typeface="Times New Roman"/>
              <a:cs typeface="Times New Roman"/>
            </a:endParaRPr>
          </a:p>
        </p:txBody>
      </p:sp>
      <p:sp>
        <p:nvSpPr>
          <p:cNvPr id="4" name="object 4"/>
          <p:cNvSpPr txBox="1"/>
          <p:nvPr/>
        </p:nvSpPr>
        <p:spPr>
          <a:xfrm>
            <a:off x="7169217" y="1039875"/>
            <a:ext cx="321945"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Times New Roman"/>
                <a:cs typeface="Times New Roman"/>
              </a:rPr>
              <a:t>3’</a:t>
            </a:r>
            <a:endParaRPr sz="2800">
              <a:latin typeface="Times New Roman"/>
              <a:cs typeface="Times New Roman"/>
            </a:endParaRPr>
          </a:p>
        </p:txBody>
      </p:sp>
      <p:sp>
        <p:nvSpPr>
          <p:cNvPr id="5" name="object 5"/>
          <p:cNvSpPr/>
          <p:nvPr/>
        </p:nvSpPr>
        <p:spPr>
          <a:xfrm>
            <a:off x="878317" y="2385391"/>
            <a:ext cx="6212205" cy="410845"/>
          </a:xfrm>
          <a:custGeom>
            <a:avLst/>
            <a:gdLst/>
            <a:ahLst/>
            <a:cxnLst/>
            <a:rect l="l" t="t" r="r" b="b"/>
            <a:pathLst>
              <a:path w="6212205" h="410844">
                <a:moveTo>
                  <a:pt x="6212160" y="308109"/>
                </a:moveTo>
                <a:lnTo>
                  <a:pt x="205408" y="308109"/>
                </a:lnTo>
                <a:lnTo>
                  <a:pt x="205408" y="410817"/>
                </a:lnTo>
                <a:lnTo>
                  <a:pt x="0" y="205408"/>
                </a:lnTo>
                <a:lnTo>
                  <a:pt x="205408" y="0"/>
                </a:lnTo>
                <a:lnTo>
                  <a:pt x="205408" y="102700"/>
                </a:lnTo>
                <a:lnTo>
                  <a:pt x="6212160" y="102700"/>
                </a:lnTo>
                <a:lnTo>
                  <a:pt x="6212160" y="308109"/>
                </a:lnTo>
                <a:close/>
              </a:path>
            </a:pathLst>
          </a:custGeom>
          <a:solidFill>
            <a:srgbClr val="00B0F0"/>
          </a:solidFill>
          <a:ln w="28575">
            <a:solidFill>
              <a:srgbClr val="2F528F"/>
            </a:solidFill>
          </a:ln>
        </p:spPr>
        <p:txBody>
          <a:bodyPr wrap="square" lIns="0" tIns="0" rIns="0" bIns="0" rtlCol="0"/>
          <a:lstStyle/>
          <a:p>
            <a:endParaRPr/>
          </a:p>
        </p:txBody>
      </p:sp>
      <p:sp>
        <p:nvSpPr>
          <p:cNvPr id="6" name="object 6"/>
          <p:cNvSpPr txBox="1">
            <a:spLocks noGrp="1"/>
          </p:cNvSpPr>
          <p:nvPr>
            <p:ph type="title"/>
          </p:nvPr>
        </p:nvSpPr>
        <p:spPr>
          <a:xfrm>
            <a:off x="2408328" y="817371"/>
            <a:ext cx="376555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Times New Roman"/>
                <a:cs typeface="Times New Roman"/>
              </a:rPr>
              <a:t>DNA,</a:t>
            </a:r>
            <a:r>
              <a:rPr sz="2800" spc="-30" dirty="0">
                <a:latin typeface="Times New Roman"/>
                <a:cs typeface="Times New Roman"/>
              </a:rPr>
              <a:t> </a:t>
            </a:r>
            <a:r>
              <a:rPr sz="2800" spc="-5" dirty="0">
                <a:latin typeface="Times New Roman"/>
                <a:cs typeface="Times New Roman"/>
              </a:rPr>
              <a:t>coding/sense</a:t>
            </a:r>
            <a:r>
              <a:rPr sz="2800" spc="-40" dirty="0">
                <a:latin typeface="Times New Roman"/>
                <a:cs typeface="Times New Roman"/>
              </a:rPr>
              <a:t> </a:t>
            </a:r>
            <a:r>
              <a:rPr sz="2800" spc="-5" dirty="0">
                <a:latin typeface="Times New Roman"/>
                <a:cs typeface="Times New Roman"/>
              </a:rPr>
              <a:t>strand</a:t>
            </a:r>
            <a:endParaRPr sz="2800">
              <a:latin typeface="Times New Roman"/>
              <a:cs typeface="Times New Roman"/>
            </a:endParaRPr>
          </a:p>
        </p:txBody>
      </p:sp>
      <p:sp>
        <p:nvSpPr>
          <p:cNvPr id="7" name="object 7"/>
          <p:cNvSpPr txBox="1"/>
          <p:nvPr/>
        </p:nvSpPr>
        <p:spPr>
          <a:xfrm>
            <a:off x="1647833" y="1899411"/>
            <a:ext cx="483108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Times New Roman"/>
                <a:cs typeface="Times New Roman"/>
              </a:rPr>
              <a:t>DNA,</a:t>
            </a:r>
            <a:r>
              <a:rPr sz="2800" spc="-25" dirty="0">
                <a:latin typeface="Times New Roman"/>
                <a:cs typeface="Times New Roman"/>
              </a:rPr>
              <a:t> </a:t>
            </a:r>
            <a:r>
              <a:rPr sz="2800" spc="-5" dirty="0">
                <a:latin typeface="Times New Roman"/>
                <a:cs typeface="Times New Roman"/>
              </a:rPr>
              <a:t>noncoding/antisense</a:t>
            </a:r>
            <a:r>
              <a:rPr sz="2800" spc="-30" dirty="0">
                <a:latin typeface="Times New Roman"/>
                <a:cs typeface="Times New Roman"/>
              </a:rPr>
              <a:t> </a:t>
            </a:r>
            <a:r>
              <a:rPr sz="2800" spc="-5" dirty="0">
                <a:latin typeface="Times New Roman"/>
                <a:cs typeface="Times New Roman"/>
              </a:rPr>
              <a:t>strand</a:t>
            </a:r>
            <a:endParaRPr sz="2800">
              <a:latin typeface="Times New Roman"/>
              <a:cs typeface="Times New Roman"/>
            </a:endParaRPr>
          </a:p>
        </p:txBody>
      </p:sp>
      <p:grpSp>
        <p:nvGrpSpPr>
          <p:cNvPr id="8" name="object 8"/>
          <p:cNvGrpSpPr/>
          <p:nvPr/>
        </p:nvGrpSpPr>
        <p:grpSpPr>
          <a:xfrm>
            <a:off x="1088136" y="3642359"/>
            <a:ext cx="1823085" cy="594360"/>
            <a:chOff x="1088136" y="3642359"/>
            <a:chExt cx="1823085" cy="594360"/>
          </a:xfrm>
        </p:grpSpPr>
        <p:pic>
          <p:nvPicPr>
            <p:cNvPr id="9" name="object 9"/>
            <p:cNvPicPr/>
            <p:nvPr/>
          </p:nvPicPr>
          <p:blipFill>
            <a:blip r:embed="rId2" cstate="print"/>
            <a:stretch>
              <a:fillRect/>
            </a:stretch>
          </p:blipFill>
          <p:spPr>
            <a:xfrm>
              <a:off x="1088136" y="3678935"/>
              <a:ext cx="1822704" cy="460248"/>
            </a:xfrm>
            <a:prstGeom prst="rect">
              <a:avLst/>
            </a:prstGeom>
          </p:spPr>
        </p:pic>
        <p:pic>
          <p:nvPicPr>
            <p:cNvPr id="10" name="object 10"/>
            <p:cNvPicPr/>
            <p:nvPr/>
          </p:nvPicPr>
          <p:blipFill>
            <a:blip r:embed="rId3" cstate="print"/>
            <a:stretch>
              <a:fillRect/>
            </a:stretch>
          </p:blipFill>
          <p:spPr>
            <a:xfrm>
              <a:off x="1459992" y="3642359"/>
              <a:ext cx="1075944" cy="594359"/>
            </a:xfrm>
            <a:prstGeom prst="rect">
              <a:avLst/>
            </a:prstGeom>
          </p:spPr>
        </p:pic>
      </p:grpSp>
      <p:pic>
        <p:nvPicPr>
          <p:cNvPr id="11" name="object 11"/>
          <p:cNvPicPr/>
          <p:nvPr/>
        </p:nvPicPr>
        <p:blipFill>
          <a:blip r:embed="rId4" cstate="print"/>
          <a:stretch>
            <a:fillRect/>
          </a:stretch>
        </p:blipFill>
        <p:spPr>
          <a:xfrm>
            <a:off x="1147035" y="3717477"/>
            <a:ext cx="1703627" cy="344309"/>
          </a:xfrm>
          <a:prstGeom prst="rect">
            <a:avLst/>
          </a:prstGeom>
        </p:spPr>
      </p:pic>
      <p:grpSp>
        <p:nvGrpSpPr>
          <p:cNvPr id="12" name="object 12"/>
          <p:cNvGrpSpPr/>
          <p:nvPr/>
        </p:nvGrpSpPr>
        <p:grpSpPr>
          <a:xfrm>
            <a:off x="5175503" y="3639311"/>
            <a:ext cx="1819910" cy="591820"/>
            <a:chOff x="5175503" y="3639311"/>
            <a:chExt cx="1819910" cy="591820"/>
          </a:xfrm>
        </p:grpSpPr>
        <p:pic>
          <p:nvPicPr>
            <p:cNvPr id="13" name="object 13"/>
            <p:cNvPicPr/>
            <p:nvPr/>
          </p:nvPicPr>
          <p:blipFill>
            <a:blip r:embed="rId5" cstate="print"/>
            <a:stretch>
              <a:fillRect/>
            </a:stretch>
          </p:blipFill>
          <p:spPr>
            <a:xfrm>
              <a:off x="5175503" y="3672839"/>
              <a:ext cx="1819655" cy="463295"/>
            </a:xfrm>
            <a:prstGeom prst="rect">
              <a:avLst/>
            </a:prstGeom>
          </p:spPr>
        </p:pic>
        <p:pic>
          <p:nvPicPr>
            <p:cNvPr id="14" name="object 14"/>
            <p:cNvPicPr/>
            <p:nvPr/>
          </p:nvPicPr>
          <p:blipFill>
            <a:blip r:embed="rId6" cstate="print"/>
            <a:stretch>
              <a:fillRect/>
            </a:stretch>
          </p:blipFill>
          <p:spPr>
            <a:xfrm>
              <a:off x="5547359" y="3639311"/>
              <a:ext cx="1075943" cy="591312"/>
            </a:xfrm>
            <a:prstGeom prst="rect">
              <a:avLst/>
            </a:prstGeom>
          </p:spPr>
        </p:pic>
      </p:grpSp>
      <p:pic>
        <p:nvPicPr>
          <p:cNvPr id="15" name="object 15"/>
          <p:cNvPicPr/>
          <p:nvPr/>
        </p:nvPicPr>
        <p:blipFill>
          <a:blip r:embed="rId7" cstate="print"/>
          <a:stretch>
            <a:fillRect/>
          </a:stretch>
        </p:blipFill>
        <p:spPr>
          <a:xfrm>
            <a:off x="5233776" y="3712612"/>
            <a:ext cx="1703627" cy="344309"/>
          </a:xfrm>
          <a:prstGeom prst="rect">
            <a:avLst/>
          </a:prstGeom>
        </p:spPr>
      </p:pic>
      <p:graphicFrame>
        <p:nvGraphicFramePr>
          <p:cNvPr id="16" name="object 16"/>
          <p:cNvGraphicFramePr>
            <a:graphicFrameLocks noGrp="1"/>
          </p:cNvGraphicFramePr>
          <p:nvPr/>
        </p:nvGraphicFramePr>
        <p:xfrm>
          <a:off x="1147035" y="3712612"/>
          <a:ext cx="5790565" cy="344170"/>
        </p:xfrm>
        <a:graphic>
          <a:graphicData uri="http://schemas.openxmlformats.org/drawingml/2006/table">
            <a:tbl>
              <a:tblPr firstRow="1" bandRow="1">
                <a:tableStyleId>{2D5ABB26-0587-4C30-8999-92F81FD0307C}</a:tableStyleId>
              </a:tblPr>
              <a:tblGrid>
                <a:gridCol w="1703705">
                  <a:extLst>
                    <a:ext uri="{9D8B030D-6E8A-4147-A177-3AD203B41FA5}">
                      <a16:colId xmlns:a16="http://schemas.microsoft.com/office/drawing/2014/main" val="20000"/>
                    </a:ext>
                  </a:extLst>
                </a:gridCol>
                <a:gridCol w="2383155">
                  <a:extLst>
                    <a:ext uri="{9D8B030D-6E8A-4147-A177-3AD203B41FA5}">
                      <a16:colId xmlns:a16="http://schemas.microsoft.com/office/drawing/2014/main" val="20001"/>
                    </a:ext>
                  </a:extLst>
                </a:gridCol>
                <a:gridCol w="1703705">
                  <a:extLst>
                    <a:ext uri="{9D8B030D-6E8A-4147-A177-3AD203B41FA5}">
                      <a16:colId xmlns:a16="http://schemas.microsoft.com/office/drawing/2014/main" val="20002"/>
                    </a:ext>
                  </a:extLst>
                </a:gridCol>
              </a:tblGrid>
              <a:tr h="172085">
                <a:tc rowSpan="2">
                  <a:txBody>
                    <a:bodyPr/>
                    <a:lstStyle/>
                    <a:p>
                      <a:pPr marL="511809">
                        <a:lnSpc>
                          <a:spcPct val="100000"/>
                        </a:lnSpc>
                        <a:spcBef>
                          <a:spcPts val="195"/>
                        </a:spcBef>
                      </a:pPr>
                      <a:r>
                        <a:rPr sz="1800" b="1" dirty="0">
                          <a:latin typeface="Times New Roman"/>
                          <a:cs typeface="Times New Roman"/>
                        </a:rPr>
                        <a:t>Read</a:t>
                      </a:r>
                      <a:r>
                        <a:rPr sz="1800" b="1" spc="-50" dirty="0">
                          <a:latin typeface="Times New Roman"/>
                          <a:cs typeface="Times New Roman"/>
                        </a:rPr>
                        <a:t> </a:t>
                      </a:r>
                      <a:r>
                        <a:rPr sz="1800" b="1" dirty="0">
                          <a:latin typeface="Times New Roman"/>
                          <a:cs typeface="Times New Roman"/>
                        </a:rPr>
                        <a:t>2</a:t>
                      </a:r>
                      <a:endParaRPr sz="1800" dirty="0">
                        <a:latin typeface="Times New Roman"/>
                        <a:cs typeface="Times New Roman"/>
                      </a:endParaRPr>
                    </a:p>
                  </a:txBody>
                  <a:tcPr marL="0" marR="0" marT="24765" marB="0"/>
                </a:tc>
                <a:tc>
                  <a:txBody>
                    <a:bodyPr/>
                    <a:lstStyle/>
                    <a:p>
                      <a:pPr>
                        <a:lnSpc>
                          <a:spcPct val="100000"/>
                        </a:lnSpc>
                      </a:pPr>
                      <a:endParaRPr sz="1000">
                        <a:latin typeface="Times New Roman"/>
                        <a:cs typeface="Times New Roman"/>
                      </a:endParaRPr>
                    </a:p>
                  </a:txBody>
                  <a:tcPr marL="0" marR="0" marT="0" marB="0">
                    <a:lnB w="57150">
                      <a:solidFill>
                        <a:srgbClr val="000000"/>
                      </a:solidFill>
                      <a:prstDash val="solid"/>
                    </a:lnB>
                  </a:tcPr>
                </a:tc>
                <a:tc rowSpan="2">
                  <a:txBody>
                    <a:bodyPr/>
                    <a:lstStyle/>
                    <a:p>
                      <a:pPr marL="511809">
                        <a:lnSpc>
                          <a:spcPct val="100000"/>
                        </a:lnSpc>
                        <a:spcBef>
                          <a:spcPts val="145"/>
                        </a:spcBef>
                      </a:pPr>
                      <a:r>
                        <a:rPr sz="1800" b="1" dirty="0">
                          <a:latin typeface="Times New Roman"/>
                          <a:cs typeface="Times New Roman"/>
                        </a:rPr>
                        <a:t>Read</a:t>
                      </a:r>
                      <a:r>
                        <a:rPr sz="1800" b="1" spc="-50" dirty="0">
                          <a:latin typeface="Times New Roman"/>
                          <a:cs typeface="Times New Roman"/>
                        </a:rPr>
                        <a:t> </a:t>
                      </a:r>
                      <a:r>
                        <a:rPr sz="1800" b="1" dirty="0">
                          <a:latin typeface="Times New Roman"/>
                          <a:cs typeface="Times New Roman"/>
                        </a:rPr>
                        <a:t>1</a:t>
                      </a:r>
                      <a:endParaRPr sz="1800" dirty="0">
                        <a:latin typeface="Times New Roman"/>
                        <a:cs typeface="Times New Roman"/>
                      </a:endParaRPr>
                    </a:p>
                  </a:txBody>
                  <a:tcPr marL="0" marR="0" marT="18415" marB="0"/>
                </a:tc>
                <a:extLst>
                  <a:ext uri="{0D108BD9-81ED-4DB2-BD59-A6C34878D82A}">
                    <a16:rowId xmlns:a16="http://schemas.microsoft.com/office/drawing/2014/main" val="10000"/>
                  </a:ext>
                </a:extLst>
              </a:tr>
              <a:tr h="172085">
                <a:tc vMerge="1">
                  <a:txBody>
                    <a:bodyPr/>
                    <a:lstStyle/>
                    <a:p>
                      <a:endParaRPr/>
                    </a:p>
                  </a:txBody>
                  <a:tcPr marL="0" marR="0" marT="24765" marB="0"/>
                </a:tc>
                <a:tc>
                  <a:txBody>
                    <a:bodyPr/>
                    <a:lstStyle/>
                    <a:p>
                      <a:pPr>
                        <a:lnSpc>
                          <a:spcPct val="100000"/>
                        </a:lnSpc>
                      </a:pPr>
                      <a:endParaRPr sz="1000" dirty="0">
                        <a:latin typeface="Times New Roman"/>
                        <a:cs typeface="Times New Roman"/>
                      </a:endParaRPr>
                    </a:p>
                  </a:txBody>
                  <a:tcPr marL="0" marR="0" marT="0" marB="0">
                    <a:lnT w="57150">
                      <a:solidFill>
                        <a:srgbClr val="000000"/>
                      </a:solidFill>
                      <a:prstDash val="solid"/>
                    </a:lnT>
                  </a:tcPr>
                </a:tc>
                <a:tc vMerge="1">
                  <a:txBody>
                    <a:bodyPr/>
                    <a:lstStyle/>
                    <a:p>
                      <a:endParaRPr/>
                    </a:p>
                  </a:txBody>
                  <a:tcPr marL="0" marR="0" marT="18415" marB="0"/>
                </a:tc>
                <a:extLst>
                  <a:ext uri="{0D108BD9-81ED-4DB2-BD59-A6C34878D82A}">
                    <a16:rowId xmlns:a16="http://schemas.microsoft.com/office/drawing/2014/main" val="10001"/>
                  </a:ext>
                </a:extLst>
              </a:tr>
            </a:tbl>
          </a:graphicData>
        </a:graphic>
      </p:graphicFrame>
      <p:sp>
        <p:nvSpPr>
          <p:cNvPr id="17" name="object 17"/>
          <p:cNvSpPr txBox="1"/>
          <p:nvPr/>
        </p:nvSpPr>
        <p:spPr>
          <a:xfrm>
            <a:off x="1013018" y="5093715"/>
            <a:ext cx="7009765" cy="882015"/>
          </a:xfrm>
          <a:prstGeom prst="rect">
            <a:avLst/>
          </a:prstGeom>
        </p:spPr>
        <p:txBody>
          <a:bodyPr vert="horz" wrap="square" lIns="0" tIns="9525" rIns="0" bIns="0" rtlCol="0">
            <a:spAutoFit/>
          </a:bodyPr>
          <a:lstStyle/>
          <a:p>
            <a:pPr marL="12700" marR="5080">
              <a:lnSpc>
                <a:spcPct val="100699"/>
              </a:lnSpc>
              <a:spcBef>
                <a:spcPts val="75"/>
              </a:spcBef>
            </a:pPr>
            <a:r>
              <a:rPr sz="2800" dirty="0">
                <a:latin typeface="Times New Roman"/>
                <a:cs typeface="Times New Roman"/>
              </a:rPr>
              <a:t>If </a:t>
            </a:r>
            <a:r>
              <a:rPr sz="2800" spc="-5" dirty="0">
                <a:latin typeface="Times New Roman"/>
                <a:cs typeface="Times New Roman"/>
              </a:rPr>
              <a:t>both </a:t>
            </a:r>
            <a:r>
              <a:rPr sz="2800" spc="-10" dirty="0">
                <a:latin typeface="Times New Roman"/>
                <a:cs typeface="Times New Roman"/>
              </a:rPr>
              <a:t>Read</a:t>
            </a:r>
            <a:r>
              <a:rPr sz="2800" dirty="0">
                <a:latin typeface="Times New Roman"/>
                <a:cs typeface="Times New Roman"/>
              </a:rPr>
              <a:t> 1</a:t>
            </a:r>
            <a:r>
              <a:rPr sz="2800" spc="-5" dirty="0">
                <a:latin typeface="Times New Roman"/>
                <a:cs typeface="Times New Roman"/>
              </a:rPr>
              <a:t> and</a:t>
            </a:r>
            <a:r>
              <a:rPr sz="2800" dirty="0">
                <a:latin typeface="Times New Roman"/>
                <a:cs typeface="Times New Roman"/>
              </a:rPr>
              <a:t> </a:t>
            </a:r>
            <a:r>
              <a:rPr sz="2800" spc="-10" dirty="0">
                <a:latin typeface="Times New Roman"/>
                <a:cs typeface="Times New Roman"/>
              </a:rPr>
              <a:t>Read</a:t>
            </a:r>
            <a:r>
              <a:rPr sz="2800" spc="-5" dirty="0">
                <a:latin typeface="Times New Roman"/>
                <a:cs typeface="Times New Roman"/>
              </a:rPr>
              <a:t> </a:t>
            </a:r>
            <a:r>
              <a:rPr sz="2800" dirty="0">
                <a:latin typeface="Times New Roman"/>
                <a:cs typeface="Times New Roman"/>
              </a:rPr>
              <a:t>2 </a:t>
            </a:r>
            <a:r>
              <a:rPr sz="2800" spc="-5" dirty="0">
                <a:latin typeface="Times New Roman"/>
                <a:cs typeface="Times New Roman"/>
              </a:rPr>
              <a:t>align to</a:t>
            </a:r>
            <a:r>
              <a:rPr sz="2800" dirty="0">
                <a:latin typeface="Times New Roman"/>
                <a:cs typeface="Times New Roman"/>
              </a:rPr>
              <a:t> </a:t>
            </a:r>
            <a:r>
              <a:rPr sz="2800" spc="-5" dirty="0">
                <a:latin typeface="Times New Roman"/>
                <a:cs typeface="Times New Roman"/>
              </a:rPr>
              <a:t>the </a:t>
            </a:r>
            <a:r>
              <a:rPr sz="2800" spc="-685" dirty="0">
                <a:latin typeface="Times New Roman"/>
                <a:cs typeface="Times New Roman"/>
              </a:rPr>
              <a:t> </a:t>
            </a:r>
            <a:r>
              <a:rPr sz="2800" spc="-5" dirty="0">
                <a:latin typeface="Times New Roman"/>
                <a:cs typeface="Times New Roman"/>
              </a:rPr>
              <a:t>coding,</a:t>
            </a:r>
            <a:r>
              <a:rPr sz="2800" dirty="0">
                <a:latin typeface="Times New Roman"/>
                <a:cs typeface="Times New Roman"/>
              </a:rPr>
              <a:t> </a:t>
            </a:r>
            <a:r>
              <a:rPr sz="2800" spc="-5" dirty="0">
                <a:latin typeface="Times New Roman"/>
                <a:cs typeface="Times New Roman"/>
              </a:rPr>
              <a:t>sense</a:t>
            </a:r>
            <a:r>
              <a:rPr sz="2800" spc="-10" dirty="0">
                <a:latin typeface="Times New Roman"/>
                <a:cs typeface="Times New Roman"/>
              </a:rPr>
              <a:t> </a:t>
            </a:r>
            <a:r>
              <a:rPr sz="2800" spc="-5" dirty="0">
                <a:latin typeface="Times New Roman"/>
                <a:cs typeface="Times New Roman"/>
              </a:rPr>
              <a:t>strand </a:t>
            </a:r>
            <a:r>
              <a:rPr sz="2800" dirty="0">
                <a:latin typeface="Times New Roman"/>
                <a:cs typeface="Times New Roman"/>
              </a:rPr>
              <a:t>– </a:t>
            </a:r>
            <a:r>
              <a:rPr sz="2800" spc="-5" dirty="0">
                <a:latin typeface="Times New Roman"/>
                <a:cs typeface="Times New Roman"/>
              </a:rPr>
              <a:t>the</a:t>
            </a:r>
            <a:r>
              <a:rPr sz="2800" spc="-10" dirty="0">
                <a:latin typeface="Times New Roman"/>
                <a:cs typeface="Times New Roman"/>
              </a:rPr>
              <a:t> </a:t>
            </a:r>
            <a:r>
              <a:rPr sz="2800" spc="-5" dirty="0">
                <a:latin typeface="Times New Roman"/>
                <a:cs typeface="Times New Roman"/>
              </a:rPr>
              <a:t>library</a:t>
            </a:r>
            <a:r>
              <a:rPr sz="2800" dirty="0">
                <a:latin typeface="Times New Roman"/>
                <a:cs typeface="Times New Roman"/>
              </a:rPr>
              <a:t> </a:t>
            </a:r>
            <a:r>
              <a:rPr sz="2800" spc="-5" dirty="0">
                <a:latin typeface="Times New Roman"/>
                <a:cs typeface="Times New Roman"/>
              </a:rPr>
              <a:t>is “unstranded”</a:t>
            </a:r>
            <a:endParaRPr sz="2800" dirty="0">
              <a:latin typeface="Times New Roman"/>
              <a:cs typeface="Times New Roman"/>
            </a:endParaRPr>
          </a:p>
        </p:txBody>
      </p:sp>
      <p:sp>
        <p:nvSpPr>
          <p:cNvPr id="19" name="TextBox 18">
            <a:extLst>
              <a:ext uri="{FF2B5EF4-FFF2-40B4-BE49-F238E27FC236}">
                <a16:creationId xmlns:a16="http://schemas.microsoft.com/office/drawing/2014/main" id="{5CF34FED-F4E0-F800-C2C2-8B0B71F67507}"/>
              </a:ext>
            </a:extLst>
          </p:cNvPr>
          <p:cNvSpPr txBox="1"/>
          <p:nvPr/>
        </p:nvSpPr>
        <p:spPr>
          <a:xfrm>
            <a:off x="7330189" y="152077"/>
            <a:ext cx="4572000" cy="369332"/>
          </a:xfrm>
          <a:prstGeom prst="rect">
            <a:avLst/>
          </a:prstGeom>
          <a:noFill/>
        </p:spPr>
        <p:txBody>
          <a:bodyPr wrap="square">
            <a:spAutoFit/>
          </a:bodyPr>
          <a:lstStyle/>
          <a:p>
            <a:pPr marL="12700">
              <a:lnSpc>
                <a:spcPct val="100000"/>
              </a:lnSpc>
              <a:spcBef>
                <a:spcPts val="680"/>
              </a:spcBef>
              <a:tabLst>
                <a:tab pos="241300" algn="l"/>
              </a:tabLst>
            </a:pPr>
            <a:r>
              <a:rPr lang="en-US" sz="1800" b="1" spc="-5" dirty="0" err="1">
                <a:latin typeface="Times New Roman"/>
                <a:cs typeface="Times New Roman"/>
              </a:rPr>
              <a:t>Unstranded</a:t>
            </a:r>
            <a:endParaRPr lang="en-US" sz="1800" b="1" dirty="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403E44B-DBA4-8E05-614D-78C2446A1566}"/>
              </a:ext>
            </a:extLst>
          </p:cNvPr>
          <p:cNvGraphicFramePr>
            <a:graphicFrameLocks noGrp="1"/>
          </p:cNvGraphicFramePr>
          <p:nvPr>
            <p:extLst>
              <p:ext uri="{D42A27DB-BD31-4B8C-83A1-F6EECF244321}">
                <p14:modId xmlns:p14="http://schemas.microsoft.com/office/powerpoint/2010/main" val="1482908133"/>
              </p:ext>
            </p:extLst>
          </p:nvPr>
        </p:nvGraphicFramePr>
        <p:xfrm>
          <a:off x="304800" y="1143000"/>
          <a:ext cx="8534400" cy="4334116"/>
        </p:xfrm>
        <a:graphic>
          <a:graphicData uri="http://schemas.openxmlformats.org/drawingml/2006/table">
            <a:tbl>
              <a:tblPr firstRow="1" bandRow="1">
                <a:tableStyleId>{5940675A-B579-460E-94D1-54222C63F5DA}</a:tableStyleId>
              </a:tblPr>
              <a:tblGrid>
                <a:gridCol w="2133600">
                  <a:extLst>
                    <a:ext uri="{9D8B030D-6E8A-4147-A177-3AD203B41FA5}">
                      <a16:colId xmlns:a16="http://schemas.microsoft.com/office/drawing/2014/main" val="1212291885"/>
                    </a:ext>
                  </a:extLst>
                </a:gridCol>
                <a:gridCol w="2133600">
                  <a:extLst>
                    <a:ext uri="{9D8B030D-6E8A-4147-A177-3AD203B41FA5}">
                      <a16:colId xmlns:a16="http://schemas.microsoft.com/office/drawing/2014/main" val="3433463079"/>
                    </a:ext>
                  </a:extLst>
                </a:gridCol>
                <a:gridCol w="2133600">
                  <a:extLst>
                    <a:ext uri="{9D8B030D-6E8A-4147-A177-3AD203B41FA5}">
                      <a16:colId xmlns:a16="http://schemas.microsoft.com/office/drawing/2014/main" val="4118579753"/>
                    </a:ext>
                  </a:extLst>
                </a:gridCol>
                <a:gridCol w="2133600">
                  <a:extLst>
                    <a:ext uri="{9D8B030D-6E8A-4147-A177-3AD203B41FA5}">
                      <a16:colId xmlns:a16="http://schemas.microsoft.com/office/drawing/2014/main" val="1054524153"/>
                    </a:ext>
                  </a:extLst>
                </a:gridCol>
              </a:tblGrid>
              <a:tr h="1244485">
                <a:tc>
                  <a:txBody>
                    <a:bodyPr/>
                    <a:lstStyle/>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5" dirty="0"/>
                        <a:t>Option 1</a:t>
                      </a:r>
                      <a:r>
                        <a:rPr lang="en-US" sz="1800" b="1" spc="5" dirty="0"/>
                        <a:t> </a:t>
                      </a:r>
                      <a:r>
                        <a:rPr lang="en-US" sz="1800" b="1" dirty="0">
                          <a:solidFill>
                            <a:srgbClr val="FF0000"/>
                          </a:solidFill>
                        </a:rPr>
                        <a:t>Stranded/sense</a:t>
                      </a:r>
                      <a:endParaRPr lang="en-US" sz="1800" dirty="0">
                        <a:solidFill>
                          <a:srgbClr val="FF0000"/>
                        </a:solidFill>
                      </a:endParaRPr>
                    </a:p>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5" dirty="0"/>
                        <a:t>Option 2</a:t>
                      </a:r>
                      <a:r>
                        <a:rPr lang="en-US" sz="1800" b="1" dirty="0"/>
                        <a:t> </a:t>
                      </a:r>
                      <a:r>
                        <a:rPr lang="en-US" sz="1800" b="1" spc="5" dirty="0"/>
                        <a:t>   </a:t>
                      </a:r>
                      <a:r>
                        <a:rPr lang="en-US" sz="1800" b="1" spc="-10" dirty="0">
                          <a:solidFill>
                            <a:srgbClr val="FF0000"/>
                          </a:solidFill>
                        </a:rPr>
                        <a:t>Reverse/antisense</a:t>
                      </a:r>
                      <a:endParaRPr lang="en-US" sz="1800" dirty="0"/>
                    </a:p>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5" dirty="0"/>
                        <a:t>Option </a:t>
                      </a:r>
                      <a:r>
                        <a:rPr lang="en-US" sz="1800" b="1" dirty="0"/>
                        <a:t>3 </a:t>
                      </a:r>
                      <a:r>
                        <a:rPr lang="en-US" sz="1800" b="1" dirty="0" err="1">
                          <a:solidFill>
                            <a:srgbClr val="FF0000"/>
                          </a:solidFill>
                        </a:rPr>
                        <a:t>U</a:t>
                      </a:r>
                      <a:r>
                        <a:rPr lang="en-US" sz="1800" b="1" spc="-5" dirty="0" err="1">
                          <a:solidFill>
                            <a:srgbClr val="FF0000"/>
                          </a:solidFill>
                        </a:rPr>
                        <a:t>ns</a:t>
                      </a:r>
                      <a:r>
                        <a:rPr lang="en-US" sz="1800" b="1" dirty="0" err="1">
                          <a:solidFill>
                            <a:srgbClr val="FF0000"/>
                          </a:solidFill>
                        </a:rPr>
                        <a:t>tra</a:t>
                      </a:r>
                      <a:r>
                        <a:rPr lang="en-US" sz="1800" b="1" spc="-5" dirty="0" err="1">
                          <a:solidFill>
                            <a:srgbClr val="FF0000"/>
                          </a:solidFill>
                        </a:rPr>
                        <a:t>nd</a:t>
                      </a:r>
                      <a:r>
                        <a:rPr lang="en-US" sz="1800" b="1" dirty="0" err="1">
                          <a:solidFill>
                            <a:srgbClr val="FF0000"/>
                          </a:solidFill>
                        </a:rPr>
                        <a:t>ed</a:t>
                      </a:r>
                      <a:endParaRPr lang="en-US" sz="1800" b="1" dirty="0">
                        <a:solidFill>
                          <a:srgbClr val="FF0000"/>
                        </a:solidFill>
                      </a:endParaRPr>
                    </a:p>
                    <a:p>
                      <a:pPr algn="ctr"/>
                      <a:endParaRPr lang="en-US" dirty="0"/>
                    </a:p>
                  </a:txBody>
                  <a:tcPr/>
                </a:tc>
                <a:extLst>
                  <a:ext uri="{0D108BD9-81ED-4DB2-BD59-A6C34878D82A}">
                    <a16:rowId xmlns:a16="http://schemas.microsoft.com/office/drawing/2014/main" val="3191005847"/>
                  </a:ext>
                </a:extLst>
              </a:tr>
              <a:tr h="1193915">
                <a:tc>
                  <a:txBody>
                    <a:bodyPr/>
                    <a:lstStyle/>
                    <a:p>
                      <a:pPr algn="ctr">
                        <a:lnSpc>
                          <a:spcPct val="100000"/>
                        </a:lnSpc>
                        <a:spcBef>
                          <a:spcPts val="254"/>
                        </a:spcBef>
                      </a:pPr>
                      <a:r>
                        <a:rPr lang="en-US" sz="1800" b="1" spc="-30" dirty="0"/>
                        <a:t>HISAT2</a:t>
                      </a:r>
                    </a:p>
                    <a:p>
                      <a:pPr marL="0" marR="0" lvl="0" indent="0" algn="ctr" defTabSz="914400" eaLnBrk="1" fontAlgn="auto" latinLnBrk="0" hangingPunct="1">
                        <a:lnSpc>
                          <a:spcPct val="100000"/>
                        </a:lnSpc>
                        <a:spcBef>
                          <a:spcPts val="254"/>
                        </a:spcBef>
                        <a:spcAft>
                          <a:spcPts val="0"/>
                        </a:spcAft>
                        <a:buClrTx/>
                        <a:buSzTx/>
                        <a:buFontTx/>
                        <a:buNone/>
                        <a:tabLst/>
                        <a:defRPr/>
                      </a:pPr>
                      <a:r>
                        <a:rPr lang="en-US" sz="1800" b="1" spc="-30" dirty="0"/>
                        <a:t>(</a:t>
                      </a:r>
                      <a:r>
                        <a:rPr lang="en-US" sz="1800" spc="-5" dirty="0"/>
                        <a:t>--</a:t>
                      </a:r>
                      <a:r>
                        <a:rPr lang="en-US" sz="1800" spc="-5" dirty="0" err="1"/>
                        <a:t>r</a:t>
                      </a:r>
                      <a:r>
                        <a:rPr lang="en-US" sz="1800" dirty="0" err="1"/>
                        <a:t>n</a:t>
                      </a:r>
                      <a:r>
                        <a:rPr lang="en-US" sz="1800" spc="-5" dirty="0" err="1"/>
                        <a:t>a-s</a:t>
                      </a:r>
                      <a:r>
                        <a:rPr lang="en-US" sz="1800" spc="-10" dirty="0" err="1"/>
                        <a:t>t</a:t>
                      </a:r>
                      <a:r>
                        <a:rPr lang="en-US" sz="1800" spc="-5" dirty="0" err="1"/>
                        <a:t>ra</a:t>
                      </a:r>
                      <a:r>
                        <a:rPr lang="en-US" sz="1800" dirty="0" err="1"/>
                        <a:t>nd</a:t>
                      </a:r>
                      <a:r>
                        <a:rPr lang="en-US" sz="1800" spc="-5" dirty="0" err="1"/>
                        <a:t>e</a:t>
                      </a:r>
                      <a:r>
                        <a:rPr lang="en-US" sz="1800" dirty="0" err="1"/>
                        <a:t>dn</a:t>
                      </a:r>
                      <a:r>
                        <a:rPr lang="en-US" sz="1800" spc="-5" dirty="0" err="1"/>
                        <a:t>es</a:t>
                      </a:r>
                      <a:r>
                        <a:rPr lang="en-US" sz="1800" dirty="0" err="1"/>
                        <a:t>s</a:t>
                      </a:r>
                      <a:r>
                        <a:rPr lang="en-US" sz="1800" dirty="0"/>
                        <a:t>) </a:t>
                      </a:r>
                      <a:endParaRPr lang="en-US" sz="1800" spc="-5" dirty="0"/>
                    </a:p>
                    <a:p>
                      <a:pPr algn="ctr"/>
                      <a:endParaRPr lang="en-US" dirty="0"/>
                    </a:p>
                  </a:txBody>
                  <a:tcPr/>
                </a:tc>
                <a:tc>
                  <a:txBody>
                    <a:bodyPr/>
                    <a:lstStyle/>
                    <a:p>
                      <a:pPr marL="91440" marR="0" lvl="0" indent="0" algn="ctr" defTabSz="914400" eaLnBrk="1" fontAlgn="auto" latinLnBrk="0" hangingPunct="1">
                        <a:lnSpc>
                          <a:spcPct val="100000"/>
                        </a:lnSpc>
                        <a:spcBef>
                          <a:spcPts val="254"/>
                        </a:spcBef>
                        <a:spcAft>
                          <a:spcPts val="0"/>
                        </a:spcAft>
                        <a:buClrTx/>
                        <a:buSzTx/>
                        <a:buFontTx/>
                        <a:buNone/>
                        <a:tabLst/>
                        <a:defRPr/>
                      </a:pPr>
                      <a:r>
                        <a:rPr lang="en-US" sz="1800" spc="-5" dirty="0"/>
                        <a:t>FR (for</a:t>
                      </a:r>
                      <a:r>
                        <a:rPr lang="en-US" sz="1800" spc="-30" dirty="0"/>
                        <a:t> </a:t>
                      </a:r>
                      <a:r>
                        <a:rPr lang="en-US" sz="1800" dirty="0"/>
                        <a:t>PE)</a:t>
                      </a:r>
                    </a:p>
                    <a:p>
                      <a:pPr marL="91440" marR="0" lvl="0" indent="0" algn="ctr" defTabSz="914400" eaLnBrk="1" fontAlgn="auto" latinLnBrk="0" hangingPunct="1">
                        <a:lnSpc>
                          <a:spcPct val="100000"/>
                        </a:lnSpc>
                        <a:spcBef>
                          <a:spcPts val="254"/>
                        </a:spcBef>
                        <a:spcAft>
                          <a:spcPts val="0"/>
                        </a:spcAft>
                        <a:buClrTx/>
                        <a:buSzTx/>
                        <a:buFontTx/>
                        <a:buNone/>
                        <a:tabLst/>
                        <a:defRPr/>
                      </a:pPr>
                      <a:r>
                        <a:rPr lang="en-US" sz="1800" spc="-5" dirty="0"/>
                        <a:t>F (for</a:t>
                      </a:r>
                      <a:r>
                        <a:rPr lang="en-US" sz="1800" spc="-30" dirty="0"/>
                        <a:t> S</a:t>
                      </a:r>
                      <a:r>
                        <a:rPr lang="en-US" sz="1800" dirty="0"/>
                        <a:t>E)</a:t>
                      </a:r>
                    </a:p>
                    <a:p>
                      <a:pPr algn="ctr"/>
                      <a:endParaRPr lang="en-US" dirty="0"/>
                    </a:p>
                  </a:txBody>
                  <a:tcPr/>
                </a:tc>
                <a:tc>
                  <a:txBody>
                    <a:bodyPr/>
                    <a:lstStyle/>
                    <a:p>
                      <a:pPr marL="91440" algn="ctr">
                        <a:lnSpc>
                          <a:spcPct val="100000"/>
                        </a:lnSpc>
                        <a:spcBef>
                          <a:spcPts val="254"/>
                        </a:spcBef>
                      </a:pPr>
                      <a:r>
                        <a:rPr lang="en-US" sz="1800" spc="-5" dirty="0"/>
                        <a:t>RF</a:t>
                      </a:r>
                      <a:r>
                        <a:rPr lang="en-US" sz="1800" spc="-25" dirty="0"/>
                        <a:t> </a:t>
                      </a:r>
                      <a:r>
                        <a:rPr lang="en-US" sz="1800" spc="-5" dirty="0"/>
                        <a:t>(for</a:t>
                      </a:r>
                      <a:r>
                        <a:rPr lang="en-US" sz="1800" spc="-30" dirty="0"/>
                        <a:t> </a:t>
                      </a:r>
                      <a:r>
                        <a:rPr lang="en-US" sz="1800" dirty="0"/>
                        <a:t>PE)</a:t>
                      </a:r>
                    </a:p>
                    <a:p>
                      <a:pPr marL="91440" marR="230504" algn="ctr">
                        <a:lnSpc>
                          <a:spcPct val="100000"/>
                        </a:lnSpc>
                      </a:pPr>
                      <a:r>
                        <a:rPr lang="en-US" sz="1800" dirty="0"/>
                        <a:t>R</a:t>
                      </a:r>
                      <a:r>
                        <a:rPr lang="en-US" sz="1800" spc="-10" dirty="0"/>
                        <a:t> </a:t>
                      </a:r>
                      <a:r>
                        <a:rPr lang="en-US" sz="1800" spc="-5" dirty="0"/>
                        <a:t>(for</a:t>
                      </a:r>
                      <a:r>
                        <a:rPr lang="en-US" sz="1800" spc="-10" dirty="0"/>
                        <a:t> </a:t>
                      </a:r>
                      <a:r>
                        <a:rPr lang="en-US" sz="1800" dirty="0"/>
                        <a:t>SE)</a:t>
                      </a:r>
                    </a:p>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spc="-5" dirty="0"/>
                        <a:t>Default</a:t>
                      </a:r>
                      <a:endParaRPr lang="en-US" sz="1800" dirty="0"/>
                    </a:p>
                    <a:p>
                      <a:pPr algn="ctr"/>
                      <a:endParaRPr lang="en-US" dirty="0"/>
                    </a:p>
                  </a:txBody>
                  <a:tcPr/>
                </a:tc>
                <a:extLst>
                  <a:ext uri="{0D108BD9-81ED-4DB2-BD59-A6C34878D82A}">
                    <a16:rowId xmlns:a16="http://schemas.microsoft.com/office/drawing/2014/main" val="1760047590"/>
                  </a:ext>
                </a:extLst>
              </a:tr>
              <a:tr h="685800">
                <a:tc>
                  <a:txBody>
                    <a:bodyPr/>
                    <a:lstStyle/>
                    <a:p>
                      <a:pPr algn="ctr">
                        <a:lnSpc>
                          <a:spcPct val="100000"/>
                        </a:lnSpc>
                        <a:spcBef>
                          <a:spcPts val="254"/>
                        </a:spcBef>
                      </a:pPr>
                      <a:r>
                        <a:rPr sz="2000" b="1" spc="-40" dirty="0"/>
                        <a:t>STAR</a:t>
                      </a:r>
                      <a:endParaRPr sz="2000" dirty="0">
                        <a:latin typeface="Times New Roman"/>
                        <a:cs typeface="Times New Roman"/>
                      </a:endParaRPr>
                    </a:p>
                  </a:txBody>
                  <a:tcPr marL="0" marR="0" marT="32384" marB="0"/>
                </a:tc>
                <a:tc>
                  <a:txBody>
                    <a:bodyPr/>
                    <a:lstStyle/>
                    <a:p>
                      <a:pPr marL="91440" algn="ctr">
                        <a:lnSpc>
                          <a:spcPct val="100000"/>
                        </a:lnSpc>
                        <a:spcBef>
                          <a:spcPts val="254"/>
                        </a:spcBef>
                      </a:pPr>
                      <a:r>
                        <a:rPr sz="2000" spc="-5" dirty="0"/>
                        <a:t>n/a</a:t>
                      </a:r>
                      <a:endParaRPr sz="2000" dirty="0">
                        <a:latin typeface="Times New Roman"/>
                        <a:cs typeface="Times New Roman"/>
                      </a:endParaRPr>
                    </a:p>
                  </a:txBody>
                  <a:tcPr marL="0" marR="0" marT="32384" marB="0"/>
                </a:tc>
                <a:tc>
                  <a:txBody>
                    <a:bodyPr/>
                    <a:lstStyle/>
                    <a:p>
                      <a:pPr marL="91440" algn="ctr">
                        <a:lnSpc>
                          <a:spcPct val="100000"/>
                        </a:lnSpc>
                        <a:spcBef>
                          <a:spcPts val="254"/>
                        </a:spcBef>
                      </a:pPr>
                      <a:r>
                        <a:rPr sz="2000" spc="-5" dirty="0"/>
                        <a:t>n/a</a:t>
                      </a:r>
                      <a:endParaRPr sz="2000">
                        <a:latin typeface="Times New Roman"/>
                        <a:cs typeface="Times New Roman"/>
                      </a:endParaRPr>
                    </a:p>
                  </a:txBody>
                  <a:tcPr marL="0" marR="0" marT="32384" marB="0"/>
                </a:tc>
                <a:tc>
                  <a:txBody>
                    <a:bodyPr/>
                    <a:lstStyle/>
                    <a:p>
                      <a:pPr marL="91440" algn="ctr">
                        <a:lnSpc>
                          <a:spcPct val="100000"/>
                        </a:lnSpc>
                        <a:spcBef>
                          <a:spcPts val="254"/>
                        </a:spcBef>
                      </a:pPr>
                      <a:r>
                        <a:rPr sz="2000" spc="-5" dirty="0"/>
                        <a:t>n/a</a:t>
                      </a:r>
                      <a:endParaRPr sz="2000" dirty="0">
                        <a:latin typeface="Times New Roman"/>
                        <a:cs typeface="Times New Roman"/>
                      </a:endParaRPr>
                    </a:p>
                  </a:txBody>
                  <a:tcPr marL="0" marR="0" marT="32384" marB="0"/>
                </a:tc>
                <a:extLst>
                  <a:ext uri="{0D108BD9-81ED-4DB2-BD59-A6C34878D82A}">
                    <a16:rowId xmlns:a16="http://schemas.microsoft.com/office/drawing/2014/main" val="270596460"/>
                  </a:ext>
                </a:extLst>
              </a:tr>
              <a:tr h="1209916">
                <a:tc>
                  <a:txBody>
                    <a:bodyPr/>
                    <a:lstStyle/>
                    <a:p>
                      <a:pPr algn="ctr">
                        <a:lnSpc>
                          <a:spcPct val="100000"/>
                        </a:lnSpc>
                        <a:spcBef>
                          <a:spcPts val="260"/>
                        </a:spcBef>
                      </a:pPr>
                      <a:r>
                        <a:rPr sz="2000" b="1" spc="-5" dirty="0"/>
                        <a:t>HTSeq</a:t>
                      </a:r>
                      <a:endParaRPr sz="2000" dirty="0">
                        <a:latin typeface="Times New Roman"/>
                        <a:cs typeface="Times New Roman"/>
                      </a:endParaRPr>
                    </a:p>
                  </a:txBody>
                  <a:tcPr marL="0" marR="0" marT="33020" marB="0"/>
                </a:tc>
                <a:tc>
                  <a:txBody>
                    <a:bodyPr/>
                    <a:lstStyle/>
                    <a:p>
                      <a:pPr marL="91440" algn="ctr">
                        <a:lnSpc>
                          <a:spcPct val="100000"/>
                        </a:lnSpc>
                        <a:spcBef>
                          <a:spcPts val="260"/>
                        </a:spcBef>
                      </a:pPr>
                      <a:r>
                        <a:rPr sz="2000" spc="-5" dirty="0"/>
                        <a:t>stranded=yes</a:t>
                      </a:r>
                      <a:endParaRPr sz="2000" dirty="0">
                        <a:latin typeface="Times New Roman"/>
                        <a:cs typeface="Times New Roman"/>
                      </a:endParaRPr>
                    </a:p>
                  </a:txBody>
                  <a:tcPr marL="0" marR="0" marT="33020" marB="0"/>
                </a:tc>
                <a:tc>
                  <a:txBody>
                    <a:bodyPr/>
                    <a:lstStyle/>
                    <a:p>
                      <a:pPr marL="91440" algn="ctr">
                        <a:lnSpc>
                          <a:spcPct val="100000"/>
                        </a:lnSpc>
                        <a:spcBef>
                          <a:spcPts val="260"/>
                        </a:spcBef>
                      </a:pPr>
                      <a:r>
                        <a:rPr sz="2000" spc="-5" dirty="0"/>
                        <a:t>stranded=reverse</a:t>
                      </a:r>
                      <a:endParaRPr sz="2000">
                        <a:latin typeface="Times New Roman"/>
                        <a:cs typeface="Times New Roman"/>
                      </a:endParaRPr>
                    </a:p>
                  </a:txBody>
                  <a:tcPr marL="0" marR="0" marT="33020" marB="0"/>
                </a:tc>
                <a:tc>
                  <a:txBody>
                    <a:bodyPr/>
                    <a:lstStyle/>
                    <a:p>
                      <a:pPr marL="91440" algn="ctr">
                        <a:lnSpc>
                          <a:spcPct val="100000"/>
                        </a:lnSpc>
                        <a:spcBef>
                          <a:spcPts val="260"/>
                        </a:spcBef>
                      </a:pPr>
                      <a:r>
                        <a:rPr sz="2000" spc="-5" dirty="0"/>
                        <a:t>stranded=no</a:t>
                      </a:r>
                      <a:endParaRPr sz="2000" dirty="0">
                        <a:latin typeface="Times New Roman"/>
                        <a:cs typeface="Times New Roman"/>
                      </a:endParaRPr>
                    </a:p>
                  </a:txBody>
                  <a:tcPr marL="0" marR="0" marT="33020" marB="0"/>
                </a:tc>
                <a:extLst>
                  <a:ext uri="{0D108BD9-81ED-4DB2-BD59-A6C34878D82A}">
                    <a16:rowId xmlns:a16="http://schemas.microsoft.com/office/drawing/2014/main" val="3076023363"/>
                  </a:ext>
                </a:extLst>
              </a:tr>
            </a:tbl>
          </a:graphicData>
        </a:graphic>
      </p:graphicFrame>
      <p:sp>
        <p:nvSpPr>
          <p:cNvPr id="5" name="TextBox 4">
            <a:extLst>
              <a:ext uri="{FF2B5EF4-FFF2-40B4-BE49-F238E27FC236}">
                <a16:creationId xmlns:a16="http://schemas.microsoft.com/office/drawing/2014/main" id="{300B53DB-D8F4-DEDD-BE40-A8DEC56F2D63}"/>
              </a:ext>
            </a:extLst>
          </p:cNvPr>
          <p:cNvSpPr txBox="1"/>
          <p:nvPr/>
        </p:nvSpPr>
        <p:spPr>
          <a:xfrm>
            <a:off x="762000" y="228600"/>
            <a:ext cx="7620000" cy="523220"/>
          </a:xfrm>
          <a:prstGeom prst="rect">
            <a:avLst/>
          </a:prstGeom>
          <a:noFill/>
        </p:spPr>
        <p:txBody>
          <a:bodyPr wrap="square" rtlCol="0">
            <a:spAutoFit/>
          </a:bodyPr>
          <a:lstStyle/>
          <a:p>
            <a:pPr algn="ctr"/>
            <a:r>
              <a:rPr lang="en-US" sz="2800" dirty="0"/>
              <a:t>Options to select from when aligning and counting</a:t>
            </a:r>
          </a:p>
        </p:txBody>
      </p:sp>
    </p:spTree>
    <p:extLst>
      <p:ext uri="{BB962C8B-B14F-4D97-AF65-F5344CB8AC3E}">
        <p14:creationId xmlns:p14="http://schemas.microsoft.com/office/powerpoint/2010/main" val="1364126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6DF7-CF53-D540-F601-4E1CC2AE4FB1}"/>
              </a:ext>
            </a:extLst>
          </p:cNvPr>
          <p:cNvSpPr>
            <a:spLocks noGrp="1"/>
          </p:cNvSpPr>
          <p:nvPr>
            <p:ph type="title"/>
          </p:nvPr>
        </p:nvSpPr>
        <p:spPr>
          <a:xfrm>
            <a:off x="381000" y="336803"/>
            <a:ext cx="8305800" cy="1231106"/>
          </a:xfrm>
        </p:spPr>
        <p:txBody>
          <a:bodyPr/>
          <a:lstStyle/>
          <a:p>
            <a:pPr algn="ctr"/>
            <a:r>
              <a:rPr lang="en-US" sz="4000" dirty="0"/>
              <a:t>An Example HISAT2 command with </a:t>
            </a:r>
            <a:r>
              <a:rPr lang="en-US" sz="4000" i="1" dirty="0" err="1">
                <a:solidFill>
                  <a:srgbClr val="FF0000"/>
                </a:solidFill>
              </a:rPr>
              <a:t>strandedness</a:t>
            </a:r>
            <a:r>
              <a:rPr lang="en-US" sz="4000" dirty="0"/>
              <a:t> accounted for</a:t>
            </a:r>
          </a:p>
        </p:txBody>
      </p:sp>
      <p:sp>
        <p:nvSpPr>
          <p:cNvPr id="3" name="Text Placeholder 2">
            <a:extLst>
              <a:ext uri="{FF2B5EF4-FFF2-40B4-BE49-F238E27FC236}">
                <a16:creationId xmlns:a16="http://schemas.microsoft.com/office/drawing/2014/main" id="{E7762325-DA34-0422-C92D-FFDCE3BEC18C}"/>
              </a:ext>
            </a:extLst>
          </p:cNvPr>
          <p:cNvSpPr>
            <a:spLocks noGrp="1"/>
          </p:cNvSpPr>
          <p:nvPr>
            <p:ph type="body" idx="1"/>
          </p:nvPr>
        </p:nvSpPr>
        <p:spPr>
          <a:xfrm>
            <a:off x="679194" y="2219452"/>
            <a:ext cx="7606030" cy="2554545"/>
          </a:xfrm>
        </p:spPr>
        <p:txBody>
          <a:bodyPr/>
          <a:lstStyle/>
          <a:p>
            <a:r>
              <a:rPr lang="en-US" sz="3600" dirty="0">
                <a:latin typeface="Monaco" pitchFamily="2" charset="77"/>
              </a:rPr>
              <a:t>hisat2 -x </a:t>
            </a:r>
            <a:r>
              <a:rPr lang="en-US" sz="3600" dirty="0" err="1">
                <a:latin typeface="Monaco" pitchFamily="2" charset="77"/>
              </a:rPr>
              <a:t>genome_index</a:t>
            </a:r>
            <a:r>
              <a:rPr lang="en-US" sz="3600" dirty="0">
                <a:latin typeface="Monaco" pitchFamily="2" charset="77"/>
              </a:rPr>
              <a:t> -1 reads_R1.fq -2 reads_R2.fq </a:t>
            </a:r>
            <a:r>
              <a:rPr lang="en-US" sz="3600" dirty="0">
                <a:highlight>
                  <a:srgbClr val="FFFF00"/>
                </a:highlight>
                <a:latin typeface="Monaco" pitchFamily="2" charset="77"/>
              </a:rPr>
              <a:t>--</a:t>
            </a:r>
            <a:r>
              <a:rPr lang="en-US" sz="3600" dirty="0" err="1">
                <a:highlight>
                  <a:srgbClr val="FFFF00"/>
                </a:highlight>
                <a:latin typeface="Monaco" pitchFamily="2" charset="77"/>
              </a:rPr>
              <a:t>rna-strandedness</a:t>
            </a:r>
            <a:r>
              <a:rPr lang="en-US" sz="3600" dirty="0">
                <a:highlight>
                  <a:srgbClr val="FFFF00"/>
                </a:highlight>
                <a:latin typeface="Monaco" pitchFamily="2" charset="77"/>
              </a:rPr>
              <a:t> RF</a:t>
            </a:r>
            <a:r>
              <a:rPr lang="en-US" sz="3600" dirty="0">
                <a:latin typeface="Monaco" pitchFamily="2" charset="77"/>
              </a:rPr>
              <a:t> -S </a:t>
            </a:r>
            <a:r>
              <a:rPr lang="en-US" sz="3600" dirty="0" err="1">
                <a:latin typeface="Monaco" pitchFamily="2" charset="77"/>
              </a:rPr>
              <a:t>output.sam</a:t>
            </a:r>
            <a:endParaRPr lang="en-US" sz="3600" dirty="0">
              <a:latin typeface="Monaco" pitchFamily="2" charset="77"/>
            </a:endParaRPr>
          </a:p>
          <a:p>
            <a:endParaRPr lang="en-US" dirty="0"/>
          </a:p>
        </p:txBody>
      </p:sp>
      <p:sp>
        <p:nvSpPr>
          <p:cNvPr id="4" name="TextBox 3">
            <a:extLst>
              <a:ext uri="{FF2B5EF4-FFF2-40B4-BE49-F238E27FC236}">
                <a16:creationId xmlns:a16="http://schemas.microsoft.com/office/drawing/2014/main" id="{31FF7B6E-A47E-09BE-2C7E-F329918169B5}"/>
              </a:ext>
            </a:extLst>
          </p:cNvPr>
          <p:cNvSpPr txBox="1"/>
          <p:nvPr/>
        </p:nvSpPr>
        <p:spPr>
          <a:xfrm>
            <a:off x="457200" y="4953000"/>
            <a:ext cx="7620000" cy="369332"/>
          </a:xfrm>
          <a:prstGeom prst="rect">
            <a:avLst/>
          </a:prstGeom>
          <a:noFill/>
        </p:spPr>
        <p:txBody>
          <a:bodyPr wrap="square" rtlCol="0">
            <a:spAutoFit/>
          </a:bodyPr>
          <a:lstStyle/>
          <a:p>
            <a:r>
              <a:rPr lang="en-US" dirty="0"/>
              <a:t>In this example, specified </a:t>
            </a:r>
            <a:r>
              <a:rPr lang="en-US" sz="1800" dirty="0">
                <a:highlight>
                  <a:srgbClr val="FFFF00"/>
                </a:highlight>
              </a:rPr>
              <a:t>--</a:t>
            </a:r>
            <a:r>
              <a:rPr lang="en-US" sz="1800" dirty="0" err="1">
                <a:highlight>
                  <a:srgbClr val="FFFF00"/>
                </a:highlight>
              </a:rPr>
              <a:t>rna-strandedness</a:t>
            </a:r>
            <a:r>
              <a:rPr lang="en-US" sz="1800" dirty="0">
                <a:highlight>
                  <a:srgbClr val="FFFF00"/>
                </a:highlight>
              </a:rPr>
              <a:t> RF </a:t>
            </a:r>
            <a:r>
              <a:rPr lang="en-US" sz="1800" dirty="0"/>
              <a:t>for reverse stranded libraries  </a:t>
            </a:r>
            <a:r>
              <a:rPr lang="en-US" dirty="0"/>
              <a:t> </a:t>
            </a:r>
          </a:p>
        </p:txBody>
      </p:sp>
    </p:spTree>
    <p:extLst>
      <p:ext uri="{BB962C8B-B14F-4D97-AF65-F5344CB8AC3E}">
        <p14:creationId xmlns:p14="http://schemas.microsoft.com/office/powerpoint/2010/main" val="405229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E2B1F-891B-0E76-B07C-72708F800CFD}"/>
              </a:ext>
            </a:extLst>
          </p:cNvPr>
          <p:cNvSpPr>
            <a:spLocks noGrp="1"/>
          </p:cNvSpPr>
          <p:nvPr>
            <p:ph type="title"/>
          </p:nvPr>
        </p:nvSpPr>
        <p:spPr>
          <a:xfrm>
            <a:off x="1077912" y="543339"/>
            <a:ext cx="6988175" cy="2514600"/>
          </a:xfrm>
        </p:spPr>
        <p:txBody>
          <a:bodyPr/>
          <a:lstStyle/>
          <a:p>
            <a:pPr algn="ctr"/>
            <a:r>
              <a:rPr lang="en-US" sz="3600" dirty="0"/>
              <a:t>However, in the context of </a:t>
            </a:r>
            <a:r>
              <a:rPr lang="en-US" sz="3600" b="1" dirty="0"/>
              <a:t>single-end RNA-Seq</a:t>
            </a:r>
            <a:r>
              <a:rPr lang="en-US" sz="3600" dirty="0"/>
              <a:t>, we only have Read 1 (R1), so it is based on whether R1 maps to the </a:t>
            </a:r>
            <a:r>
              <a:rPr lang="en-US" sz="3600" b="1" dirty="0"/>
              <a:t>sense or antisense strand</a:t>
            </a:r>
            <a:r>
              <a:rPr lang="en-US" sz="3600" dirty="0"/>
              <a:t>.</a:t>
            </a:r>
            <a:br>
              <a:rPr lang="en-US" sz="3600" dirty="0"/>
            </a:br>
            <a:endParaRPr lang="en-US" sz="3600" dirty="0"/>
          </a:p>
        </p:txBody>
      </p:sp>
      <p:pic>
        <p:nvPicPr>
          <p:cNvPr id="3" name="Picture 2">
            <a:extLst>
              <a:ext uri="{FF2B5EF4-FFF2-40B4-BE49-F238E27FC236}">
                <a16:creationId xmlns:a16="http://schemas.microsoft.com/office/drawing/2014/main" id="{429BC21A-FFEA-3A6C-5CA6-9A7A7EBE627A}"/>
              </a:ext>
            </a:extLst>
          </p:cNvPr>
          <p:cNvPicPr>
            <a:picLocks noChangeAspect="1"/>
          </p:cNvPicPr>
          <p:nvPr/>
        </p:nvPicPr>
        <p:blipFill>
          <a:blip r:embed="rId2"/>
          <a:stretch>
            <a:fillRect/>
          </a:stretch>
        </p:blipFill>
        <p:spPr>
          <a:xfrm>
            <a:off x="1447800" y="3810000"/>
            <a:ext cx="5943600" cy="2331979"/>
          </a:xfrm>
          <a:prstGeom prst="rect">
            <a:avLst/>
          </a:prstGeom>
        </p:spPr>
      </p:pic>
      <p:sp>
        <p:nvSpPr>
          <p:cNvPr id="4" name="TextBox 3">
            <a:extLst>
              <a:ext uri="{FF2B5EF4-FFF2-40B4-BE49-F238E27FC236}">
                <a16:creationId xmlns:a16="http://schemas.microsoft.com/office/drawing/2014/main" id="{86AE7513-0F82-4A8D-A723-D25D3E1E649B}"/>
              </a:ext>
            </a:extLst>
          </p:cNvPr>
          <p:cNvSpPr txBox="1"/>
          <p:nvPr/>
        </p:nvSpPr>
        <p:spPr>
          <a:xfrm>
            <a:off x="3505200" y="4851629"/>
            <a:ext cx="914400" cy="338554"/>
          </a:xfrm>
          <a:prstGeom prst="rect">
            <a:avLst/>
          </a:prstGeom>
          <a:noFill/>
        </p:spPr>
        <p:txBody>
          <a:bodyPr wrap="square" rtlCol="0">
            <a:spAutoFit/>
          </a:bodyPr>
          <a:lstStyle/>
          <a:p>
            <a:r>
              <a:rPr lang="en-US" sz="1600" dirty="0"/>
              <a:t>Read1</a:t>
            </a:r>
          </a:p>
        </p:txBody>
      </p:sp>
    </p:spTree>
    <p:extLst>
      <p:ext uri="{BB962C8B-B14F-4D97-AF65-F5344CB8AC3E}">
        <p14:creationId xmlns:p14="http://schemas.microsoft.com/office/powerpoint/2010/main" val="2480344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A32E-0EC1-92BA-37B0-FB6201380FC1}"/>
              </a:ext>
            </a:extLst>
          </p:cNvPr>
          <p:cNvSpPr>
            <a:spLocks noGrp="1"/>
          </p:cNvSpPr>
          <p:nvPr>
            <p:ph type="title"/>
          </p:nvPr>
        </p:nvSpPr>
        <p:spPr>
          <a:xfrm>
            <a:off x="1077912" y="336803"/>
            <a:ext cx="6988175" cy="677108"/>
          </a:xfrm>
        </p:spPr>
        <p:txBody>
          <a:bodyPr/>
          <a:lstStyle/>
          <a:p>
            <a:pPr algn="ctr"/>
            <a:r>
              <a:rPr lang="en-US" dirty="0"/>
              <a:t>Today’s Exercises</a:t>
            </a:r>
          </a:p>
        </p:txBody>
      </p:sp>
      <p:sp>
        <p:nvSpPr>
          <p:cNvPr id="3" name="Text Placeholder 2">
            <a:extLst>
              <a:ext uri="{FF2B5EF4-FFF2-40B4-BE49-F238E27FC236}">
                <a16:creationId xmlns:a16="http://schemas.microsoft.com/office/drawing/2014/main" id="{4BBD37A2-1C48-9DB2-4A1C-CEC7AF549ACE}"/>
              </a:ext>
            </a:extLst>
          </p:cNvPr>
          <p:cNvSpPr>
            <a:spLocks noGrp="1"/>
          </p:cNvSpPr>
          <p:nvPr>
            <p:ph type="body" idx="1"/>
          </p:nvPr>
        </p:nvSpPr>
        <p:spPr>
          <a:xfrm>
            <a:off x="685800" y="1828800"/>
            <a:ext cx="7606030" cy="2277547"/>
          </a:xfrm>
        </p:spPr>
        <p:txBody>
          <a:bodyPr/>
          <a:lstStyle/>
          <a:p>
            <a:pPr marL="342900" indent="-342900">
              <a:buFont typeface="Arial" panose="020B0604020202020204" pitchFamily="34" charset="0"/>
              <a:buChar char="•"/>
            </a:pPr>
            <a:r>
              <a:rPr lang="en-US" dirty="0"/>
              <a:t>All will utilize a “package of python scripts” bundled as </a:t>
            </a:r>
            <a:r>
              <a:rPr lang="en-US" dirty="0" err="1"/>
              <a:t>RSeQC</a:t>
            </a:r>
            <a:endParaRPr lang="en-US" dirty="0"/>
          </a:p>
          <a:p>
            <a:endParaRPr lang="en-US" dirty="0">
              <a:solidFill>
                <a:srgbClr val="0070C0"/>
              </a:solidFill>
              <a:latin typeface="Menlo" panose="020B0609030804020204" pitchFamily="49" charset="0"/>
            </a:endParaRPr>
          </a:p>
          <a:p>
            <a:r>
              <a:rPr lang="en-US" sz="3200" dirty="0" err="1">
                <a:solidFill>
                  <a:srgbClr val="0070C0"/>
                </a:solidFill>
                <a:latin typeface="Menlo" panose="020B0609030804020204" pitchFamily="49" charset="0"/>
              </a:rPr>
              <a:t>infer_experiment.py</a:t>
            </a:r>
            <a:endParaRPr lang="en-US" sz="3200" dirty="0">
              <a:solidFill>
                <a:srgbClr val="0070C0"/>
              </a:solidFill>
              <a:latin typeface="Menlo" panose="020B0609030804020204" pitchFamily="49" charset="0"/>
            </a:endParaRPr>
          </a:p>
          <a:p>
            <a:r>
              <a:rPr lang="en-US" sz="3200" b="0" dirty="0" err="1">
                <a:solidFill>
                  <a:srgbClr val="0070C0"/>
                </a:solidFill>
                <a:effectLst/>
                <a:latin typeface="Menlo" panose="020B0609030804020204" pitchFamily="49" charset="0"/>
              </a:rPr>
              <a:t>read_distribution.py</a:t>
            </a:r>
            <a:endParaRPr lang="en-US" sz="3200" b="0" dirty="0">
              <a:solidFill>
                <a:srgbClr val="0070C0"/>
              </a:solidFill>
              <a:effectLst/>
              <a:latin typeface="Menlo" panose="020B0609030804020204" pitchFamily="49" charset="0"/>
            </a:endParaRPr>
          </a:p>
          <a:p>
            <a:pPr marL="800100" lvl="1" indent="-342900">
              <a:buFont typeface="Arial" panose="020B0604020202020204" pitchFamily="34" charset="0"/>
              <a:buChar char="•"/>
            </a:pPr>
            <a:endParaRPr lang="en-US" b="0" dirty="0">
              <a:solidFill>
                <a:srgbClr val="292929"/>
              </a:solidFill>
              <a:effectLst/>
              <a:latin typeface="Menlo" panose="020B0609030804020204" pitchFamily="49" charset="0"/>
            </a:endParaRP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155123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BAA8-1BE1-DE28-9969-B1069340F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6E8D2-B236-7195-1432-8E5BF76E31A0}"/>
              </a:ext>
            </a:extLst>
          </p:cNvPr>
          <p:cNvSpPr>
            <a:spLocks noGrp="1"/>
          </p:cNvSpPr>
          <p:nvPr>
            <p:ph type="title"/>
          </p:nvPr>
        </p:nvSpPr>
        <p:spPr>
          <a:xfrm>
            <a:off x="1077912" y="336803"/>
            <a:ext cx="6988175" cy="1354217"/>
          </a:xfrm>
        </p:spPr>
        <p:txBody>
          <a:bodyPr/>
          <a:lstStyle/>
          <a:p>
            <a:pPr algn="ctr"/>
            <a:r>
              <a:rPr lang="en-US" b="1" dirty="0">
                <a:solidFill>
                  <a:srgbClr val="0F4A85"/>
                </a:solidFill>
                <a:effectLst/>
                <a:latin typeface="Menlo" panose="020B0609030804020204" pitchFamily="49" charset="0"/>
              </a:rPr>
              <a:t>Strand-Specificity</a:t>
            </a:r>
            <a:br>
              <a:rPr lang="en-US" b="0" dirty="0">
                <a:solidFill>
                  <a:srgbClr val="292929"/>
                </a:solidFill>
                <a:effectLst/>
                <a:latin typeface="Menlo" panose="020B0609030804020204" pitchFamily="49" charset="0"/>
              </a:rPr>
            </a:br>
            <a:endParaRPr lang="en-US" dirty="0"/>
          </a:p>
        </p:txBody>
      </p:sp>
      <p:sp>
        <p:nvSpPr>
          <p:cNvPr id="3" name="Text Placeholder 2">
            <a:extLst>
              <a:ext uri="{FF2B5EF4-FFF2-40B4-BE49-F238E27FC236}">
                <a16:creationId xmlns:a16="http://schemas.microsoft.com/office/drawing/2014/main" id="{B5C40853-EA96-1EBC-90CE-6D52BD4A8F14}"/>
              </a:ext>
            </a:extLst>
          </p:cNvPr>
          <p:cNvSpPr>
            <a:spLocks noGrp="1"/>
          </p:cNvSpPr>
          <p:nvPr>
            <p:ph type="body" idx="1"/>
          </p:nvPr>
        </p:nvSpPr>
        <p:spPr>
          <a:xfrm>
            <a:off x="609600" y="1504517"/>
            <a:ext cx="7606030" cy="373006"/>
          </a:xfrm>
        </p:spPr>
        <p:txBody>
          <a:bodyPr/>
          <a:lstStyle/>
          <a:p>
            <a:r>
              <a:rPr lang="en-US" dirty="0" err="1">
                <a:solidFill>
                  <a:srgbClr val="0070C0"/>
                </a:solidFill>
                <a:latin typeface="Menlo" panose="020B0609030804020204" pitchFamily="49" charset="0"/>
              </a:rPr>
              <a:t>infer_experiment.py</a:t>
            </a:r>
            <a:endParaRPr lang="en-US" dirty="0">
              <a:solidFill>
                <a:srgbClr val="0070C0"/>
              </a:solidFill>
              <a:latin typeface="Menlo" panose="020B0609030804020204" pitchFamily="49" charset="0"/>
            </a:endParaRPr>
          </a:p>
          <a:p>
            <a:endParaRPr lang="en-US" dirty="0"/>
          </a:p>
        </p:txBody>
      </p:sp>
      <p:sp>
        <p:nvSpPr>
          <p:cNvPr id="6" name="TextBox 5">
            <a:extLst>
              <a:ext uri="{FF2B5EF4-FFF2-40B4-BE49-F238E27FC236}">
                <a16:creationId xmlns:a16="http://schemas.microsoft.com/office/drawing/2014/main" id="{20A305A5-6444-F5AE-ACD9-92D6D3758915}"/>
              </a:ext>
            </a:extLst>
          </p:cNvPr>
          <p:cNvSpPr txBox="1"/>
          <p:nvPr/>
        </p:nvSpPr>
        <p:spPr>
          <a:xfrm>
            <a:off x="609600" y="2514600"/>
            <a:ext cx="7924800" cy="341632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Purpose</a:t>
            </a:r>
          </a:p>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Determine strand specificity from aligned BAM file</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Crucial for differential expression analysis as strand specific libraries require correct orientation for accurate read assignment </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Avoids misinterpretation of gene expression levels causes by incorrect strand assignment </a:t>
            </a:r>
          </a:p>
        </p:txBody>
      </p:sp>
    </p:spTree>
    <p:extLst>
      <p:ext uri="{BB962C8B-B14F-4D97-AF65-F5344CB8AC3E}">
        <p14:creationId xmlns:p14="http://schemas.microsoft.com/office/powerpoint/2010/main" val="1103499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65D1-6611-0A97-B59A-584B9A5C96D5}"/>
              </a:ext>
            </a:extLst>
          </p:cNvPr>
          <p:cNvSpPr>
            <a:spLocks noGrp="1"/>
          </p:cNvSpPr>
          <p:nvPr>
            <p:ph type="title"/>
          </p:nvPr>
        </p:nvSpPr>
        <p:spPr>
          <a:xfrm>
            <a:off x="1077912" y="336803"/>
            <a:ext cx="6988175" cy="1354217"/>
          </a:xfrm>
        </p:spPr>
        <p:txBody>
          <a:bodyPr/>
          <a:lstStyle/>
          <a:p>
            <a:pPr algn="ctr"/>
            <a:r>
              <a:rPr lang="en-US" b="1" dirty="0">
                <a:solidFill>
                  <a:srgbClr val="0F4A85"/>
                </a:solidFill>
                <a:effectLst/>
                <a:latin typeface="Menlo" panose="020B0609030804020204" pitchFamily="49" charset="0"/>
              </a:rPr>
              <a:t>Strand-Specificity</a:t>
            </a:r>
            <a:br>
              <a:rPr lang="en-US" b="0" dirty="0">
                <a:solidFill>
                  <a:srgbClr val="292929"/>
                </a:solidFill>
                <a:effectLst/>
                <a:latin typeface="Menlo" panose="020B0609030804020204" pitchFamily="49" charset="0"/>
              </a:rPr>
            </a:br>
            <a:endParaRPr lang="en-US" dirty="0"/>
          </a:p>
        </p:txBody>
      </p:sp>
      <p:sp>
        <p:nvSpPr>
          <p:cNvPr id="3" name="Text Placeholder 2">
            <a:extLst>
              <a:ext uri="{FF2B5EF4-FFF2-40B4-BE49-F238E27FC236}">
                <a16:creationId xmlns:a16="http://schemas.microsoft.com/office/drawing/2014/main" id="{0F7E0CF0-AEE5-7381-0521-457B58F05059}"/>
              </a:ext>
            </a:extLst>
          </p:cNvPr>
          <p:cNvSpPr>
            <a:spLocks noGrp="1"/>
          </p:cNvSpPr>
          <p:nvPr>
            <p:ph type="body" idx="1"/>
          </p:nvPr>
        </p:nvSpPr>
        <p:spPr>
          <a:xfrm>
            <a:off x="609600" y="1504517"/>
            <a:ext cx="7606030" cy="373006"/>
          </a:xfrm>
        </p:spPr>
        <p:txBody>
          <a:bodyPr/>
          <a:lstStyle/>
          <a:p>
            <a:r>
              <a:rPr lang="en-US" dirty="0" err="1">
                <a:solidFill>
                  <a:srgbClr val="0070C0"/>
                </a:solidFill>
                <a:latin typeface="Menlo" panose="020B0609030804020204" pitchFamily="49" charset="0"/>
              </a:rPr>
              <a:t>infer_experiment.py</a:t>
            </a:r>
            <a:endParaRPr lang="en-US" dirty="0">
              <a:solidFill>
                <a:srgbClr val="0070C0"/>
              </a:solidFill>
              <a:latin typeface="Menlo" panose="020B0609030804020204" pitchFamily="49" charset="0"/>
            </a:endParaRPr>
          </a:p>
          <a:p>
            <a:endParaRPr lang="en-US" dirty="0"/>
          </a:p>
        </p:txBody>
      </p:sp>
      <p:pic>
        <p:nvPicPr>
          <p:cNvPr id="2050" name="Picture 2" descr="MultiQC - RSeQC infer experiment plot">
            <a:extLst>
              <a:ext uri="{FF2B5EF4-FFF2-40B4-BE49-F238E27FC236}">
                <a16:creationId xmlns:a16="http://schemas.microsoft.com/office/drawing/2014/main" id="{60B6ABD8-3520-FFE4-2992-B63EBE82E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914" y="2514600"/>
            <a:ext cx="7769086" cy="33045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488FA32-16FA-AD5C-C1E8-5E5915C9AC7F}"/>
              </a:ext>
            </a:extLst>
          </p:cNvPr>
          <p:cNvSpPr txBox="1"/>
          <p:nvPr/>
        </p:nvSpPr>
        <p:spPr>
          <a:xfrm>
            <a:off x="609600" y="2145268"/>
            <a:ext cx="3429000" cy="369332"/>
          </a:xfrm>
          <a:prstGeom prst="rect">
            <a:avLst/>
          </a:prstGeom>
          <a:noFill/>
        </p:spPr>
        <p:txBody>
          <a:bodyPr wrap="square" rtlCol="0">
            <a:spAutoFit/>
          </a:bodyPr>
          <a:lstStyle/>
          <a:p>
            <a:r>
              <a:rPr lang="en-US" dirty="0"/>
              <a:t>Expected Output: </a:t>
            </a:r>
          </a:p>
        </p:txBody>
      </p:sp>
      <p:pic>
        <p:nvPicPr>
          <p:cNvPr id="2052" name="Picture 4" descr="Open Source at SciLifeLab » MultiQC">
            <a:extLst>
              <a:ext uri="{FF2B5EF4-FFF2-40B4-BE49-F238E27FC236}">
                <a16:creationId xmlns:a16="http://schemas.microsoft.com/office/drawing/2014/main" id="{6B79294B-4565-D340-485C-243C8A1EB1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3870" y="1590837"/>
            <a:ext cx="3175000" cy="837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062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293C1E6-A6C8-1A3C-F9C6-1C318096D986}"/>
              </a:ext>
            </a:extLst>
          </p:cNvPr>
          <p:cNvSpPr>
            <a:spLocks noGrp="1"/>
          </p:cNvSpPr>
          <p:nvPr>
            <p:ph type="body" idx="1"/>
          </p:nvPr>
        </p:nvSpPr>
        <p:spPr>
          <a:xfrm>
            <a:off x="400420" y="533400"/>
            <a:ext cx="7606030" cy="1292662"/>
          </a:xfrm>
        </p:spPr>
        <p:txBody>
          <a:bodyPr/>
          <a:lstStyle/>
          <a:p>
            <a:r>
              <a:rPr lang="en-US" sz="2800" dirty="0">
                <a:solidFill>
                  <a:srgbClr val="0070C0"/>
                </a:solidFill>
              </a:rPr>
              <a:t>Our goal is to understand </a:t>
            </a:r>
            <a:r>
              <a:rPr lang="en-US" sz="2800" dirty="0"/>
              <a:t>which option to select for the alignment and read counting steps </a:t>
            </a:r>
            <a:endParaRPr lang="en-US" sz="3200" dirty="0">
              <a:latin typeface="Monaco" pitchFamily="2" charset="77"/>
            </a:endParaRPr>
          </a:p>
          <a:p>
            <a:pPr marL="342900" indent="-342900">
              <a:buFont typeface="Arial" panose="020B0604020202020204" pitchFamily="34" charset="0"/>
              <a:buChar char="•"/>
            </a:pPr>
            <a:endParaRPr lang="en-US" sz="2800" dirty="0">
              <a:solidFill>
                <a:srgbClr val="0070C0"/>
              </a:solidFill>
            </a:endParaRPr>
          </a:p>
        </p:txBody>
      </p:sp>
      <p:graphicFrame>
        <p:nvGraphicFramePr>
          <p:cNvPr id="4" name="Table 3">
            <a:extLst>
              <a:ext uri="{FF2B5EF4-FFF2-40B4-BE49-F238E27FC236}">
                <a16:creationId xmlns:a16="http://schemas.microsoft.com/office/drawing/2014/main" id="{17934FF0-07EB-7323-1FB0-4510C724D801}"/>
              </a:ext>
            </a:extLst>
          </p:cNvPr>
          <p:cNvGraphicFramePr>
            <a:graphicFrameLocks noGrp="1"/>
          </p:cNvGraphicFramePr>
          <p:nvPr>
            <p:extLst>
              <p:ext uri="{D42A27DB-BD31-4B8C-83A1-F6EECF244321}">
                <p14:modId xmlns:p14="http://schemas.microsoft.com/office/powerpoint/2010/main" val="965469359"/>
              </p:ext>
            </p:extLst>
          </p:nvPr>
        </p:nvGraphicFramePr>
        <p:xfrm>
          <a:off x="400420" y="2514600"/>
          <a:ext cx="7682232" cy="3977744"/>
        </p:xfrm>
        <a:graphic>
          <a:graphicData uri="http://schemas.openxmlformats.org/drawingml/2006/table">
            <a:tbl>
              <a:tblPr firstRow="1" bandRow="1">
                <a:tableStyleId>{5940675A-B579-460E-94D1-54222C63F5DA}</a:tableStyleId>
              </a:tblPr>
              <a:tblGrid>
                <a:gridCol w="1920558">
                  <a:extLst>
                    <a:ext uri="{9D8B030D-6E8A-4147-A177-3AD203B41FA5}">
                      <a16:colId xmlns:a16="http://schemas.microsoft.com/office/drawing/2014/main" val="1212291885"/>
                    </a:ext>
                  </a:extLst>
                </a:gridCol>
                <a:gridCol w="1920558">
                  <a:extLst>
                    <a:ext uri="{9D8B030D-6E8A-4147-A177-3AD203B41FA5}">
                      <a16:colId xmlns:a16="http://schemas.microsoft.com/office/drawing/2014/main" val="3433463079"/>
                    </a:ext>
                  </a:extLst>
                </a:gridCol>
                <a:gridCol w="1920558">
                  <a:extLst>
                    <a:ext uri="{9D8B030D-6E8A-4147-A177-3AD203B41FA5}">
                      <a16:colId xmlns:a16="http://schemas.microsoft.com/office/drawing/2014/main" val="4118579753"/>
                    </a:ext>
                  </a:extLst>
                </a:gridCol>
                <a:gridCol w="1920558">
                  <a:extLst>
                    <a:ext uri="{9D8B030D-6E8A-4147-A177-3AD203B41FA5}">
                      <a16:colId xmlns:a16="http://schemas.microsoft.com/office/drawing/2014/main" val="1054524153"/>
                    </a:ext>
                  </a:extLst>
                </a:gridCol>
              </a:tblGrid>
              <a:tr h="1046564">
                <a:tc>
                  <a:txBody>
                    <a:bodyPr/>
                    <a:lstStyle/>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5" dirty="0"/>
                        <a:t>Option 1</a:t>
                      </a:r>
                      <a:r>
                        <a:rPr lang="en-US" sz="1800" b="1" spc="5" dirty="0"/>
                        <a:t> </a:t>
                      </a:r>
                      <a:r>
                        <a:rPr lang="en-US" sz="1800" b="1" dirty="0">
                          <a:solidFill>
                            <a:srgbClr val="FF0000"/>
                          </a:solidFill>
                        </a:rPr>
                        <a:t>Stranded/sense</a:t>
                      </a:r>
                      <a:endParaRPr lang="en-US" sz="1800" dirty="0">
                        <a:solidFill>
                          <a:srgbClr val="FF0000"/>
                        </a:solidFill>
                      </a:endParaRPr>
                    </a:p>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5" dirty="0"/>
                        <a:t>Option 2</a:t>
                      </a:r>
                      <a:r>
                        <a:rPr lang="en-US" sz="1800" b="1" dirty="0"/>
                        <a:t> </a:t>
                      </a:r>
                      <a:r>
                        <a:rPr lang="en-US" sz="1800" b="1" spc="5" dirty="0"/>
                        <a:t>   </a:t>
                      </a:r>
                      <a:r>
                        <a:rPr lang="en-US" sz="1800" b="1" spc="-10" dirty="0">
                          <a:solidFill>
                            <a:srgbClr val="FF0000"/>
                          </a:solidFill>
                        </a:rPr>
                        <a:t>Reverse/antisense</a:t>
                      </a:r>
                      <a:endParaRPr lang="en-US" sz="1800" dirty="0"/>
                    </a:p>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5" dirty="0"/>
                        <a:t>Option </a:t>
                      </a:r>
                      <a:r>
                        <a:rPr lang="en-US" sz="1800" b="1" dirty="0"/>
                        <a:t>3 </a:t>
                      </a:r>
                      <a:r>
                        <a:rPr lang="en-US" sz="1800" b="1" dirty="0" err="1">
                          <a:solidFill>
                            <a:srgbClr val="FF0000"/>
                          </a:solidFill>
                        </a:rPr>
                        <a:t>U</a:t>
                      </a:r>
                      <a:r>
                        <a:rPr lang="en-US" sz="1800" b="1" spc="-5" dirty="0" err="1">
                          <a:solidFill>
                            <a:srgbClr val="FF0000"/>
                          </a:solidFill>
                        </a:rPr>
                        <a:t>ns</a:t>
                      </a:r>
                      <a:r>
                        <a:rPr lang="en-US" sz="1800" b="1" dirty="0" err="1">
                          <a:solidFill>
                            <a:srgbClr val="FF0000"/>
                          </a:solidFill>
                        </a:rPr>
                        <a:t>tra</a:t>
                      </a:r>
                      <a:r>
                        <a:rPr lang="en-US" sz="1800" b="1" spc="-5" dirty="0" err="1">
                          <a:solidFill>
                            <a:srgbClr val="FF0000"/>
                          </a:solidFill>
                        </a:rPr>
                        <a:t>nd</a:t>
                      </a:r>
                      <a:r>
                        <a:rPr lang="en-US" sz="1800" b="1" dirty="0" err="1">
                          <a:solidFill>
                            <a:srgbClr val="FF0000"/>
                          </a:solidFill>
                        </a:rPr>
                        <a:t>ed</a:t>
                      </a:r>
                      <a:endParaRPr lang="en-US" sz="1800" b="1" dirty="0">
                        <a:solidFill>
                          <a:srgbClr val="FF0000"/>
                        </a:solidFill>
                      </a:endParaRPr>
                    </a:p>
                    <a:p>
                      <a:pPr algn="ctr"/>
                      <a:endParaRPr lang="en-US" dirty="0"/>
                    </a:p>
                  </a:txBody>
                  <a:tcPr/>
                </a:tc>
                <a:extLst>
                  <a:ext uri="{0D108BD9-81ED-4DB2-BD59-A6C34878D82A}">
                    <a16:rowId xmlns:a16="http://schemas.microsoft.com/office/drawing/2014/main" val="3191005847"/>
                  </a:ext>
                </a:extLst>
              </a:tr>
              <a:tr h="1176007">
                <a:tc>
                  <a:txBody>
                    <a:bodyPr/>
                    <a:lstStyle/>
                    <a:p>
                      <a:pPr algn="ctr">
                        <a:lnSpc>
                          <a:spcPct val="100000"/>
                        </a:lnSpc>
                        <a:spcBef>
                          <a:spcPts val="254"/>
                        </a:spcBef>
                      </a:pPr>
                      <a:r>
                        <a:rPr lang="en-US" sz="1800" b="1" spc="-30" dirty="0"/>
                        <a:t>HISAT2</a:t>
                      </a:r>
                    </a:p>
                    <a:p>
                      <a:pPr marL="0" marR="0" lvl="0" indent="0" algn="ctr" defTabSz="914400" eaLnBrk="1" fontAlgn="auto" latinLnBrk="0" hangingPunct="1">
                        <a:lnSpc>
                          <a:spcPct val="100000"/>
                        </a:lnSpc>
                        <a:spcBef>
                          <a:spcPts val="254"/>
                        </a:spcBef>
                        <a:spcAft>
                          <a:spcPts val="0"/>
                        </a:spcAft>
                        <a:buClrTx/>
                        <a:buSzTx/>
                        <a:buFontTx/>
                        <a:buNone/>
                        <a:tabLst/>
                        <a:defRPr/>
                      </a:pPr>
                      <a:r>
                        <a:rPr lang="en-US" sz="1800" b="1" spc="-30" dirty="0"/>
                        <a:t>(</a:t>
                      </a:r>
                      <a:r>
                        <a:rPr lang="en-US" sz="1800" spc="-5" dirty="0"/>
                        <a:t>--</a:t>
                      </a:r>
                      <a:r>
                        <a:rPr lang="en-US" sz="1800" spc="-5" dirty="0" err="1"/>
                        <a:t>r</a:t>
                      </a:r>
                      <a:r>
                        <a:rPr lang="en-US" sz="1800" dirty="0" err="1"/>
                        <a:t>n</a:t>
                      </a:r>
                      <a:r>
                        <a:rPr lang="en-US" sz="1800" spc="-5" dirty="0" err="1"/>
                        <a:t>a-s</a:t>
                      </a:r>
                      <a:r>
                        <a:rPr lang="en-US" sz="1800" spc="-10" dirty="0" err="1"/>
                        <a:t>t</a:t>
                      </a:r>
                      <a:r>
                        <a:rPr lang="en-US" sz="1800" spc="-5" dirty="0" err="1"/>
                        <a:t>ra</a:t>
                      </a:r>
                      <a:r>
                        <a:rPr lang="en-US" sz="1800" dirty="0" err="1"/>
                        <a:t>nd</a:t>
                      </a:r>
                      <a:r>
                        <a:rPr lang="en-US" sz="1800" spc="-5" dirty="0" err="1"/>
                        <a:t>e</a:t>
                      </a:r>
                      <a:r>
                        <a:rPr lang="en-US" sz="1800" dirty="0" err="1"/>
                        <a:t>dn</a:t>
                      </a:r>
                      <a:r>
                        <a:rPr lang="en-US" sz="1800" spc="-5" dirty="0" err="1"/>
                        <a:t>es</a:t>
                      </a:r>
                      <a:r>
                        <a:rPr lang="en-US" sz="1800" dirty="0" err="1"/>
                        <a:t>s</a:t>
                      </a:r>
                      <a:r>
                        <a:rPr lang="en-US" sz="1800" dirty="0"/>
                        <a:t>) </a:t>
                      </a:r>
                      <a:endParaRPr lang="en-US" sz="1800" spc="-5" dirty="0"/>
                    </a:p>
                    <a:p>
                      <a:pPr algn="ctr"/>
                      <a:endParaRPr lang="en-US" dirty="0"/>
                    </a:p>
                  </a:txBody>
                  <a:tcPr/>
                </a:tc>
                <a:tc>
                  <a:txBody>
                    <a:bodyPr/>
                    <a:lstStyle/>
                    <a:p>
                      <a:pPr marL="91440" marR="0" lvl="0" indent="0" algn="ctr" defTabSz="914400" eaLnBrk="1" fontAlgn="auto" latinLnBrk="0" hangingPunct="1">
                        <a:lnSpc>
                          <a:spcPct val="100000"/>
                        </a:lnSpc>
                        <a:spcBef>
                          <a:spcPts val="254"/>
                        </a:spcBef>
                        <a:spcAft>
                          <a:spcPts val="0"/>
                        </a:spcAft>
                        <a:buClrTx/>
                        <a:buSzTx/>
                        <a:buFontTx/>
                        <a:buNone/>
                        <a:tabLst/>
                        <a:defRPr/>
                      </a:pPr>
                      <a:r>
                        <a:rPr lang="en-US" sz="1800" spc="-5" dirty="0"/>
                        <a:t>FR (for</a:t>
                      </a:r>
                      <a:r>
                        <a:rPr lang="en-US" sz="1800" spc="-30" dirty="0"/>
                        <a:t> </a:t>
                      </a:r>
                      <a:r>
                        <a:rPr lang="en-US" sz="1800" dirty="0"/>
                        <a:t>PE)</a:t>
                      </a:r>
                    </a:p>
                    <a:p>
                      <a:pPr marL="91440" marR="0" lvl="0" indent="0" algn="ctr" defTabSz="914400" eaLnBrk="1" fontAlgn="auto" latinLnBrk="0" hangingPunct="1">
                        <a:lnSpc>
                          <a:spcPct val="100000"/>
                        </a:lnSpc>
                        <a:spcBef>
                          <a:spcPts val="254"/>
                        </a:spcBef>
                        <a:spcAft>
                          <a:spcPts val="0"/>
                        </a:spcAft>
                        <a:buClrTx/>
                        <a:buSzTx/>
                        <a:buFontTx/>
                        <a:buNone/>
                        <a:tabLst/>
                        <a:defRPr/>
                      </a:pPr>
                      <a:r>
                        <a:rPr lang="en-US" sz="1800" spc="-5" dirty="0"/>
                        <a:t>F (for</a:t>
                      </a:r>
                      <a:r>
                        <a:rPr lang="en-US" sz="1800" spc="-30" dirty="0"/>
                        <a:t> S</a:t>
                      </a:r>
                      <a:r>
                        <a:rPr lang="en-US" sz="1800" dirty="0"/>
                        <a:t>E)</a:t>
                      </a:r>
                    </a:p>
                    <a:p>
                      <a:pPr algn="ctr"/>
                      <a:endParaRPr lang="en-US" dirty="0"/>
                    </a:p>
                  </a:txBody>
                  <a:tcPr/>
                </a:tc>
                <a:tc>
                  <a:txBody>
                    <a:bodyPr/>
                    <a:lstStyle/>
                    <a:p>
                      <a:pPr marL="91440" algn="ctr">
                        <a:lnSpc>
                          <a:spcPct val="100000"/>
                        </a:lnSpc>
                        <a:spcBef>
                          <a:spcPts val="254"/>
                        </a:spcBef>
                      </a:pPr>
                      <a:r>
                        <a:rPr lang="en-US" sz="1800" spc="-5" dirty="0"/>
                        <a:t>RF</a:t>
                      </a:r>
                      <a:r>
                        <a:rPr lang="en-US" sz="1800" spc="-25" dirty="0"/>
                        <a:t> </a:t>
                      </a:r>
                      <a:r>
                        <a:rPr lang="en-US" sz="1800" spc="-5" dirty="0"/>
                        <a:t>(for</a:t>
                      </a:r>
                      <a:r>
                        <a:rPr lang="en-US" sz="1800" spc="-30" dirty="0"/>
                        <a:t> </a:t>
                      </a:r>
                      <a:r>
                        <a:rPr lang="en-US" sz="1800" dirty="0"/>
                        <a:t>PE)</a:t>
                      </a:r>
                    </a:p>
                    <a:p>
                      <a:pPr marL="91440" marR="230504" algn="ctr">
                        <a:lnSpc>
                          <a:spcPct val="100000"/>
                        </a:lnSpc>
                      </a:pPr>
                      <a:r>
                        <a:rPr lang="en-US" sz="1800" dirty="0"/>
                        <a:t>R</a:t>
                      </a:r>
                      <a:r>
                        <a:rPr lang="en-US" sz="1800" spc="-10" dirty="0"/>
                        <a:t> </a:t>
                      </a:r>
                      <a:r>
                        <a:rPr lang="en-US" sz="1800" spc="-5" dirty="0"/>
                        <a:t>(for</a:t>
                      </a:r>
                      <a:r>
                        <a:rPr lang="en-US" sz="1800" spc="-10" dirty="0"/>
                        <a:t> </a:t>
                      </a:r>
                      <a:r>
                        <a:rPr lang="en-US" sz="1800" dirty="0"/>
                        <a:t>SE)</a:t>
                      </a:r>
                    </a:p>
                    <a:p>
                      <a:pPr algn="ct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spc="-5" dirty="0"/>
                        <a:t>Default</a:t>
                      </a:r>
                      <a:endParaRPr lang="en-US" sz="1800" dirty="0"/>
                    </a:p>
                    <a:p>
                      <a:pPr algn="ctr"/>
                      <a:endParaRPr lang="en-US" dirty="0"/>
                    </a:p>
                  </a:txBody>
                  <a:tcPr/>
                </a:tc>
                <a:extLst>
                  <a:ext uri="{0D108BD9-81ED-4DB2-BD59-A6C34878D82A}">
                    <a16:rowId xmlns:a16="http://schemas.microsoft.com/office/drawing/2014/main" val="1760047590"/>
                  </a:ext>
                </a:extLst>
              </a:tr>
              <a:tr h="852180">
                <a:tc>
                  <a:txBody>
                    <a:bodyPr/>
                    <a:lstStyle/>
                    <a:p>
                      <a:pPr algn="ctr">
                        <a:lnSpc>
                          <a:spcPct val="100000"/>
                        </a:lnSpc>
                        <a:spcBef>
                          <a:spcPts val="254"/>
                        </a:spcBef>
                      </a:pPr>
                      <a:r>
                        <a:rPr sz="2000" b="1" spc="-40" dirty="0"/>
                        <a:t>STAR</a:t>
                      </a:r>
                      <a:endParaRPr sz="2000" dirty="0">
                        <a:latin typeface="Times New Roman"/>
                        <a:cs typeface="Times New Roman"/>
                      </a:endParaRPr>
                    </a:p>
                  </a:txBody>
                  <a:tcPr marL="0" marR="0" marT="32384" marB="0"/>
                </a:tc>
                <a:tc>
                  <a:txBody>
                    <a:bodyPr/>
                    <a:lstStyle/>
                    <a:p>
                      <a:pPr marL="91440" algn="ctr">
                        <a:lnSpc>
                          <a:spcPct val="100000"/>
                        </a:lnSpc>
                        <a:spcBef>
                          <a:spcPts val="254"/>
                        </a:spcBef>
                      </a:pPr>
                      <a:r>
                        <a:rPr sz="2000" spc="-5" dirty="0"/>
                        <a:t>n/a</a:t>
                      </a:r>
                      <a:endParaRPr sz="2000" dirty="0">
                        <a:latin typeface="Times New Roman"/>
                        <a:cs typeface="Times New Roman"/>
                      </a:endParaRPr>
                    </a:p>
                  </a:txBody>
                  <a:tcPr marL="0" marR="0" marT="32384" marB="0"/>
                </a:tc>
                <a:tc>
                  <a:txBody>
                    <a:bodyPr/>
                    <a:lstStyle/>
                    <a:p>
                      <a:pPr marL="91440" algn="ctr">
                        <a:lnSpc>
                          <a:spcPct val="100000"/>
                        </a:lnSpc>
                        <a:spcBef>
                          <a:spcPts val="254"/>
                        </a:spcBef>
                      </a:pPr>
                      <a:r>
                        <a:rPr sz="2000" spc="-5" dirty="0"/>
                        <a:t>n/a</a:t>
                      </a:r>
                      <a:endParaRPr sz="2000">
                        <a:latin typeface="Times New Roman"/>
                        <a:cs typeface="Times New Roman"/>
                      </a:endParaRPr>
                    </a:p>
                  </a:txBody>
                  <a:tcPr marL="0" marR="0" marT="32384" marB="0"/>
                </a:tc>
                <a:tc>
                  <a:txBody>
                    <a:bodyPr/>
                    <a:lstStyle/>
                    <a:p>
                      <a:pPr marL="91440" algn="ctr">
                        <a:lnSpc>
                          <a:spcPct val="100000"/>
                        </a:lnSpc>
                        <a:spcBef>
                          <a:spcPts val="254"/>
                        </a:spcBef>
                      </a:pPr>
                      <a:r>
                        <a:rPr sz="2000" spc="-5" dirty="0"/>
                        <a:t>n/a</a:t>
                      </a:r>
                      <a:endParaRPr sz="2000" dirty="0">
                        <a:latin typeface="Times New Roman"/>
                        <a:cs typeface="Times New Roman"/>
                      </a:endParaRPr>
                    </a:p>
                  </a:txBody>
                  <a:tcPr marL="0" marR="0" marT="32384" marB="0"/>
                </a:tc>
                <a:extLst>
                  <a:ext uri="{0D108BD9-81ED-4DB2-BD59-A6C34878D82A}">
                    <a16:rowId xmlns:a16="http://schemas.microsoft.com/office/drawing/2014/main" val="270596460"/>
                  </a:ext>
                </a:extLst>
              </a:tr>
              <a:tr h="852180">
                <a:tc>
                  <a:txBody>
                    <a:bodyPr/>
                    <a:lstStyle/>
                    <a:p>
                      <a:pPr algn="ctr">
                        <a:lnSpc>
                          <a:spcPct val="100000"/>
                        </a:lnSpc>
                        <a:spcBef>
                          <a:spcPts val="260"/>
                        </a:spcBef>
                      </a:pPr>
                      <a:r>
                        <a:rPr sz="2000" b="1" spc="-5" dirty="0"/>
                        <a:t>HTSeq</a:t>
                      </a:r>
                      <a:endParaRPr sz="2000" dirty="0">
                        <a:latin typeface="Times New Roman"/>
                        <a:cs typeface="Times New Roman"/>
                      </a:endParaRPr>
                    </a:p>
                  </a:txBody>
                  <a:tcPr marL="0" marR="0" marT="33020" marB="0"/>
                </a:tc>
                <a:tc>
                  <a:txBody>
                    <a:bodyPr/>
                    <a:lstStyle/>
                    <a:p>
                      <a:pPr marL="91440" algn="ctr">
                        <a:lnSpc>
                          <a:spcPct val="100000"/>
                        </a:lnSpc>
                        <a:spcBef>
                          <a:spcPts val="260"/>
                        </a:spcBef>
                      </a:pPr>
                      <a:r>
                        <a:rPr sz="2000" spc="-5" dirty="0"/>
                        <a:t>stranded=yes</a:t>
                      </a:r>
                      <a:endParaRPr sz="2000" dirty="0">
                        <a:latin typeface="Times New Roman"/>
                        <a:cs typeface="Times New Roman"/>
                      </a:endParaRPr>
                    </a:p>
                  </a:txBody>
                  <a:tcPr marL="0" marR="0" marT="33020" marB="0"/>
                </a:tc>
                <a:tc>
                  <a:txBody>
                    <a:bodyPr/>
                    <a:lstStyle/>
                    <a:p>
                      <a:pPr marL="91440" algn="ctr">
                        <a:lnSpc>
                          <a:spcPct val="100000"/>
                        </a:lnSpc>
                        <a:spcBef>
                          <a:spcPts val="260"/>
                        </a:spcBef>
                      </a:pPr>
                      <a:r>
                        <a:rPr sz="2000" spc="-5" dirty="0"/>
                        <a:t>stranded=reverse</a:t>
                      </a:r>
                      <a:endParaRPr sz="2000">
                        <a:latin typeface="Times New Roman"/>
                        <a:cs typeface="Times New Roman"/>
                      </a:endParaRPr>
                    </a:p>
                  </a:txBody>
                  <a:tcPr marL="0" marR="0" marT="33020" marB="0"/>
                </a:tc>
                <a:tc>
                  <a:txBody>
                    <a:bodyPr/>
                    <a:lstStyle/>
                    <a:p>
                      <a:pPr marL="91440" algn="ctr">
                        <a:lnSpc>
                          <a:spcPct val="100000"/>
                        </a:lnSpc>
                        <a:spcBef>
                          <a:spcPts val="260"/>
                        </a:spcBef>
                      </a:pPr>
                      <a:r>
                        <a:rPr sz="2000" spc="-5" dirty="0"/>
                        <a:t>stranded=no</a:t>
                      </a:r>
                      <a:endParaRPr sz="2000" dirty="0">
                        <a:latin typeface="Times New Roman"/>
                        <a:cs typeface="Times New Roman"/>
                      </a:endParaRPr>
                    </a:p>
                  </a:txBody>
                  <a:tcPr marL="0" marR="0" marT="33020" marB="0"/>
                </a:tc>
                <a:extLst>
                  <a:ext uri="{0D108BD9-81ED-4DB2-BD59-A6C34878D82A}">
                    <a16:rowId xmlns:a16="http://schemas.microsoft.com/office/drawing/2014/main" val="3076023363"/>
                  </a:ext>
                </a:extLst>
              </a:tr>
            </a:tbl>
          </a:graphicData>
        </a:graphic>
      </p:graphicFrame>
    </p:spTree>
    <p:extLst>
      <p:ext uri="{BB962C8B-B14F-4D97-AF65-F5344CB8AC3E}">
        <p14:creationId xmlns:p14="http://schemas.microsoft.com/office/powerpoint/2010/main" val="2699749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46E1F-86C3-8690-8B9E-EEFDBC853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4BFBE-7C2F-06B8-9E44-4CAD33C93B67}"/>
              </a:ext>
            </a:extLst>
          </p:cNvPr>
          <p:cNvSpPr>
            <a:spLocks noGrp="1"/>
          </p:cNvSpPr>
          <p:nvPr>
            <p:ph type="title"/>
          </p:nvPr>
        </p:nvSpPr>
        <p:spPr>
          <a:xfrm>
            <a:off x="1227455" y="176140"/>
            <a:ext cx="6988175" cy="984885"/>
          </a:xfrm>
        </p:spPr>
        <p:txBody>
          <a:bodyPr/>
          <a:lstStyle/>
          <a:p>
            <a:pPr algn="ctr"/>
            <a:r>
              <a:rPr lang="en-US" sz="3200" b="1" dirty="0">
                <a:solidFill>
                  <a:srgbClr val="0F4A85"/>
                </a:solidFill>
                <a:effectLst/>
                <a:latin typeface="Menlo" panose="020B0609030804020204" pitchFamily="49" charset="0"/>
              </a:rPr>
              <a:t>Read Distribution Across Genomic Features</a:t>
            </a:r>
            <a:endParaRPr lang="en-US" dirty="0"/>
          </a:p>
        </p:txBody>
      </p:sp>
      <p:sp>
        <p:nvSpPr>
          <p:cNvPr id="3" name="Text Placeholder 2">
            <a:extLst>
              <a:ext uri="{FF2B5EF4-FFF2-40B4-BE49-F238E27FC236}">
                <a16:creationId xmlns:a16="http://schemas.microsoft.com/office/drawing/2014/main" id="{6292642B-A113-31D5-549C-B1261F09FA54}"/>
              </a:ext>
            </a:extLst>
          </p:cNvPr>
          <p:cNvSpPr>
            <a:spLocks noGrp="1"/>
          </p:cNvSpPr>
          <p:nvPr>
            <p:ph type="body" idx="1"/>
          </p:nvPr>
        </p:nvSpPr>
        <p:spPr>
          <a:xfrm>
            <a:off x="609600" y="1524000"/>
            <a:ext cx="7606030" cy="203197"/>
          </a:xfrm>
        </p:spPr>
        <p:txBody>
          <a:bodyPr/>
          <a:lstStyle/>
          <a:p>
            <a:pPr>
              <a:lnSpc>
                <a:spcPts val="1350"/>
              </a:lnSpc>
            </a:pPr>
            <a:r>
              <a:rPr lang="en-US" b="0" dirty="0" err="1">
                <a:solidFill>
                  <a:srgbClr val="5E2CBC"/>
                </a:solidFill>
                <a:effectLst/>
                <a:latin typeface="Menlo" panose="020B0609030804020204" pitchFamily="49" charset="0"/>
              </a:rPr>
              <a:t>read_distribution.py</a:t>
            </a:r>
            <a:endParaRPr lang="en-US" b="0" dirty="0">
              <a:solidFill>
                <a:srgbClr val="292929"/>
              </a:solidFill>
              <a:effectLst/>
              <a:latin typeface="Menlo" panose="020B0609030804020204" pitchFamily="49" charset="0"/>
            </a:endParaRPr>
          </a:p>
        </p:txBody>
      </p:sp>
      <p:sp>
        <p:nvSpPr>
          <p:cNvPr id="6" name="TextBox 5">
            <a:extLst>
              <a:ext uri="{FF2B5EF4-FFF2-40B4-BE49-F238E27FC236}">
                <a16:creationId xmlns:a16="http://schemas.microsoft.com/office/drawing/2014/main" id="{307B5414-558B-0FBC-ECD4-112A31179A71}"/>
              </a:ext>
            </a:extLst>
          </p:cNvPr>
          <p:cNvSpPr txBox="1"/>
          <p:nvPr/>
        </p:nvSpPr>
        <p:spPr>
          <a:xfrm>
            <a:off x="609600" y="2090172"/>
            <a:ext cx="7924800"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Why use it? </a:t>
            </a:r>
          </a:p>
          <a:p>
            <a:endParaRPr lang="en-US" sz="2400" dirty="0">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Ensures the expected proportion of reads fall within exons for RNA-Seq experiments</a:t>
            </a:r>
          </a:p>
        </p:txBody>
      </p:sp>
    </p:spTree>
    <p:extLst>
      <p:ext uri="{BB962C8B-B14F-4D97-AF65-F5344CB8AC3E}">
        <p14:creationId xmlns:p14="http://schemas.microsoft.com/office/powerpoint/2010/main" val="3382796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95D3-DB22-EAE3-86F6-8C274C6460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B5CC47-D0ED-D686-F724-1DB768028BD5}"/>
              </a:ext>
            </a:extLst>
          </p:cNvPr>
          <p:cNvSpPr txBox="1"/>
          <p:nvPr/>
        </p:nvSpPr>
        <p:spPr>
          <a:xfrm>
            <a:off x="609600" y="2145268"/>
            <a:ext cx="3429000" cy="369332"/>
          </a:xfrm>
          <a:prstGeom prst="rect">
            <a:avLst/>
          </a:prstGeom>
          <a:noFill/>
        </p:spPr>
        <p:txBody>
          <a:bodyPr wrap="square" rtlCol="0">
            <a:spAutoFit/>
          </a:bodyPr>
          <a:lstStyle/>
          <a:p>
            <a:r>
              <a:rPr lang="en-US" dirty="0"/>
              <a:t>Expected Output: </a:t>
            </a:r>
          </a:p>
        </p:txBody>
      </p:sp>
      <p:pic>
        <p:nvPicPr>
          <p:cNvPr id="2052" name="Picture 4" descr="Open Source at SciLifeLab » MultiQC">
            <a:extLst>
              <a:ext uri="{FF2B5EF4-FFF2-40B4-BE49-F238E27FC236}">
                <a16:creationId xmlns:a16="http://schemas.microsoft.com/office/drawing/2014/main" id="{FC9C5F0B-7FE2-25DD-ACFA-02B901059A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3870" y="1590837"/>
            <a:ext cx="3175000" cy="83744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8937064F-99F8-7983-E5BD-D19681D36C7C}"/>
              </a:ext>
            </a:extLst>
          </p:cNvPr>
          <p:cNvSpPr>
            <a:spLocks noGrp="1"/>
          </p:cNvSpPr>
          <p:nvPr>
            <p:ph type="title"/>
          </p:nvPr>
        </p:nvSpPr>
        <p:spPr>
          <a:xfrm>
            <a:off x="1227455" y="176140"/>
            <a:ext cx="6988175" cy="984885"/>
          </a:xfrm>
        </p:spPr>
        <p:txBody>
          <a:bodyPr/>
          <a:lstStyle/>
          <a:p>
            <a:pPr algn="ctr"/>
            <a:r>
              <a:rPr lang="en-US" sz="3200" b="1" dirty="0">
                <a:solidFill>
                  <a:srgbClr val="0F4A85"/>
                </a:solidFill>
                <a:effectLst/>
                <a:latin typeface="Menlo" panose="020B0609030804020204" pitchFamily="49" charset="0"/>
              </a:rPr>
              <a:t>Read Distribution Across Genomic Features</a:t>
            </a:r>
            <a:endParaRPr lang="en-US" dirty="0"/>
          </a:p>
        </p:txBody>
      </p:sp>
      <p:sp>
        <p:nvSpPr>
          <p:cNvPr id="7" name="Text Placeholder 2">
            <a:extLst>
              <a:ext uri="{FF2B5EF4-FFF2-40B4-BE49-F238E27FC236}">
                <a16:creationId xmlns:a16="http://schemas.microsoft.com/office/drawing/2014/main" id="{3E673212-4B35-2B5A-6646-0ED6932CE1EF}"/>
              </a:ext>
            </a:extLst>
          </p:cNvPr>
          <p:cNvSpPr>
            <a:spLocks noGrp="1"/>
          </p:cNvSpPr>
          <p:nvPr>
            <p:ph type="body" idx="1"/>
          </p:nvPr>
        </p:nvSpPr>
        <p:spPr>
          <a:xfrm>
            <a:off x="609600" y="1524000"/>
            <a:ext cx="7606030" cy="203197"/>
          </a:xfrm>
        </p:spPr>
        <p:txBody>
          <a:bodyPr/>
          <a:lstStyle/>
          <a:p>
            <a:pPr>
              <a:lnSpc>
                <a:spcPts val="1350"/>
              </a:lnSpc>
            </a:pPr>
            <a:r>
              <a:rPr lang="en-US" b="0" dirty="0" err="1">
                <a:solidFill>
                  <a:srgbClr val="5E2CBC"/>
                </a:solidFill>
                <a:effectLst/>
                <a:latin typeface="Menlo" panose="020B0609030804020204" pitchFamily="49" charset="0"/>
              </a:rPr>
              <a:t>read_distribution.py</a:t>
            </a:r>
            <a:endParaRPr lang="en-US" b="0" dirty="0">
              <a:solidFill>
                <a:srgbClr val="292929"/>
              </a:solidFill>
              <a:effectLst/>
              <a:latin typeface="Menlo" panose="020B0609030804020204" pitchFamily="49" charset="0"/>
            </a:endParaRPr>
          </a:p>
        </p:txBody>
      </p:sp>
      <p:pic>
        <p:nvPicPr>
          <p:cNvPr id="10242" name="Picture 2" descr="MultiQC - RSeQC read distribution plot">
            <a:extLst>
              <a:ext uri="{FF2B5EF4-FFF2-40B4-BE49-F238E27FC236}">
                <a16:creationId xmlns:a16="http://schemas.microsoft.com/office/drawing/2014/main" id="{8DA151E4-6B2E-1A10-7ABF-E608B85E5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102" y="2637806"/>
            <a:ext cx="8449796" cy="35838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682B09A-45FB-4988-9F47-B2013EC778F7}"/>
              </a:ext>
            </a:extLst>
          </p:cNvPr>
          <p:cNvSpPr txBox="1"/>
          <p:nvPr/>
        </p:nvSpPr>
        <p:spPr>
          <a:xfrm>
            <a:off x="643911" y="6321193"/>
            <a:ext cx="8229600" cy="646331"/>
          </a:xfrm>
          <a:prstGeom prst="rect">
            <a:avLst/>
          </a:prstGeom>
          <a:noFill/>
        </p:spPr>
        <p:txBody>
          <a:bodyPr wrap="square" rtlCol="0">
            <a:spAutoFit/>
          </a:bodyPr>
          <a:lstStyle/>
          <a:p>
            <a:r>
              <a:rPr lang="en-US" b="0" i="1" dirty="0">
                <a:solidFill>
                  <a:srgbClr val="292929"/>
                </a:solidFill>
                <a:effectLst/>
                <a:latin typeface="Menlo" panose="020B0609030804020204" pitchFamily="49" charset="0"/>
              </a:rPr>
              <a:t>For RNA-Seq, most reads (&gt;70%) should align to exons.</a:t>
            </a:r>
          </a:p>
          <a:p>
            <a:endParaRPr lang="en-US" i="1" dirty="0"/>
          </a:p>
        </p:txBody>
      </p:sp>
    </p:spTree>
    <p:extLst>
      <p:ext uri="{BB962C8B-B14F-4D97-AF65-F5344CB8AC3E}">
        <p14:creationId xmlns:p14="http://schemas.microsoft.com/office/powerpoint/2010/main" val="263359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77840-35AC-02DF-D165-3842FF629EC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40F8781-EB49-2BFC-14BE-EBEA52CE5C87}"/>
              </a:ext>
            </a:extLst>
          </p:cNvPr>
          <p:cNvSpPr>
            <a:spLocks noGrp="1"/>
          </p:cNvSpPr>
          <p:nvPr>
            <p:ph type="title"/>
          </p:nvPr>
        </p:nvSpPr>
        <p:spPr>
          <a:xfrm>
            <a:off x="1077912" y="152400"/>
            <a:ext cx="6988175" cy="677108"/>
          </a:xfrm>
        </p:spPr>
        <p:txBody>
          <a:bodyPr/>
          <a:lstStyle/>
          <a:p>
            <a:pPr algn="ctr"/>
            <a:r>
              <a:rPr lang="en-US" dirty="0"/>
              <a:t>Class Exercise #4 </a:t>
            </a:r>
          </a:p>
        </p:txBody>
      </p:sp>
      <p:sp>
        <p:nvSpPr>
          <p:cNvPr id="3" name="TextBox 2">
            <a:extLst>
              <a:ext uri="{FF2B5EF4-FFF2-40B4-BE49-F238E27FC236}">
                <a16:creationId xmlns:a16="http://schemas.microsoft.com/office/drawing/2014/main" id="{21921B81-9E6F-859B-7D61-504A56E4F77C}"/>
              </a:ext>
            </a:extLst>
          </p:cNvPr>
          <p:cNvSpPr txBox="1"/>
          <p:nvPr/>
        </p:nvSpPr>
        <p:spPr>
          <a:xfrm>
            <a:off x="152400" y="2155009"/>
            <a:ext cx="8610600" cy="4524315"/>
          </a:xfrm>
          <a:prstGeom prst="rect">
            <a:avLst/>
          </a:prstGeom>
          <a:noFill/>
        </p:spPr>
        <p:txBody>
          <a:bodyPr wrap="square">
            <a:spAutoFit/>
          </a:bodyPr>
          <a:lstStyle/>
          <a:p>
            <a:r>
              <a:rPr lang="en-US" dirty="0"/>
              <a:t>Total Reads 217042</a:t>
            </a:r>
          </a:p>
          <a:p>
            <a:r>
              <a:rPr lang="en-US" dirty="0"/>
              <a:t>Total Tags 285170</a:t>
            </a:r>
          </a:p>
          <a:p>
            <a:r>
              <a:rPr lang="en-US" dirty="0"/>
              <a:t>Total Assigned Tags 270555</a:t>
            </a:r>
          </a:p>
          <a:p>
            <a:r>
              <a:rPr lang="en-US" dirty="0"/>
              <a:t>=====================================================================</a:t>
            </a:r>
          </a:p>
          <a:p>
            <a:r>
              <a:rPr lang="en-US" dirty="0"/>
              <a:t>Group </a:t>
            </a:r>
            <a:r>
              <a:rPr lang="en-US" dirty="0" err="1"/>
              <a:t>Total_bases</a:t>
            </a:r>
            <a:r>
              <a:rPr lang="en-US" dirty="0"/>
              <a:t> </a:t>
            </a:r>
            <a:r>
              <a:rPr lang="en-US" dirty="0" err="1"/>
              <a:t>Tag_count</a:t>
            </a:r>
            <a:r>
              <a:rPr lang="en-US" dirty="0"/>
              <a:t> Tags/</a:t>
            </a:r>
            <a:r>
              <a:rPr lang="en-US" dirty="0" err="1"/>
              <a:t>Kb</a:t>
            </a:r>
            <a:endParaRPr lang="en-US" dirty="0"/>
          </a:p>
          <a:p>
            <a:r>
              <a:rPr lang="en-US" dirty="0" err="1"/>
              <a:t>CDS_Exons</a:t>
            </a:r>
            <a:r>
              <a:rPr lang="en-US" dirty="0"/>
              <a:t> 41135377 167362 4.07</a:t>
            </a:r>
          </a:p>
          <a:p>
            <a:r>
              <a:rPr lang="en-US" dirty="0"/>
              <a:t>5’UTR_Exons 50276940 9969 0.20</a:t>
            </a:r>
          </a:p>
          <a:p>
            <a:r>
              <a:rPr lang="en-US" dirty="0"/>
              <a:t>3'UTR_Exons 74969271 67281 0.90</a:t>
            </a:r>
          </a:p>
          <a:p>
            <a:r>
              <a:rPr lang="en-US" dirty="0"/>
              <a:t>Introns 1591346634 21456 0.01</a:t>
            </a:r>
          </a:p>
          <a:p>
            <a:r>
              <a:rPr lang="en-US" dirty="0"/>
              <a:t>TSS_up_1kb 26447701 226 0.01</a:t>
            </a:r>
          </a:p>
          <a:p>
            <a:r>
              <a:rPr lang="en-US" dirty="0"/>
              <a:t>TSS_up_5kb 118706417 596 0.01</a:t>
            </a:r>
          </a:p>
          <a:p>
            <a:r>
              <a:rPr lang="en-US" dirty="0"/>
              <a:t>TSS_up_10kb 217519222 771 0.00</a:t>
            </a:r>
          </a:p>
          <a:p>
            <a:r>
              <a:rPr lang="en-US" dirty="0"/>
              <a:t>TES_down_1kb 30123959 846 0.03</a:t>
            </a:r>
          </a:p>
          <a:p>
            <a:r>
              <a:rPr lang="en-US" dirty="0"/>
              <a:t>TES_down_5kb 130727548 2947 0.02</a:t>
            </a:r>
          </a:p>
          <a:p>
            <a:r>
              <a:rPr lang="en-US" dirty="0"/>
              <a:t>TES_down_10kb 231251776 3716 0.02</a:t>
            </a:r>
          </a:p>
          <a:p>
            <a:r>
              <a:rPr lang="en-US" dirty="0"/>
              <a:t>=====================================================================</a:t>
            </a:r>
          </a:p>
        </p:txBody>
      </p:sp>
      <p:sp>
        <p:nvSpPr>
          <p:cNvPr id="9" name="TextBox 8">
            <a:extLst>
              <a:ext uri="{FF2B5EF4-FFF2-40B4-BE49-F238E27FC236}">
                <a16:creationId xmlns:a16="http://schemas.microsoft.com/office/drawing/2014/main" id="{D62D7FAF-9E20-53D4-26D6-BDC22AC0219B}"/>
              </a:ext>
            </a:extLst>
          </p:cNvPr>
          <p:cNvSpPr txBox="1"/>
          <p:nvPr/>
        </p:nvSpPr>
        <p:spPr>
          <a:xfrm>
            <a:off x="762000" y="1528189"/>
            <a:ext cx="7391400" cy="369332"/>
          </a:xfrm>
          <a:prstGeom prst="rect">
            <a:avLst/>
          </a:prstGeom>
          <a:noFill/>
        </p:spPr>
        <p:txBody>
          <a:bodyPr wrap="square">
            <a:spAutoFit/>
          </a:bodyPr>
          <a:lstStyle/>
          <a:p>
            <a:pPr marL="342900" indent="-342900">
              <a:buFont typeface="Arial" panose="020B0604020202020204" pitchFamily="34" charset="0"/>
              <a:buChar char="•"/>
            </a:pPr>
            <a:r>
              <a:rPr lang="en-US" dirty="0">
                <a:latin typeface="+mn-lt"/>
                <a:cs typeface="Arial" panose="020B0604020202020204" pitchFamily="34" charset="0"/>
              </a:rPr>
              <a:t>If done correctly, look inside of </a:t>
            </a:r>
            <a:r>
              <a:rPr lang="en-US" b="1" dirty="0">
                <a:solidFill>
                  <a:srgbClr val="FF0000"/>
                </a:solidFill>
                <a:latin typeface="+mn-lt"/>
                <a:cs typeface="Arial" panose="020B0604020202020204" pitchFamily="34" charset="0"/>
              </a:rPr>
              <a:t>Irrel_kd_1.subset_</a:t>
            </a:r>
            <a:r>
              <a:rPr lang="en-US" b="1" dirty="0">
                <a:solidFill>
                  <a:srgbClr val="FF0000"/>
                </a:solidFill>
                <a:cs typeface="Arial" panose="020B0604020202020204" pitchFamily="34" charset="0"/>
              </a:rPr>
              <a:t>read</a:t>
            </a:r>
            <a:r>
              <a:rPr lang="en-US" b="1" dirty="0">
                <a:solidFill>
                  <a:srgbClr val="FF0000"/>
                </a:solidFill>
                <a:latin typeface="+mn-lt"/>
                <a:cs typeface="Arial" panose="020B0604020202020204" pitchFamily="34" charset="0"/>
              </a:rPr>
              <a:t>.log: </a:t>
            </a:r>
          </a:p>
        </p:txBody>
      </p:sp>
      <p:sp>
        <p:nvSpPr>
          <p:cNvPr id="12" name="Text Placeholder 2">
            <a:extLst>
              <a:ext uri="{FF2B5EF4-FFF2-40B4-BE49-F238E27FC236}">
                <a16:creationId xmlns:a16="http://schemas.microsoft.com/office/drawing/2014/main" id="{71A44032-7B19-D6F7-F2F4-409CC4498E77}"/>
              </a:ext>
            </a:extLst>
          </p:cNvPr>
          <p:cNvSpPr txBox="1">
            <a:spLocks/>
          </p:cNvSpPr>
          <p:nvPr/>
        </p:nvSpPr>
        <p:spPr>
          <a:xfrm>
            <a:off x="547370" y="1208180"/>
            <a:ext cx="7606030" cy="203197"/>
          </a:xfrm>
          <a:prstGeom prst="rect">
            <a:avLst/>
          </a:prstGeom>
        </p:spPr>
        <p:txBody>
          <a:bodyPr wrap="square" lIns="0" tIns="0" rIns="0" bIns="0">
            <a:spAutoFit/>
          </a:bodyPr>
          <a:lstStyle>
            <a:lvl1pPr marL="0">
              <a:defRPr sz="22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ts val="1350"/>
              </a:lnSpc>
            </a:pPr>
            <a:r>
              <a:rPr lang="en-US" kern="0" dirty="0" err="1">
                <a:solidFill>
                  <a:srgbClr val="5E2CBC"/>
                </a:solidFill>
                <a:latin typeface="Menlo" panose="020B0609030804020204" pitchFamily="49" charset="0"/>
              </a:rPr>
              <a:t>read_distribution.py</a:t>
            </a:r>
            <a:endParaRPr lang="en-US" kern="0" dirty="0">
              <a:solidFill>
                <a:srgbClr val="292929"/>
              </a:solidFill>
              <a:latin typeface="Menlo" panose="020B0609030804020204" pitchFamily="49" charset="0"/>
            </a:endParaRPr>
          </a:p>
        </p:txBody>
      </p:sp>
    </p:spTree>
    <p:extLst>
      <p:ext uri="{BB962C8B-B14F-4D97-AF65-F5344CB8AC3E}">
        <p14:creationId xmlns:p14="http://schemas.microsoft.com/office/powerpoint/2010/main" val="4057037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8258FE-5EC9-4299-0BE2-0B8E19B88D6B}"/>
              </a:ext>
            </a:extLst>
          </p:cNvPr>
          <p:cNvGraphicFramePr>
            <a:graphicFrameLocks noGrp="1"/>
          </p:cNvGraphicFramePr>
          <p:nvPr>
            <p:extLst>
              <p:ext uri="{D42A27DB-BD31-4B8C-83A1-F6EECF244321}">
                <p14:modId xmlns:p14="http://schemas.microsoft.com/office/powerpoint/2010/main" val="1468884580"/>
              </p:ext>
            </p:extLst>
          </p:nvPr>
        </p:nvGraphicFramePr>
        <p:xfrm>
          <a:off x="419100" y="990600"/>
          <a:ext cx="8305800" cy="5015654"/>
        </p:xfrm>
        <a:graphic>
          <a:graphicData uri="http://schemas.openxmlformats.org/drawingml/2006/table">
            <a:tbl>
              <a:tblPr firstRow="1" bandRow="1">
                <a:tableStyleId>{5940675A-B579-460E-94D1-54222C63F5DA}</a:tableStyleId>
              </a:tblPr>
              <a:tblGrid>
                <a:gridCol w="2933700">
                  <a:extLst>
                    <a:ext uri="{9D8B030D-6E8A-4147-A177-3AD203B41FA5}">
                      <a16:colId xmlns:a16="http://schemas.microsoft.com/office/drawing/2014/main" val="2797716295"/>
                    </a:ext>
                  </a:extLst>
                </a:gridCol>
                <a:gridCol w="2286000">
                  <a:extLst>
                    <a:ext uri="{9D8B030D-6E8A-4147-A177-3AD203B41FA5}">
                      <a16:colId xmlns:a16="http://schemas.microsoft.com/office/drawing/2014/main" val="1833041985"/>
                    </a:ext>
                  </a:extLst>
                </a:gridCol>
                <a:gridCol w="3086100">
                  <a:extLst>
                    <a:ext uri="{9D8B030D-6E8A-4147-A177-3AD203B41FA5}">
                      <a16:colId xmlns:a16="http://schemas.microsoft.com/office/drawing/2014/main" val="1172321964"/>
                    </a:ext>
                  </a:extLst>
                </a:gridCol>
              </a:tblGrid>
              <a:tr h="770467">
                <a:tc>
                  <a:txBody>
                    <a:bodyPr/>
                    <a:lstStyle/>
                    <a:p>
                      <a:pPr algn="ctr"/>
                      <a:r>
                        <a:rPr lang="en-US" sz="3200" dirty="0"/>
                        <a:t>Tool</a:t>
                      </a:r>
                    </a:p>
                  </a:txBody>
                  <a:tcPr anchor="ctr"/>
                </a:tc>
                <a:tc>
                  <a:txBody>
                    <a:bodyPr/>
                    <a:lstStyle/>
                    <a:p>
                      <a:pPr algn="ctr"/>
                      <a:r>
                        <a:rPr lang="en-US" sz="3200" dirty="0"/>
                        <a:t>Question Answered</a:t>
                      </a:r>
                    </a:p>
                  </a:txBody>
                  <a:tcPr anchor="ctr"/>
                </a:tc>
                <a:tc>
                  <a:txBody>
                    <a:bodyPr/>
                    <a:lstStyle/>
                    <a:p>
                      <a:pPr algn="ctr"/>
                      <a:r>
                        <a:rPr lang="en-US" sz="3200" dirty="0"/>
                        <a:t>Biological Meaning</a:t>
                      </a:r>
                    </a:p>
                  </a:txBody>
                  <a:tcPr anchor="ctr"/>
                </a:tc>
                <a:extLst>
                  <a:ext uri="{0D108BD9-81ED-4DB2-BD59-A6C34878D82A}">
                    <a16:rowId xmlns:a16="http://schemas.microsoft.com/office/drawing/2014/main" val="1652825598"/>
                  </a:ext>
                </a:extLst>
              </a:tr>
              <a:tr h="1989667">
                <a:tc>
                  <a:txBody>
                    <a:bodyPr/>
                    <a:lstStyle/>
                    <a:p>
                      <a:pPr algn="ctr"/>
                      <a:r>
                        <a:rPr lang="en-US" sz="2400" dirty="0" err="1"/>
                        <a:t>Infer_experiment.py</a:t>
                      </a:r>
                      <a:endParaRPr lang="en-US" sz="2400" dirty="0"/>
                    </a:p>
                  </a:txBody>
                  <a:tcPr anchor="ctr"/>
                </a:tc>
                <a:tc>
                  <a:txBody>
                    <a:bodyPr/>
                    <a:lstStyle/>
                    <a:p>
                      <a:pPr algn="ctr"/>
                      <a:r>
                        <a:rPr lang="en-US" sz="2400" dirty="0"/>
                        <a:t>Is library stranded? </a:t>
                      </a:r>
                    </a:p>
                  </a:txBody>
                  <a:tcPr anchor="ctr"/>
                </a:tc>
                <a:tc>
                  <a:txBody>
                    <a:bodyPr/>
                    <a:lstStyle/>
                    <a:p>
                      <a:pPr algn="ctr"/>
                      <a:r>
                        <a:rPr lang="en-US" sz="2400" dirty="0"/>
                        <a:t>Can we count correctly?</a:t>
                      </a:r>
                    </a:p>
                  </a:txBody>
                  <a:tcPr anchor="ctr"/>
                </a:tc>
                <a:extLst>
                  <a:ext uri="{0D108BD9-81ED-4DB2-BD59-A6C34878D82A}">
                    <a16:rowId xmlns:a16="http://schemas.microsoft.com/office/drawing/2014/main" val="291661393"/>
                  </a:ext>
                </a:extLst>
              </a:tr>
              <a:tr h="1959187">
                <a:tc>
                  <a:txBody>
                    <a:bodyPr/>
                    <a:lstStyle/>
                    <a:p>
                      <a:pPr algn="ctr"/>
                      <a:r>
                        <a:rPr lang="en-US" sz="2400" dirty="0" err="1"/>
                        <a:t>Read_distribution.py</a:t>
                      </a:r>
                      <a:endParaRPr lang="en-US" sz="2400" dirty="0"/>
                    </a:p>
                  </a:txBody>
                  <a:tcPr anchor="ctr"/>
                </a:tc>
                <a:tc>
                  <a:txBody>
                    <a:bodyPr/>
                    <a:lstStyle/>
                    <a:p>
                      <a:pPr algn="ctr"/>
                      <a:r>
                        <a:rPr lang="en-US" sz="2400" dirty="0"/>
                        <a:t>Where do reads map? </a:t>
                      </a:r>
                    </a:p>
                  </a:txBody>
                  <a:tcPr anchor="ctr"/>
                </a:tc>
                <a:tc>
                  <a:txBody>
                    <a:bodyPr/>
                    <a:lstStyle/>
                    <a:p>
                      <a:pPr algn="ctr"/>
                      <a:r>
                        <a:rPr lang="en-US" sz="2400" dirty="0"/>
                        <a:t>RNA enrichment quality</a:t>
                      </a:r>
                    </a:p>
                  </a:txBody>
                  <a:tcPr anchor="ctr"/>
                </a:tc>
                <a:extLst>
                  <a:ext uri="{0D108BD9-81ED-4DB2-BD59-A6C34878D82A}">
                    <a16:rowId xmlns:a16="http://schemas.microsoft.com/office/drawing/2014/main" val="2918674006"/>
                  </a:ext>
                </a:extLst>
              </a:tr>
            </a:tbl>
          </a:graphicData>
        </a:graphic>
      </p:graphicFrame>
    </p:spTree>
    <p:extLst>
      <p:ext uri="{BB962C8B-B14F-4D97-AF65-F5344CB8AC3E}">
        <p14:creationId xmlns:p14="http://schemas.microsoft.com/office/powerpoint/2010/main" val="3985433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630</TotalTime>
  <Words>1222</Words>
  <Application>Microsoft Macintosh PowerPoint</Application>
  <PresentationFormat>On-screen Show (4:3)</PresentationFormat>
  <Paragraphs>195</Paragraphs>
  <Slides>24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Arial</vt:lpstr>
      <vt:lpstr>Calibri</vt:lpstr>
      <vt:lpstr>Courier New</vt:lpstr>
      <vt:lpstr>Helvetica Neue</vt:lpstr>
      <vt:lpstr>Menlo</vt:lpstr>
      <vt:lpstr>Monaco</vt:lpstr>
      <vt:lpstr>Times New Roman</vt:lpstr>
      <vt:lpstr>Office Theme</vt:lpstr>
      <vt:lpstr>RSeQC Feb 25, 2026</vt:lpstr>
      <vt:lpstr>Next Week</vt:lpstr>
      <vt:lpstr>PowerPoint Presentation</vt:lpstr>
      <vt:lpstr>Stranded libraries</vt:lpstr>
      <vt:lpstr>Why is strandedness important to determine?</vt:lpstr>
      <vt:lpstr>PowerPoint Presentation</vt:lpstr>
      <vt:lpstr>Pre &amp; post alignment QC</vt:lpstr>
      <vt:lpstr>RNA-Seq library preparation protocols</vt:lpstr>
      <vt:lpstr>Why retain stranded  information?</vt:lpstr>
      <vt:lpstr>Three possible scenarios</vt:lpstr>
      <vt:lpstr>DNA, coding/sense strand</vt:lpstr>
      <vt:lpstr>DNA, coding/sense strand</vt:lpstr>
      <vt:lpstr>DNA, coding/sense strand</vt:lpstr>
      <vt:lpstr>PowerPoint Presentation</vt:lpstr>
      <vt:lpstr>An Example HISAT2 command with strandedness accounted for</vt:lpstr>
      <vt:lpstr>However, in the context of single-end RNA-Seq, we only have Read 1 (R1), so it is based on whether R1 maps to the sense or antisense strand. </vt:lpstr>
      <vt:lpstr>Today’s Exercises</vt:lpstr>
      <vt:lpstr>Strand-Specificity </vt:lpstr>
      <vt:lpstr>Strand-Specificity </vt:lpstr>
      <vt:lpstr>PowerPoint Presentation</vt:lpstr>
      <vt:lpstr>Read Distribution Across Genomic Features</vt:lpstr>
      <vt:lpstr>Read Distribution Across Genomic Features</vt:lpstr>
      <vt:lpstr>Class Exercise #4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RSeQC &amp; HTSeq March 7th, 2024</dc:title>
  <cp:lastModifiedBy>Rodriguez Ramirez, Princess D</cp:lastModifiedBy>
  <cp:revision>22</cp:revision>
  <dcterms:created xsi:type="dcterms:W3CDTF">2024-03-06T18:33:52Z</dcterms:created>
  <dcterms:modified xsi:type="dcterms:W3CDTF">2026-02-25T17:41:54Z</dcterms:modified>
</cp:coreProperties>
</file>